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1" r:id="rId9"/>
    <p:sldId id="266" r:id="rId10"/>
    <p:sldId id="269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0EB4C-50DF-6DA3-EDC1-648301C55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2B056-63BF-730D-205A-EF2A537D4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4F476-3FBE-763D-05D0-6F97157A1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6E208-512A-1006-5A1D-F2D13ADED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83D1D-E4A3-E1E7-5282-88ED754DA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55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6A3B-FE2F-3471-39CC-C84AEE58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57ECA-2E9E-4D58-4413-378E2ED1D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53715-7BAF-DBBD-D8F1-AE0031A9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05078-F3FF-EEC8-0665-9F93AFAAC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EF7C1-D77A-EE0C-DFDC-70CF1DD4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657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826B-FDB9-5FD9-F077-59CF532D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8B9E0-AFCD-2FA3-0213-D5A7E29F3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A1382-0E4A-D660-EA23-9448FE22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B4C93-45F8-0F90-CDA2-5F9731CD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F57A9-02C7-C286-5610-038A784B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28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FB55-F4BF-DFE1-5F3F-FD82DBC3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38EC9-520F-1151-DC85-F9C874253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B03E8-53FD-659D-A60D-092FACA62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FB824-BEDE-5979-9D83-B65BFB5A9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CBFCA-B8A5-8235-7EE8-71C55A2D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7A98B-6147-3EFE-7B80-D3AFBA3A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29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92E17-4CC6-0D7C-4D1C-F259910A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AF7D2-F64A-B865-D767-A7A871DB5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A4BF3-DA1F-CCFD-380B-2B3B11A51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B5209-6F87-28DF-3C50-11DCB38DD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81ACB-A687-A2AC-7931-34483410C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E4ACD-E85C-C788-73CF-5EDD5D29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3FE719-EDC0-ADEB-1338-1B877EC1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226367-1354-3BB4-E59F-D5ADF8C1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4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48A2-BA61-AFBB-A6CD-E7C788EF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8BF79-4B15-2E15-7AAD-E8B16EE46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D3FDB-92DA-5188-6058-4A9E2244A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EDEB4-6F5D-920A-6A28-B4B5A70E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70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A94497-BB68-17E4-342A-A1D28E64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F4168E-4718-C0F6-CB26-94486EED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6B753-1EE1-DCD9-A0DC-05E6B30E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3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83D34-11F8-EEB9-F35E-FDFD5C403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36813-C43E-CBAB-1493-CAA6F677C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6DC5A-5CE9-5660-F4F5-9EE29FE30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2C314-2667-B9E2-47C1-FAEFE563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3E3DB-29C0-09B5-9D8E-828C87B74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6F857-A30E-739D-3150-28B65D1F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04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37213-6763-DCCB-D0E3-F0ED56047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437876-D284-0DC0-1FD8-9701568DE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8929D-E376-1C3C-99BF-6094D17CE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4D741-66D0-C2CE-824F-98DD5286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10F37-AFA2-2956-BD63-130470B2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E3D71-9CB1-8679-F93F-99DA4014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730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C0B4-B51A-F128-4F72-14908C07F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4545B-0622-AFE8-99D8-B0A4AEDD9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16664-2A1A-D09D-975D-9D588835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090AC-6AA1-CFB7-1D29-A7DAEF72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63A4-0FEB-79B2-0826-11477DFBB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19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2E0336-20E8-093F-2896-DE540B165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9A9C5-8B40-3F58-051F-5908F7958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FB838-9758-068B-4FD6-E932EFEDD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0D345-6AB1-DFC5-8735-93D1AEDA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12248-C0A8-6C12-101C-D369B6739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06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125F71-1C20-345F-4469-A846118D4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24990-FD43-7CE7-2220-9B8250DA5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54EA5-2A6F-DEB6-9689-A5FDC511F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E0009-55E7-44C7-B6A8-EB9686CC61A7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26D20-0E44-3F07-6E9D-0C24AC22E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0F581-5920-2021-1C38-0F4DB6DA7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FBC4D-9BA0-46DD-AA1C-CC7D8EF73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98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2C9189-D375-54BB-6D7E-E0BDF4A50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2" y="1647825"/>
            <a:ext cx="882967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4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0F7B28-999C-5ED2-39B6-BFA64E697AC1}"/>
              </a:ext>
            </a:extLst>
          </p:cNvPr>
          <p:cNvSpPr txBox="1"/>
          <p:nvPr/>
        </p:nvSpPr>
        <p:spPr>
          <a:xfrm>
            <a:off x="393895" y="140677"/>
            <a:ext cx="10930597" cy="31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FF0000"/>
                </a:solidFill>
                <a:effectLst/>
              </a:rPr>
              <a:t>Product Idea Generation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161616"/>
                </a:solidFill>
                <a:effectLst/>
              </a:rPr>
              <a:t> conceptualization of ways to improve existing products or create new ones to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meet customer needs </a:t>
            </a:r>
            <a:r>
              <a:rPr lang="en-US" sz="2400" b="1" i="0" dirty="0">
                <a:solidFill>
                  <a:srgbClr val="161616"/>
                </a:solidFill>
                <a:effectLst/>
              </a:rPr>
              <a:t>happens during the idea generation, stage.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161616"/>
                </a:solidFill>
                <a:effectLst/>
              </a:rPr>
              <a:t>Teams can use different techniques for coming up with product ideas, such as brainstorming.</a:t>
            </a:r>
            <a:endParaRPr lang="en-US" sz="2400" b="1" dirty="0">
              <a:solidFill>
                <a:srgbClr val="161616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161616"/>
                </a:solidFill>
                <a:effectLst/>
              </a:rPr>
              <a:t>Ideas are collected from competitors, by inventions, from dealers and customers’  </a:t>
            </a:r>
          </a:p>
        </p:txBody>
      </p:sp>
    </p:spTree>
    <p:extLst>
      <p:ext uri="{BB962C8B-B14F-4D97-AF65-F5344CB8AC3E}">
        <p14:creationId xmlns:p14="http://schemas.microsoft.com/office/powerpoint/2010/main" val="177369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C698BE-8399-0D75-5376-D556FE1A8822}"/>
              </a:ext>
            </a:extLst>
          </p:cNvPr>
          <p:cNvSpPr txBox="1"/>
          <p:nvPr/>
        </p:nvSpPr>
        <p:spPr>
          <a:xfrm>
            <a:off x="464234" y="281354"/>
            <a:ext cx="11183815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Idea screening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Not all new product ideas that surface during the early stages of product development are viable.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Idea screening can provide </a:t>
            </a:r>
            <a:r>
              <a:rPr lang="en-US" sz="2400" b="1" dirty="0">
                <a:solidFill>
                  <a:srgbClr val="FF0000"/>
                </a:solidFill>
              </a:rPr>
              <a:t>important validation </a:t>
            </a:r>
            <a:r>
              <a:rPr lang="en-US" sz="2400" b="1" dirty="0"/>
              <a:t>for a product idea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Selected ideas are </a:t>
            </a:r>
            <a:r>
              <a:rPr lang="en-US" sz="2400" b="1" dirty="0">
                <a:solidFill>
                  <a:srgbClr val="FF0000"/>
                </a:solidFill>
              </a:rPr>
              <a:t>evaluated technically </a:t>
            </a:r>
            <a:r>
              <a:rPr lang="en-US" sz="2400" b="1" dirty="0"/>
              <a:t>as regards to the method of manufacture, </a:t>
            </a:r>
            <a:r>
              <a:rPr lang="en-US" sz="2400" b="1" dirty="0" err="1"/>
              <a:t>labour</a:t>
            </a:r>
            <a:r>
              <a:rPr lang="en-US" sz="2400" b="1" dirty="0"/>
              <a:t> and equipment required, performance of product and cost of the of manufacture.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Teams can conduct </a:t>
            </a:r>
            <a:r>
              <a:rPr lang="en-US" sz="2400" b="1" dirty="0">
                <a:solidFill>
                  <a:srgbClr val="FF0000"/>
                </a:solidFill>
              </a:rPr>
              <a:t>market research to evaluate a product idea, </a:t>
            </a:r>
            <a:r>
              <a:rPr lang="en-US" sz="2400" b="1" dirty="0"/>
              <a:t>determining, for instance, whether it </a:t>
            </a:r>
            <a:r>
              <a:rPr lang="en-US" sz="2400" b="1" dirty="0">
                <a:solidFill>
                  <a:srgbClr val="FF0000"/>
                </a:solidFill>
              </a:rPr>
              <a:t>meets a market need </a:t>
            </a:r>
            <a:r>
              <a:rPr lang="en-US" sz="2400" b="1" dirty="0"/>
              <a:t>and would </a:t>
            </a:r>
            <a:r>
              <a:rPr lang="en-US" sz="2400" b="1" dirty="0">
                <a:solidFill>
                  <a:srgbClr val="FF0000"/>
                </a:solidFill>
              </a:rPr>
              <a:t>appeal to potential customers.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521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FAE32A-72E3-5F45-09BE-5A7506BA7D7D}"/>
              </a:ext>
            </a:extLst>
          </p:cNvPr>
          <p:cNvSpPr txBox="1"/>
          <p:nvPr/>
        </p:nvSpPr>
        <p:spPr>
          <a:xfrm>
            <a:off x="436098" y="0"/>
            <a:ext cx="11183816" cy="6879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Concept development or concept testing</a:t>
            </a:r>
            <a:endParaRPr lang="en-US" sz="2400" b="1" i="0" dirty="0">
              <a:solidFill>
                <a:srgbClr val="FF0000"/>
              </a:solidFill>
              <a:effectLst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In this stage, the product idea evolves into a product concept: something that a </a:t>
            </a:r>
            <a:r>
              <a:rPr lang="en-US" sz="2400" b="1" dirty="0">
                <a:solidFill>
                  <a:srgbClr val="FF0000"/>
                </a:solidFill>
                <a:effectLst/>
              </a:rPr>
              <a:t>company can present to target audiences for gauging customer feedback</a:t>
            </a:r>
            <a:r>
              <a:rPr lang="en-US" sz="2400" b="1" dirty="0">
                <a:effectLst/>
              </a:rPr>
              <a:t>.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This presentation can take the form of a </a:t>
            </a:r>
            <a:r>
              <a:rPr lang="en-US" sz="2400" b="1" dirty="0">
                <a:solidFill>
                  <a:srgbClr val="FF0000"/>
                </a:solidFill>
                <a:effectLst/>
              </a:rPr>
              <a:t>detailed description </a:t>
            </a:r>
            <a:r>
              <a:rPr lang="en-US" sz="2400" b="1" dirty="0">
                <a:effectLst/>
              </a:rPr>
              <a:t>or a </a:t>
            </a:r>
            <a:r>
              <a:rPr lang="en-US" sz="2400" b="1" dirty="0">
                <a:solidFill>
                  <a:srgbClr val="FF0000"/>
                </a:solidFill>
                <a:effectLst/>
              </a:rPr>
              <a:t>prototype </a:t>
            </a:r>
            <a:r>
              <a:rPr lang="en-US" sz="2400" b="1" dirty="0">
                <a:effectLst/>
              </a:rPr>
              <a:t>that demonstrates the feasibility of the product </a:t>
            </a:r>
            <a:r>
              <a:rPr lang="en-US" sz="2400" b="1" dirty="0">
                <a:solidFill>
                  <a:srgbClr val="FF0000"/>
                </a:solidFill>
                <a:effectLst/>
              </a:rPr>
              <a:t>vision but with more limited functionality.</a:t>
            </a:r>
            <a:r>
              <a:rPr lang="en-US" sz="2400" b="0" i="0" dirty="0">
                <a:solidFill>
                  <a:srgbClr val="3F3F46"/>
                </a:solidFill>
                <a:effectLst/>
                <a:latin typeface="ShopifySans"/>
              </a:rPr>
              <a:t> </a:t>
            </a:r>
            <a:endParaRPr lang="en-US" sz="2400" b="1" dirty="0">
              <a:effectLst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Develop the method for production </a:t>
            </a:r>
            <a:r>
              <a:rPr lang="en-US" sz="2400" b="1" dirty="0"/>
              <a:t>using simplification,  standardization and specialization techniques.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err="1">
                <a:effectLst/>
              </a:rPr>
              <a:t>Finalise</a:t>
            </a:r>
            <a:r>
              <a:rPr lang="en-US" sz="2400" b="1" dirty="0">
                <a:effectLst/>
              </a:rPr>
              <a:t> the requirements of the </a:t>
            </a:r>
            <a:r>
              <a:rPr lang="en-US" sz="2400" b="1" dirty="0">
                <a:solidFill>
                  <a:srgbClr val="FF0000"/>
                </a:solidFill>
                <a:effectLst/>
              </a:rPr>
              <a:t>equipment </a:t>
            </a:r>
            <a:r>
              <a:rPr lang="en-US" sz="2400" b="1" dirty="0">
                <a:effectLst/>
              </a:rPr>
              <a:t>needed for manufacture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err="1"/>
              <a:t>Finalise</a:t>
            </a:r>
            <a:r>
              <a:rPr lang="en-US" sz="2400" b="1" dirty="0"/>
              <a:t> the specification of the </a:t>
            </a:r>
            <a:r>
              <a:rPr lang="en-US" sz="2400" b="1" dirty="0">
                <a:solidFill>
                  <a:srgbClr val="FF0000"/>
                </a:solidFill>
              </a:rPr>
              <a:t>material </a:t>
            </a:r>
            <a:r>
              <a:rPr lang="en-US" sz="2400" b="1" dirty="0"/>
              <a:t>required.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Job require</a:t>
            </a:r>
            <a:r>
              <a:rPr lang="en-US" sz="2400" b="1" dirty="0"/>
              <a:t>ment of the </a:t>
            </a:r>
            <a:r>
              <a:rPr lang="en-US" sz="2400" b="1" dirty="0">
                <a:solidFill>
                  <a:srgbClr val="FF0000"/>
                </a:solidFill>
              </a:rPr>
              <a:t>worker</a:t>
            </a:r>
            <a:r>
              <a:rPr lang="en-US" sz="2400" b="1" dirty="0"/>
              <a:t> and their training.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System for exercising the </a:t>
            </a:r>
            <a:r>
              <a:rPr lang="en-US" sz="2400" b="1" dirty="0">
                <a:solidFill>
                  <a:srgbClr val="FF0000"/>
                </a:solidFill>
                <a:effectLst/>
              </a:rPr>
              <a:t>control</a:t>
            </a:r>
            <a:r>
              <a:rPr lang="en-US" sz="2400" b="1" dirty="0">
                <a:effectLst/>
              </a:rPr>
              <a:t> is evolved. </a:t>
            </a:r>
          </a:p>
        </p:txBody>
      </p:sp>
    </p:spTree>
    <p:extLst>
      <p:ext uri="{BB962C8B-B14F-4D97-AF65-F5344CB8AC3E}">
        <p14:creationId xmlns:p14="http://schemas.microsoft.com/office/powerpoint/2010/main" val="401936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4BE40A-968A-CDC7-E70F-70BE3B03B767}"/>
              </a:ext>
            </a:extLst>
          </p:cNvPr>
          <p:cNvSpPr txBox="1"/>
          <p:nvPr/>
        </p:nvSpPr>
        <p:spPr>
          <a:xfrm>
            <a:off x="422031" y="450166"/>
            <a:ext cx="11296357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The goal of the prototyping phase during product development is to create a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finished product to use as a sample </a:t>
            </a:r>
            <a:r>
              <a:rPr lang="en-US" sz="2400" b="1" dirty="0"/>
              <a:t>for mass production. 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Prototyping</a:t>
            </a:r>
            <a:r>
              <a:rPr lang="en-US" sz="2400" b="1" i="0" dirty="0">
                <a:solidFill>
                  <a:srgbClr val="3F3F46"/>
                </a:solidFill>
                <a:effectLst/>
              </a:rPr>
              <a:t>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usually involves experimenting </a:t>
            </a:r>
            <a:r>
              <a:rPr lang="en-US" sz="2400" b="1" dirty="0"/>
              <a:t>with</a:t>
            </a:r>
            <a:r>
              <a:rPr lang="en-US" sz="2400" b="1" i="0" dirty="0">
                <a:solidFill>
                  <a:srgbClr val="3F3F46"/>
                </a:solidFill>
                <a:effectLst/>
              </a:rPr>
              <a:t>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several versions </a:t>
            </a:r>
            <a:r>
              <a:rPr lang="en-US" sz="2400" b="1" dirty="0"/>
              <a:t>of your product,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slowly eliminating options </a:t>
            </a:r>
            <a:r>
              <a:rPr lang="en-US" sz="2400" b="1" dirty="0"/>
              <a:t>and</a:t>
            </a:r>
            <a:r>
              <a:rPr lang="en-US" sz="2400" b="1" i="0" dirty="0">
                <a:solidFill>
                  <a:srgbClr val="3F3F46"/>
                </a:solidFill>
                <a:effectLst/>
              </a:rPr>
              <a:t>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making improvements until you’re satisfied with a final sample. </a:t>
            </a:r>
            <a:endParaRPr lang="en-US" sz="2400" b="1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133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BC6DD8D-FE8F-FC43-B3B7-CCD58CDF2F86}"/>
              </a:ext>
            </a:extLst>
          </p:cNvPr>
          <p:cNvSpPr txBox="1"/>
          <p:nvPr/>
        </p:nvSpPr>
        <p:spPr>
          <a:xfrm>
            <a:off x="267286" y="689316"/>
            <a:ext cx="11577711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</a:pPr>
            <a:r>
              <a:rPr lang="en-US" sz="2400" b="1" i="0" dirty="0">
                <a:solidFill>
                  <a:srgbClr val="FF0000"/>
                </a:solidFill>
                <a:effectLst/>
              </a:rPr>
              <a:t>Marketing strategy</a:t>
            </a:r>
          </a:p>
          <a:p>
            <a:pPr marL="342900" indent="-342900" algn="l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161616"/>
                </a:solidFill>
                <a:effectLst/>
              </a:rPr>
              <a:t>Marketing is often associated with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product messaging, social media and marketing campaigns geared toward target markets. </a:t>
            </a:r>
          </a:p>
          <a:p>
            <a:pPr marL="342900" indent="-342900" algn="l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161616"/>
                </a:solidFill>
                <a:effectLst/>
              </a:rPr>
              <a:t>But a marketing strategy could also include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sales and market share goals and product pricing and distribution strategy, </a:t>
            </a:r>
            <a:r>
              <a:rPr lang="en-US" sz="2400" b="1" i="0" dirty="0">
                <a:solidFill>
                  <a:srgbClr val="161616"/>
                </a:solidFill>
                <a:effectLst/>
              </a:rPr>
              <a:t>among other facets.</a:t>
            </a:r>
            <a:endParaRPr lang="en-US" sz="2400" b="1" dirty="0">
              <a:effectLst/>
            </a:endParaRPr>
          </a:p>
          <a:p>
            <a:pPr algn="l" fontAlgn="base">
              <a:lnSpc>
                <a:spcPct val="150000"/>
              </a:lnSpc>
            </a:pPr>
            <a:endParaRPr lang="en-US" sz="2400" b="1" i="0" dirty="0">
              <a:solidFill>
                <a:srgbClr val="FF0000"/>
              </a:solidFill>
              <a:effectLst/>
            </a:endParaRPr>
          </a:p>
          <a:p>
            <a:pPr algn="l" fontAlgn="base">
              <a:lnSpc>
                <a:spcPct val="150000"/>
              </a:lnSpc>
            </a:pPr>
            <a:r>
              <a:rPr lang="en-US" sz="2400" b="1" i="0" dirty="0">
                <a:solidFill>
                  <a:srgbClr val="FF0000"/>
                </a:solidFill>
                <a:effectLst/>
              </a:rPr>
              <a:t>Business analysis</a:t>
            </a:r>
          </a:p>
          <a:p>
            <a:pPr marL="342900" indent="-342900" algn="l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161616"/>
                </a:solidFill>
                <a:effectLst/>
              </a:rPr>
              <a:t>Will the product under development be good for business? This is determined during the business analysis stage, where teams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calculate projections for sales, costs and profits.</a:t>
            </a:r>
          </a:p>
        </p:txBody>
      </p:sp>
    </p:spTree>
    <p:extLst>
      <p:ext uri="{BB962C8B-B14F-4D97-AF65-F5344CB8AC3E}">
        <p14:creationId xmlns:p14="http://schemas.microsoft.com/office/powerpoint/2010/main" val="2591549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4F9300-1299-37F9-D0B3-13BF90E4BA2A}"/>
              </a:ext>
            </a:extLst>
          </p:cNvPr>
          <p:cNvSpPr txBox="1"/>
          <p:nvPr/>
        </p:nvSpPr>
        <p:spPr>
          <a:xfrm>
            <a:off x="548640" y="407963"/>
            <a:ext cx="11226018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</a:pPr>
            <a:r>
              <a:rPr lang="en-US" sz="2400" b="1" i="0" dirty="0">
                <a:solidFill>
                  <a:srgbClr val="FF0000"/>
                </a:solidFill>
                <a:effectLst/>
              </a:rPr>
              <a:t>Test marketing</a:t>
            </a:r>
          </a:p>
          <a:p>
            <a:pPr marL="342900" indent="-342900" algn="l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161616"/>
                </a:solidFill>
                <a:effectLst/>
              </a:rPr>
              <a:t>Companies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may</a:t>
            </a:r>
            <a:r>
              <a:rPr lang="en-US" sz="2400" b="1" i="0" dirty="0">
                <a:solidFill>
                  <a:srgbClr val="161616"/>
                </a:solidFill>
                <a:effectLst/>
              </a:rPr>
              <a:t> choose to roll out the product in a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limited fashion in specific markets before engaging in a wider product launch</a:t>
            </a:r>
            <a:r>
              <a:rPr lang="en-US" sz="2400" b="1" i="0" dirty="0">
                <a:solidFill>
                  <a:srgbClr val="161616"/>
                </a:solidFill>
                <a:effectLst/>
              </a:rPr>
              <a:t>. </a:t>
            </a:r>
          </a:p>
          <a:p>
            <a:pPr marL="342900" indent="-342900" algn="l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161616"/>
                </a:solidFill>
                <a:effectLst/>
              </a:rPr>
              <a:t>In traditional test marketing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, sales results are compared among multiple cities for a duration of six months to a year</a:t>
            </a:r>
            <a:r>
              <a:rPr lang="en-US" sz="2400" b="1" i="0" dirty="0">
                <a:solidFill>
                  <a:srgbClr val="161616"/>
                </a:solidFill>
                <a:effectLst/>
              </a:rPr>
              <a:t>. </a:t>
            </a:r>
          </a:p>
          <a:p>
            <a:pPr marL="342900" indent="-342900" algn="l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161616"/>
                </a:solidFill>
                <a:effectLst/>
              </a:rPr>
              <a:t>What product development teams learn from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user feedback </a:t>
            </a:r>
            <a:r>
              <a:rPr lang="en-US" sz="2400" b="1" i="0" dirty="0">
                <a:solidFill>
                  <a:srgbClr val="161616"/>
                </a:solidFill>
                <a:effectLst/>
              </a:rPr>
              <a:t>during test marketing can lead to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adjustments</a:t>
            </a:r>
            <a:r>
              <a:rPr lang="en-US" sz="2400" b="1" i="0" dirty="0">
                <a:solidFill>
                  <a:srgbClr val="161616"/>
                </a:solidFill>
                <a:effectLst/>
              </a:rPr>
              <a:t> in marketing strategy.</a:t>
            </a:r>
          </a:p>
          <a:p>
            <a:pPr algn="l" fontAlgn="base">
              <a:lnSpc>
                <a:spcPct val="150000"/>
              </a:lnSpc>
            </a:pPr>
            <a:r>
              <a:rPr lang="en-US" sz="2400" b="1" i="0" dirty="0">
                <a:solidFill>
                  <a:srgbClr val="FF0000"/>
                </a:solidFill>
                <a:effectLst/>
              </a:rPr>
              <a:t>Commercialization</a:t>
            </a:r>
          </a:p>
          <a:p>
            <a:pPr marL="342900" indent="-342900" algn="l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161616"/>
                </a:solidFill>
                <a:effectLst/>
              </a:rPr>
              <a:t>The commercialization stage entails the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mass production </a:t>
            </a:r>
            <a:r>
              <a:rPr lang="en-US" sz="2400" b="1" i="0" dirty="0">
                <a:solidFill>
                  <a:srgbClr val="161616"/>
                </a:solidFill>
                <a:effectLst/>
              </a:rPr>
              <a:t>of the product and the introduction of the final product to the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general market</a:t>
            </a:r>
            <a:r>
              <a:rPr lang="en-US" sz="2400" b="1" i="0" dirty="0">
                <a:solidFill>
                  <a:srgbClr val="161616"/>
                </a:solidFill>
                <a:effectLst/>
              </a:rPr>
              <a:t>—in other words,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the official, scaled product launch.</a:t>
            </a:r>
          </a:p>
        </p:txBody>
      </p:sp>
    </p:spTree>
    <p:extLst>
      <p:ext uri="{BB962C8B-B14F-4D97-AF65-F5344CB8AC3E}">
        <p14:creationId xmlns:p14="http://schemas.microsoft.com/office/powerpoint/2010/main" val="3124647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DBA2F39-6653-EA88-1B41-CF9416B32A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83AD92-FD9C-7DB8-E043-E6822487D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90487"/>
            <a:ext cx="8982075" cy="6677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B6854F-B9D5-CDB2-E9BC-FBE139371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2" y="242887"/>
            <a:ext cx="8982075" cy="6677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E4C367-103B-B818-455D-7A5D1848F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2" y="395287"/>
            <a:ext cx="8982075" cy="6677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780F8B-AF3D-9EA4-B8F1-391493D70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2" y="547687"/>
            <a:ext cx="8982075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6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1704A2-9DC1-875B-73C4-976D4E5E6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86" y="731582"/>
            <a:ext cx="11197883" cy="475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20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537CDB-C36C-FC23-6CDA-BE35DB457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548126"/>
            <a:ext cx="9315450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41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7AF78A-BFA2-ADE3-5471-70F227C7F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1842867"/>
            <a:ext cx="9477375" cy="306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2306F7-2B18-2D5B-1750-55458A1B4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407963"/>
            <a:ext cx="9734550" cy="199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6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348BDB-0658-4B7D-2568-2FAB72C1C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206" y="243512"/>
            <a:ext cx="8685338" cy="661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6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474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ShopifySans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mathur</dc:creator>
  <cp:lastModifiedBy>ravi mathur</cp:lastModifiedBy>
  <cp:revision>5</cp:revision>
  <dcterms:created xsi:type="dcterms:W3CDTF">2024-03-05T15:37:03Z</dcterms:created>
  <dcterms:modified xsi:type="dcterms:W3CDTF">2024-03-05T21:05:17Z</dcterms:modified>
</cp:coreProperties>
</file>