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5C6C4-1356-B2FA-4EC8-D0EB1BFF4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AF89F0-A518-17AD-F1DC-3EB9FAF3B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1933C-B88F-8E80-8429-AA14FE058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674AD-0D9A-4CB3-89E8-22FA817FBDFF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A4442-EF35-13C8-718E-3B83F7291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A621F-A2CA-C81A-751A-1E316E3F2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174C-1F1D-4A48-BAE0-0B054E285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066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FF1E4-9969-5516-9ED5-8817D474B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C2AC2-5504-46D3-B7DD-115ED08DB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5C8E7-0E10-EF17-D47A-061798552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674AD-0D9A-4CB3-89E8-22FA817FBDFF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A1DF4-6F24-5203-422A-520C92DBF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C4578-B8B9-CFC7-A502-7F1E869F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174C-1F1D-4A48-BAE0-0B054E285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700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D3A67-265D-EECF-B033-4446DDE6A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CBD00-CD85-121B-D770-D885FBE37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E9933-DF03-8D60-E3A0-BE8F1E9A9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674AD-0D9A-4CB3-89E8-22FA817FBDFF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B12A3-8E81-258E-8F1E-8612E76D1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F0A4F-FD37-AB03-B9A7-DA9B2A60E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174C-1F1D-4A48-BAE0-0B054E285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45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F319-C3B0-9985-DB8F-FA3A0EDEB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F271D-EB29-72D9-210D-D6B8BAC97B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11660C-8AF3-B168-EDBB-181FCBA9D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EDC38-60C3-74C4-5AD7-8A295FCE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674AD-0D9A-4CB3-89E8-22FA817FBDFF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440E9-9E27-D792-8E2E-50C5359DB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C6144-A1B5-4612-1B24-CBB6400AF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174C-1F1D-4A48-BAE0-0B054E285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718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DD390-3E6A-8106-CF1E-50F676B63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88A09-6D94-53C0-0E7C-C3082A025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521BE7-8707-CDCC-6A7E-B10492671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73E002-BCB0-AFC8-4AE3-2C7B12EA3E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5FEBB-76AA-BF1A-B22A-078CD706B7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0CAB5F-722E-7DAF-BE6A-250D8F815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674AD-0D9A-4CB3-89E8-22FA817FBDFF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FDF5F3-975E-B0B9-04FF-BEBE87603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205A06-1804-0FBE-1D9B-B110126A9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174C-1F1D-4A48-BAE0-0B054E285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758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C48B3-8C2D-A5C2-8036-C887C39C0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BB6C7A-EAD1-7CDA-5EB8-7FA65F7AF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674AD-0D9A-4CB3-89E8-22FA817FBDFF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FECDD2-8564-E93A-9D3C-C790F5514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0851EC-25D6-62F4-504C-A765C2B0B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174C-1F1D-4A48-BAE0-0B054E285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472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41443D-9816-6898-791B-F579ADCF6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674AD-0D9A-4CB3-89E8-22FA817FBDFF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BE0711-A185-E3EE-4FB6-4116E58C0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1A12C-82CB-B3F9-ACC3-850E5FA3F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174C-1F1D-4A48-BAE0-0B054E285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280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E02C-1AED-18CA-4CDC-3A14ACCA6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F6666-1730-1089-B1AD-E2864AB22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79C2A-7D9A-31D0-1C58-88BD4B1C6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574DF-C00F-FD58-B0A4-4A76968C7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674AD-0D9A-4CB3-89E8-22FA817FBDFF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D6B0C-16F8-373E-8D8F-8CA903AAF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285D6C-EE8C-A065-256E-B73CAC53A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174C-1F1D-4A48-BAE0-0B054E285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3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AEFE6-0807-F85B-1685-E72629753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0AD3F1-7F14-C661-245C-532E404935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445C2D-E018-0EBE-9D9E-E7492B6ADF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40CB4-7C5C-E7DF-0B22-7B5D1DE53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674AD-0D9A-4CB3-89E8-22FA817FBDFF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7E3A4-A7D7-207D-11E0-D6ADF42DC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5038C-A4B0-A67E-58A0-2B19385C3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174C-1F1D-4A48-BAE0-0B054E285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073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B7FC6-3AAA-7E9A-A9BC-1D00D481A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2B9ED7-147E-C0AC-6D78-8B35016EF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DE5D4-5EFE-1C35-EF02-76DB4C2A1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674AD-0D9A-4CB3-89E8-22FA817FBDFF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F3A6C-795D-7B30-2EF9-2265DB964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F41B3-952D-B29C-87E6-B850BFD72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174C-1F1D-4A48-BAE0-0B054E285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81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09C349-49B7-8658-3B9A-BE84A0561A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EFF707-49B0-6BD4-8475-606FE41FD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0F322-5463-54D9-54F2-6EFB720BF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674AD-0D9A-4CB3-89E8-22FA817FBDFF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83A2C-092E-8D06-254C-2A8ED032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7F241-EDC5-6E6A-7111-B616FE60F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174C-1F1D-4A48-BAE0-0B054E285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742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5A822E-84AA-21B9-E0F3-F1CD7A06A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6BA0B-91D0-05F4-579E-7EDAAB5D8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5CF30-0C04-AE33-6A3D-DEE281B8DC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B674AD-0D9A-4CB3-89E8-22FA817FBDFF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D4820-D068-3DC8-4712-B669EB29C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44D56-FD5D-E1EC-DCD8-4C3CC2F3B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B174C-1F1D-4A48-BAE0-0B054E285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03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EB1410-4D38-5BC5-BF3E-F7F814A8B5F2}"/>
              </a:ext>
            </a:extLst>
          </p:cNvPr>
          <p:cNvSpPr txBox="1"/>
          <p:nvPr/>
        </p:nvSpPr>
        <p:spPr>
          <a:xfrm>
            <a:off x="295422" y="0"/>
            <a:ext cx="11549575" cy="6965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SIMPLIFICATION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	Means making improvement in methods by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</a:rPr>
              <a:t>Eliminating</a:t>
            </a:r>
            <a:r>
              <a:rPr lang="en-US" sz="2400" b="1" dirty="0"/>
              <a:t> unnecessary parts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</a:rPr>
              <a:t>Rearranging</a:t>
            </a:r>
            <a:r>
              <a:rPr lang="en-US" sz="2400" b="1" dirty="0"/>
              <a:t> other elements of the job and making them easier and safer to perform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It is the process of </a:t>
            </a:r>
            <a:r>
              <a:rPr lang="en-US" sz="2400" b="1" dirty="0">
                <a:solidFill>
                  <a:srgbClr val="FF0000"/>
                </a:solidFill>
              </a:rPr>
              <a:t>reducing variety </a:t>
            </a:r>
            <a:r>
              <a:rPr lang="en-US" sz="2400" b="1" dirty="0"/>
              <a:t>of a product by limiting product range, their types, sizes, design and/or type of material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Reducing </a:t>
            </a:r>
            <a:r>
              <a:rPr lang="en-US" sz="2400" b="1" dirty="0">
                <a:solidFill>
                  <a:srgbClr val="FF0000"/>
                </a:solidFill>
              </a:rPr>
              <a:t>complexity </a:t>
            </a:r>
            <a:r>
              <a:rPr lang="en-US" sz="2400" b="1" dirty="0"/>
              <a:t>of manufacturing process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Difficult in highly styled items because their styles are changing very rapidly specially for the items used by ladies and children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Due to </a:t>
            </a:r>
            <a:r>
              <a:rPr lang="en-US" sz="2400" b="1" dirty="0">
                <a:solidFill>
                  <a:srgbClr val="FF0000"/>
                </a:solidFill>
              </a:rPr>
              <a:t>lack of simplification </a:t>
            </a:r>
            <a:r>
              <a:rPr lang="en-US" sz="2400" b="1" dirty="0"/>
              <a:t>,some people do not like to purchase foreign products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</a:rPr>
              <a:t>Classification and coding </a:t>
            </a:r>
            <a:r>
              <a:rPr lang="en-US" sz="2400" b="1" dirty="0"/>
              <a:t>help locating and identifying all items( i.e., products, components etc.)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The availability of suitable </a:t>
            </a:r>
            <a:r>
              <a:rPr lang="en-US" sz="2400" b="1" dirty="0">
                <a:solidFill>
                  <a:srgbClr val="FF0000"/>
                </a:solidFill>
              </a:rPr>
              <a:t>standards</a:t>
            </a:r>
            <a:r>
              <a:rPr lang="en-US" sz="2400" b="1" dirty="0"/>
              <a:t> assist in simplification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988124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34DD51-57E4-3E00-0EE5-5BB7142F1643}"/>
              </a:ext>
            </a:extLst>
          </p:cNvPr>
          <p:cNvSpPr txBox="1"/>
          <p:nvPr/>
        </p:nvSpPr>
        <p:spPr>
          <a:xfrm>
            <a:off x="464233" y="436098"/>
            <a:ext cx="11394831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Advantages</a:t>
            </a:r>
          </a:p>
          <a:p>
            <a:pPr marL="514350" indent="-514350">
              <a:lnSpc>
                <a:spcPct val="150000"/>
              </a:lnSpc>
              <a:buAutoNum type="romanLcParenBoth"/>
            </a:pPr>
            <a:r>
              <a:rPr lang="en-US" sz="2400" b="1">
                <a:solidFill>
                  <a:srgbClr val="FF0000"/>
                </a:solidFill>
                <a:latin typeface="Calibri" panose="020F0502020204030204"/>
              </a:rPr>
              <a:t>To Manufacturers</a:t>
            </a:r>
            <a:endParaRPr lang="en-US" sz="2400" b="1" dirty="0">
              <a:solidFill>
                <a:srgbClr val="FF0000"/>
              </a:solidFill>
              <a:latin typeface="Calibri" panose="020F0502020204030204"/>
            </a:endParaRP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of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special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purpose machines and tools is possible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Less capital </a:t>
            </a:r>
            <a:r>
              <a:rPr lang="en-US" sz="2400" b="1" dirty="0">
                <a:latin typeface="Calibri" panose="020F0502020204030204"/>
              </a:rPr>
              <a:t>is blocked in raw materials, finished products, jigs, dies and other special tools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</a:t>
            </a:r>
            <a:r>
              <a:rPr lang="en-US" sz="2400" b="1" dirty="0" err="1">
                <a:solidFill>
                  <a:srgbClr val="FF0000"/>
                </a:solidFill>
                <a:latin typeface="Calibri" panose="020F0502020204030204"/>
              </a:rPr>
              <a:t>ervision</a:t>
            </a:r>
            <a:r>
              <a:rPr lang="en-US" sz="2400" b="1" dirty="0">
                <a:latin typeface="Calibri" panose="020F0502020204030204"/>
              </a:rPr>
              <a:t> is required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Less chances of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errors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Manufacturing cost </a:t>
            </a:r>
            <a:r>
              <a:rPr lang="en-US" sz="2400" b="1" dirty="0">
                <a:latin typeface="Calibri" panose="020F0502020204030204"/>
              </a:rPr>
              <a:t>reduces because less variety -&gt; large number of products of same variety are produced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Correct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estimation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possi</a:t>
            </a:r>
            <a:r>
              <a:rPr lang="en-US" sz="2400" b="1" dirty="0" err="1">
                <a:latin typeface="Calibri" panose="020F0502020204030204"/>
              </a:rPr>
              <a:t>ble</a:t>
            </a:r>
            <a:endParaRPr lang="en-US" sz="2400" b="1" dirty="0">
              <a:latin typeface="Calibri" panose="020F0502020204030204"/>
            </a:endParaRP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Less chances of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obso</a:t>
            </a:r>
            <a:r>
              <a:rPr lang="en-US" sz="2400" b="1" dirty="0" err="1">
                <a:solidFill>
                  <a:srgbClr val="FF0000"/>
                </a:solidFill>
                <a:latin typeface="Calibri" panose="020F0502020204030204"/>
              </a:rPr>
              <a:t>lescence</a:t>
            </a:r>
            <a:endParaRPr lang="en-US" sz="2400" b="1" dirty="0">
              <a:solidFill>
                <a:srgbClr val="FF00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89792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8E3370-A7E6-3A4E-869F-3606AC4B44B4}"/>
              </a:ext>
            </a:extLst>
          </p:cNvPr>
          <p:cNvSpPr txBox="1"/>
          <p:nvPr/>
        </p:nvSpPr>
        <p:spPr>
          <a:xfrm>
            <a:off x="379827" y="407963"/>
            <a:ext cx="11380763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/>
              </a:rPr>
              <a:t>Training to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worker</a:t>
            </a:r>
            <a:r>
              <a:rPr lang="en-US" sz="2400" b="1" dirty="0">
                <a:latin typeface="Calibri" panose="020F0502020204030204"/>
              </a:rPr>
              <a:t> become easy , quick and economical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/>
              </a:rPr>
              <a:t>Increased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production rate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/>
              </a:rPr>
              <a:t>Lower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unit cost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/>
              </a:rPr>
              <a:t>Investment of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capital</a:t>
            </a:r>
            <a:r>
              <a:rPr lang="en-US" sz="2400" b="1" dirty="0">
                <a:latin typeface="Calibri" panose="020F0502020204030204"/>
              </a:rPr>
              <a:t> will be less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err="1">
                <a:solidFill>
                  <a:srgbClr val="FF0000"/>
                </a:solidFill>
                <a:latin typeface="Calibri" panose="020F0502020204030204"/>
              </a:rPr>
              <a:t>Standardisation</a:t>
            </a:r>
            <a:r>
              <a:rPr lang="en-US" sz="2400" b="1" dirty="0">
                <a:latin typeface="Calibri" panose="020F0502020204030204"/>
              </a:rPr>
              <a:t> is possible, which raises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quality </a:t>
            </a:r>
            <a:r>
              <a:rPr lang="en-US" sz="2400" b="1" dirty="0">
                <a:latin typeface="Calibri" panose="020F0502020204030204"/>
              </a:rPr>
              <a:t>of product and products of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uniform</a:t>
            </a:r>
            <a:r>
              <a:rPr lang="en-US" sz="2400" b="1" dirty="0">
                <a:latin typeface="Calibri" panose="020F0502020204030204"/>
              </a:rPr>
              <a:t> acceptable quality will be available in the market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/>
              </a:rPr>
              <a:t>Reduces wastages of </a:t>
            </a:r>
            <a:r>
              <a:rPr lang="en-US" sz="2400" b="1" dirty="0" err="1">
                <a:solidFill>
                  <a:srgbClr val="FF0000"/>
                </a:solidFill>
                <a:latin typeface="Calibri" panose="020F0502020204030204"/>
              </a:rPr>
              <a:t>labour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 and material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/>
              </a:rPr>
              <a:t>Reduction of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error in shipment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Prompt delivery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Continuous </a:t>
            </a:r>
            <a:r>
              <a:rPr lang="en-US" sz="2400" b="1" dirty="0" err="1">
                <a:solidFill>
                  <a:srgbClr val="FF0000"/>
                </a:solidFill>
                <a:latin typeface="Calibri" panose="020F0502020204030204"/>
              </a:rPr>
              <a:t>employement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 </a:t>
            </a:r>
            <a:r>
              <a:rPr lang="en-US" sz="2400" b="1" dirty="0">
                <a:latin typeface="Calibri" panose="020F0502020204030204"/>
              </a:rPr>
              <a:t>instead of temporary when this or that size of model was needed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702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C86322-3685-098E-9B68-27AE186DC576}"/>
              </a:ext>
            </a:extLst>
          </p:cNvPr>
          <p:cNvSpPr txBox="1"/>
          <p:nvPr/>
        </p:nvSpPr>
        <p:spPr>
          <a:xfrm>
            <a:off x="295422" y="0"/>
            <a:ext cx="11451101" cy="668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0000"/>
                </a:solidFill>
              </a:rPr>
              <a:t>(ii) To Distributors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Selling is easy</a:t>
            </a:r>
            <a:r>
              <a:rPr lang="en-IN" sz="2400" b="1" dirty="0"/>
              <a:t> because only few items are to be sold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Less capital is blocked </a:t>
            </a:r>
            <a:r>
              <a:rPr lang="en-IN" sz="2400" b="1" dirty="0"/>
              <a:t>in keeping less variety of products in hand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 Less </a:t>
            </a:r>
            <a:r>
              <a:rPr lang="en-IN" sz="2400" b="1" dirty="0">
                <a:solidFill>
                  <a:srgbClr val="FF0000"/>
                </a:solidFill>
              </a:rPr>
              <a:t>depreciation and obsolescence </a:t>
            </a:r>
            <a:r>
              <a:rPr lang="en-IN" sz="2400" b="1" dirty="0"/>
              <a:t>of products in products in  stock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Selling expenses </a:t>
            </a:r>
            <a:r>
              <a:rPr lang="en-IN" sz="2400" b="1" dirty="0"/>
              <a:t>are reduced because of less handling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Accounting</a:t>
            </a:r>
            <a:r>
              <a:rPr lang="en-IN" sz="2400" b="1" dirty="0"/>
              <a:t> and other clerical work reduced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Less </a:t>
            </a:r>
            <a:r>
              <a:rPr lang="en-IN" sz="2400" b="1" dirty="0">
                <a:solidFill>
                  <a:srgbClr val="FF0000"/>
                </a:solidFill>
              </a:rPr>
              <a:t>storage space </a:t>
            </a:r>
            <a:r>
              <a:rPr lang="en-IN" sz="2400" b="1" dirty="0"/>
              <a:t>is required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Elimination of </a:t>
            </a:r>
            <a:r>
              <a:rPr lang="en-IN" sz="2400" b="1" dirty="0">
                <a:solidFill>
                  <a:srgbClr val="FF0000"/>
                </a:solidFill>
              </a:rPr>
              <a:t>slow moving stock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0000"/>
                </a:solidFill>
              </a:rPr>
              <a:t>(ii) To Consumers </a:t>
            </a:r>
            <a:r>
              <a:rPr lang="en-IN" sz="2400" b="1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Better quality </a:t>
            </a:r>
            <a:r>
              <a:rPr lang="en-IN" sz="2400" b="1" dirty="0"/>
              <a:t>of products is available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Better services </a:t>
            </a:r>
            <a:r>
              <a:rPr lang="en-IN" sz="2400" b="1" dirty="0"/>
              <a:t>in delivery and repairs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Confidence</a:t>
            </a:r>
            <a:r>
              <a:rPr lang="en-IN" sz="2400" b="1" dirty="0"/>
              <a:t> in purchase</a:t>
            </a:r>
          </a:p>
        </p:txBody>
      </p:sp>
    </p:spTree>
    <p:extLst>
      <p:ext uri="{BB962C8B-B14F-4D97-AF65-F5344CB8AC3E}">
        <p14:creationId xmlns:p14="http://schemas.microsoft.com/office/powerpoint/2010/main" val="4001237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B32525-E2DC-6BA8-7126-31B5034D7FF2}"/>
              </a:ext>
            </a:extLst>
          </p:cNvPr>
          <p:cNvSpPr txBox="1"/>
          <p:nvPr/>
        </p:nvSpPr>
        <p:spPr>
          <a:xfrm>
            <a:off x="379827" y="267285"/>
            <a:ext cx="11437035" cy="668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TANDARDISA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TION</a:t>
            </a:r>
          </a:p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Setting up of standards </a:t>
            </a:r>
            <a:r>
              <a:rPr lang="en-US" sz="2400" b="1" dirty="0">
                <a:latin typeface="Calibri" panose="020F0502020204030204"/>
              </a:rPr>
              <a:t>for quantity, quality, raw material, size </a:t>
            </a:r>
            <a:r>
              <a:rPr lang="en-US" sz="2400" b="1">
                <a:latin typeface="Calibri" panose="020F0502020204030204"/>
              </a:rPr>
              <a:t>and performance </a:t>
            </a:r>
            <a:r>
              <a:rPr lang="en-US" sz="2400" b="1" dirty="0">
                <a:latin typeface="Calibri" panose="020F0502020204030204"/>
              </a:rPr>
              <a:t>etc. of any  product</a:t>
            </a:r>
          </a:p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is done </a:t>
            </a:r>
            <a:r>
              <a:rPr lang="en-US" sz="2400" b="1" dirty="0">
                <a:latin typeface="Calibri" panose="020F0502020204030204"/>
              </a:rPr>
              <a:t>a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fter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considering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variou</a:t>
            </a:r>
            <a:r>
              <a:rPr lang="en-US" sz="2400" b="1" dirty="0">
                <a:latin typeface="Calibri" panose="020F0502020204030204"/>
              </a:rPr>
              <a:t>s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scientific procedures </a:t>
            </a:r>
            <a:r>
              <a:rPr lang="en-US" sz="2400" b="1" dirty="0">
                <a:latin typeface="Calibri" panose="020F0502020204030204"/>
              </a:rPr>
              <a:t>and helpful for checking quality of any product</a:t>
            </a:r>
          </a:p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400" b="1" dirty="0">
                <a:latin typeface="Calibri" panose="020F0502020204030204"/>
              </a:rPr>
              <a:t>Simplification  is the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selection</a:t>
            </a:r>
            <a:r>
              <a:rPr lang="en-US" sz="2400" b="1" dirty="0">
                <a:latin typeface="Calibri" panose="020F0502020204030204"/>
              </a:rPr>
              <a:t> of those items which are of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greatest demand and </a:t>
            </a:r>
            <a:r>
              <a:rPr lang="en-US" sz="2400" b="1" dirty="0" err="1">
                <a:solidFill>
                  <a:srgbClr val="FF0000"/>
                </a:solidFill>
                <a:latin typeface="Calibri" panose="020F0502020204030204"/>
              </a:rPr>
              <a:t>eliminaton</a:t>
            </a:r>
            <a:r>
              <a:rPr lang="en-US" sz="2400" b="1" dirty="0">
                <a:latin typeface="Calibri" panose="020F0502020204030204"/>
              </a:rPr>
              <a:t> of other items ,while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standardization</a:t>
            </a:r>
            <a:r>
              <a:rPr lang="en-US" sz="2400" b="1" dirty="0">
                <a:latin typeface="Calibri" panose="020F0502020204030204"/>
              </a:rPr>
              <a:t> is to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set standards </a:t>
            </a:r>
            <a:r>
              <a:rPr lang="en-US" sz="2400" b="1" dirty="0">
                <a:latin typeface="Calibri" panose="020F0502020204030204"/>
              </a:rPr>
              <a:t>for that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simplified item </a:t>
            </a:r>
          </a:p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400" b="1" dirty="0">
                <a:latin typeface="Calibri" panose="020F0502020204030204"/>
              </a:rPr>
              <a:t>The standards fixed should give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  method, specification and the type </a:t>
            </a:r>
            <a:r>
              <a:rPr lang="en-US" sz="2400" b="1" dirty="0">
                <a:latin typeface="Calibri" panose="020F0502020204030204"/>
              </a:rPr>
              <a:t>considering all the factors such as available equipment, working conditions, material and tools etc. all being standardized</a:t>
            </a:r>
          </a:p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400" b="1" dirty="0">
                <a:latin typeface="Calibri" panose="020F0502020204030204"/>
              </a:rPr>
              <a:t>Ex number of threads on specific size of bolt / stud</a:t>
            </a:r>
          </a:p>
        </p:txBody>
      </p:sp>
    </p:spTree>
    <p:extLst>
      <p:ext uri="{BB962C8B-B14F-4D97-AF65-F5344CB8AC3E}">
        <p14:creationId xmlns:p14="http://schemas.microsoft.com/office/powerpoint/2010/main" val="1989174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1AA1D39-615A-4D0F-D197-11DB35E2E347}"/>
              </a:ext>
            </a:extLst>
          </p:cNvPr>
          <p:cNvSpPr txBox="1"/>
          <p:nvPr/>
        </p:nvSpPr>
        <p:spPr>
          <a:xfrm>
            <a:off x="537028" y="1291771"/>
            <a:ext cx="11161485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0000"/>
                </a:solidFill>
              </a:rPr>
              <a:t>Standardisation Procedure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With the help of market research, sales statistics etc.  , decide </a:t>
            </a:r>
            <a:r>
              <a:rPr lang="en-IN" sz="2400" b="1" dirty="0">
                <a:solidFill>
                  <a:srgbClr val="FF0000"/>
                </a:solidFill>
              </a:rPr>
              <a:t>what to sell in future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Then, define a </a:t>
            </a:r>
            <a:r>
              <a:rPr lang="en-IN" sz="2400" b="1" dirty="0">
                <a:solidFill>
                  <a:srgbClr val="FF0000"/>
                </a:solidFill>
              </a:rPr>
              <a:t>range of product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From the range ask </a:t>
            </a:r>
            <a:r>
              <a:rPr lang="en-IN" sz="2400" b="1" dirty="0">
                <a:solidFill>
                  <a:srgbClr val="FF0000"/>
                </a:solidFill>
              </a:rPr>
              <a:t>designer to develop minimum variety </a:t>
            </a:r>
            <a:r>
              <a:rPr lang="en-IN" sz="2400" b="1" dirty="0"/>
              <a:t>of components to match the range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Introduce </a:t>
            </a:r>
            <a:r>
              <a:rPr lang="en-IN" sz="2400" b="1" dirty="0">
                <a:solidFill>
                  <a:srgbClr val="FF0000"/>
                </a:solidFill>
              </a:rPr>
              <a:t>new materials, components </a:t>
            </a:r>
            <a:r>
              <a:rPr lang="en-IN" sz="2400" b="1" dirty="0"/>
              <a:t>etc., if necessary.</a:t>
            </a:r>
          </a:p>
        </p:txBody>
      </p:sp>
    </p:spTree>
    <p:extLst>
      <p:ext uri="{BB962C8B-B14F-4D97-AF65-F5344CB8AC3E}">
        <p14:creationId xmlns:p14="http://schemas.microsoft.com/office/powerpoint/2010/main" val="4232131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11D231-2FA1-CC91-8C67-2323670B3104}"/>
              </a:ext>
            </a:extLst>
          </p:cNvPr>
          <p:cNvSpPr txBox="1"/>
          <p:nvPr/>
        </p:nvSpPr>
        <p:spPr>
          <a:xfrm>
            <a:off x="449943" y="0"/>
            <a:ext cx="1140822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approach to </a:t>
            </a:r>
            <a:r>
              <a:rPr kumimoji="0" lang="en-I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standardisaton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necessitates the classification of materials and component parts.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Classification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Classification aims at, systematically,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grouping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items together by  their common features and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subdividing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them  by their special feature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A system of classification and coding is necessary for the design of new products within the range defined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Such a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system 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should readily :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Identify and locate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identical items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 in new designs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Facilitate the use of stan</a:t>
            </a:r>
            <a:r>
              <a:rPr lang="en-IN" sz="2400" b="1" dirty="0" err="1">
                <a:solidFill>
                  <a:prstClr val="black"/>
                </a:solidFill>
                <a:latin typeface="Calibri" panose="020F0502020204030204"/>
              </a:rPr>
              <a:t>dard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 items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 Identify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substitutes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 in case of stock outs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</a:t>
            </a:r>
            <a:r>
              <a:rPr lang="en-IN" sz="2400" b="1" dirty="0" err="1">
                <a:solidFill>
                  <a:prstClr val="black"/>
                </a:solidFill>
                <a:latin typeface="Calibri" panose="020F0502020204030204"/>
              </a:rPr>
              <a:t>lp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 developing group technology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Aid to improve parts lo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cation in the store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7677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9882AD-5214-E44D-9C7A-C9F7DA056DB5}"/>
              </a:ext>
            </a:extLst>
          </p:cNvPr>
          <p:cNvSpPr txBox="1"/>
          <p:nvPr/>
        </p:nvSpPr>
        <p:spPr>
          <a:xfrm>
            <a:off x="379829" y="1"/>
            <a:ext cx="1149330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Classification procedure 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kumimoji="0" lang="en-I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nvolves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the following steps :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all items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Classify 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each item according to its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basic characteristics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Identify each item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allocating to it some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meaningful code number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A code 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consists of letters and numbers. The aim is to classify from general to particular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Ex. Grinding Wheels- various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wheel features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are denoted by letters and numbers. A code is marked on grinding wheel.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	According to Bureau of Indian Standards ( formerly Indian Standard Institution) is specified as follows :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G	        C	        54		   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g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     6	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           V	       BE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Green     Silicon       Medium   Soft        Dense      Vitrified 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Suffix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(Prefix)   carbide      grain        grade   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structure     bond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(Trade secret) Depends upon</a:t>
            </a:r>
            <a:endParaRPr lang="en-IN" sz="2000" b="1" dirty="0">
              <a:solidFill>
                <a:prstClr val="black"/>
              </a:solidFill>
              <a:latin typeface="Calibri" panose="020F0502020204030204"/>
            </a:endParaRP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   abrasive      size				           </a:t>
            </a:r>
            <a:r>
              <a:rPr lang="en-IN" sz="2000" b="1" dirty="0">
                <a:solidFill>
                  <a:prstClr val="black"/>
                </a:solidFill>
                <a:latin typeface="Calibri" panose="020F0502020204030204"/>
              </a:rPr>
              <a:t>the process and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type  of manufacture</a:t>
            </a:r>
          </a:p>
        </p:txBody>
      </p:sp>
    </p:spTree>
    <p:extLst>
      <p:ext uri="{BB962C8B-B14F-4D97-AF65-F5344CB8AC3E}">
        <p14:creationId xmlns:p14="http://schemas.microsoft.com/office/powerpoint/2010/main" val="1626235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FFBB5D-8C2B-C011-D169-0E8B1105D2F5}"/>
              </a:ext>
            </a:extLst>
          </p:cNvPr>
          <p:cNvSpPr txBox="1"/>
          <p:nvPr/>
        </p:nvSpPr>
        <p:spPr>
          <a:xfrm>
            <a:off x="464233" y="295422"/>
            <a:ext cx="11479237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Advantages of Standardisation</a:t>
            </a:r>
          </a:p>
          <a:p>
            <a:pPr marL="457200" marR="0" lvl="0" indent="-4572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/>
              <a:tabLst/>
              <a:defRPr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Design department :</a:t>
            </a:r>
          </a:p>
          <a:p>
            <a:pPr marL="457200" marR="0" lvl="0" indent="-4572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Fewer </a:t>
            </a:r>
            <a:r>
              <a:rPr lang="en-IN" sz="2400" b="1" dirty="0">
                <a:latin typeface="Calibri" panose="020F0502020204030204"/>
              </a:rPr>
              <a:t>specifications, drawings and part lists have to be prepared and issued</a:t>
            </a:r>
          </a:p>
          <a:p>
            <a:pPr marL="457200" marR="0" lvl="0" indent="-4572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latin typeface="Calibri" panose="020F0502020204030204"/>
              </a:rPr>
              <a:t>Thus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more time</a:t>
            </a:r>
            <a:r>
              <a:rPr lang="en-IN" sz="2400" b="1" dirty="0">
                <a:latin typeface="Calibri" panose="020F0502020204030204"/>
              </a:rPr>
              <a:t> is available to develop new designs or to improve established designs</a:t>
            </a:r>
          </a:p>
          <a:p>
            <a:pPr marL="457200" marR="0" lvl="0" indent="-4572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latin typeface="Calibri" panose="020F0502020204030204"/>
              </a:rPr>
              <a:t>Better resources utilisation</a:t>
            </a:r>
          </a:p>
          <a:p>
            <a:pPr marL="457200" marR="0" lvl="0" indent="-4572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latin typeface="Calibri" panose="020F0502020204030204"/>
              </a:rPr>
              <a:t>Allocation of work to suit available talent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400" b="1" dirty="0">
                <a:latin typeface="Calibri" panose="020F0502020204030204"/>
              </a:rPr>
              <a:t>Lesser design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mistakes</a:t>
            </a:r>
            <a:r>
              <a:rPr lang="en-IN" sz="2400" b="1" dirty="0">
                <a:latin typeface="Calibri" panose="020F0502020204030204"/>
              </a:rPr>
              <a:t> and design alterations</a:t>
            </a:r>
          </a:p>
          <a:p>
            <a:pPr marL="457200" marR="0" lvl="0" indent="-4572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latin typeface="Calibri" panose="020F0502020204030204"/>
              </a:rPr>
              <a:t>Less qualified personnel can handle routine design works</a:t>
            </a:r>
          </a:p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2. Manufacturing department </a:t>
            </a:r>
            <a:r>
              <a:rPr lang="en-IN" sz="2400" b="1" dirty="0">
                <a:latin typeface="Calibri" panose="020F0502020204030204"/>
              </a:rPr>
              <a:t>:</a:t>
            </a:r>
          </a:p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latin typeface="Calibri" panose="020F0502020204030204"/>
              </a:rPr>
              <a:t>Lower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unit cost</a:t>
            </a:r>
          </a:p>
          <a:p>
            <a:pPr marL="342900" marR="0" lvl="0" indent="-3429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latin typeface="Calibri" panose="020F0502020204030204"/>
              </a:rPr>
              <a:t>Better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quality products</a:t>
            </a:r>
          </a:p>
        </p:txBody>
      </p:sp>
    </p:spTree>
    <p:extLst>
      <p:ext uri="{BB962C8B-B14F-4D97-AF65-F5344CB8AC3E}">
        <p14:creationId xmlns:p14="http://schemas.microsoft.com/office/powerpoint/2010/main" val="2642709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586190-5C07-CD86-AF72-C56E404F43C9}"/>
              </a:ext>
            </a:extLst>
          </p:cNvPr>
          <p:cNvSpPr txBox="1"/>
          <p:nvPr/>
        </p:nvSpPr>
        <p:spPr>
          <a:xfrm>
            <a:off x="264941" y="309490"/>
            <a:ext cx="11662117" cy="557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/>
              </a:rPr>
              <a:t>Accurate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delivery dates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/>
              </a:rPr>
              <a:t>Better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methods and tooling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/>
              </a:rPr>
              <a:t>More effective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trainings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Better services </a:t>
            </a:r>
            <a:r>
              <a:rPr lang="en-IN" sz="2400" b="1" dirty="0">
                <a:latin typeface="Calibri" panose="020F0502020204030204"/>
              </a:rPr>
              <a:t>of production control, stock control , purchasing etc.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/>
              </a:rPr>
              <a:t>Fewer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tool changes </a:t>
            </a:r>
            <a:r>
              <a:rPr lang="en-IN" sz="2400" b="1" dirty="0">
                <a:latin typeface="Calibri" panose="020F0502020204030204"/>
              </a:rPr>
              <a:t>and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process setups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/>
              </a:rPr>
              <a:t>Increased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interchangeability </a:t>
            </a:r>
            <a:r>
              <a:rPr lang="en-IN" sz="2400" b="1" dirty="0">
                <a:latin typeface="Calibri" panose="020F0502020204030204"/>
              </a:rPr>
              <a:t>of parts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/>
              </a:rPr>
              <a:t>Better utilisation of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manpower and </a:t>
            </a:r>
            <a:r>
              <a:rPr lang="en-IN" sz="2400" b="1" dirty="0" err="1">
                <a:solidFill>
                  <a:srgbClr val="FF0000"/>
                </a:solidFill>
                <a:latin typeface="Calibri" panose="020F0502020204030204"/>
              </a:rPr>
              <a:t>equipments</a:t>
            </a:r>
            <a:endParaRPr lang="en-IN" sz="2400" b="1" dirty="0">
              <a:solidFill>
                <a:srgbClr val="FF0000"/>
              </a:solidFill>
              <a:latin typeface="Calibri" panose="020F050202020403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Longer production runs </a:t>
            </a:r>
            <a:r>
              <a:rPr lang="en-IN" sz="2400" b="1" dirty="0">
                <a:latin typeface="Calibri" panose="020F0502020204030204"/>
              </a:rPr>
              <a:t>with fewer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change over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/>
              </a:rPr>
              <a:t>The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operations </a:t>
            </a:r>
            <a:r>
              <a:rPr lang="en-IN" sz="2400" b="1" dirty="0">
                <a:latin typeface="Calibri" panose="020F0502020204030204"/>
              </a:rPr>
              <a:t>can be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analysed and broken </a:t>
            </a:r>
            <a:r>
              <a:rPr lang="en-IN" sz="2400" b="1" dirty="0">
                <a:latin typeface="Calibri" panose="020F0502020204030204"/>
              </a:rPr>
              <a:t>easily into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short repetitive cycles </a:t>
            </a:r>
            <a:r>
              <a:rPr lang="en-IN" sz="2400" b="1" dirty="0">
                <a:latin typeface="Calibri" panose="020F0502020204030204"/>
              </a:rPr>
              <a:t>which can easily be mastered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32079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04D22-C040-6D1C-6733-6E8CEA53FE11}"/>
              </a:ext>
            </a:extLst>
          </p:cNvPr>
          <p:cNvSpPr txBox="1"/>
          <p:nvPr/>
        </p:nvSpPr>
        <p:spPr>
          <a:xfrm>
            <a:off x="351692" y="211016"/>
            <a:ext cx="11223674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3. Marketing department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/>
              </a:rPr>
              <a:t>Better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quality</a:t>
            </a:r>
            <a:r>
              <a:rPr lang="en-IN" sz="2400" b="1" dirty="0">
                <a:latin typeface="Calibri" panose="020F0502020204030204"/>
              </a:rPr>
              <a:t> products of proven design at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reasonable</a:t>
            </a:r>
            <a:r>
              <a:rPr lang="en-IN" sz="2400" b="1" dirty="0">
                <a:latin typeface="Calibri" panose="020F0502020204030204"/>
              </a:rPr>
              <a:t>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price</a:t>
            </a:r>
            <a:r>
              <a:rPr lang="en-IN" sz="2400" b="1" dirty="0">
                <a:latin typeface="Calibri" panose="020F0502020204030204"/>
              </a:rPr>
              <a:t> </a:t>
            </a: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 greater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sales volume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Increased margin of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profit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Less pressure of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aftersales services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Better product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deliveries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Easy availability of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spare parts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4. Production planning section 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Scope for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improved methods, processes and layout</a:t>
            </a:r>
            <a:endParaRPr lang="en-IN" sz="2400" b="1" dirty="0">
              <a:latin typeface="Calibri" panose="020F0502020204030204"/>
              <a:sym typeface="Wingdings" panose="05000000000000000000" pitchFamily="2" charset="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Opportunities for more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efficient tool design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Greatly reduced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pre production planning activities. </a:t>
            </a: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Fewer issues of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new planning cards</a:t>
            </a:r>
          </a:p>
        </p:txBody>
      </p:sp>
    </p:spTree>
    <p:extLst>
      <p:ext uri="{BB962C8B-B14F-4D97-AF65-F5344CB8AC3E}">
        <p14:creationId xmlns:p14="http://schemas.microsoft.com/office/powerpoint/2010/main" val="2480902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D5F80E-813C-CA07-EBCF-AF81064F6976}"/>
              </a:ext>
            </a:extLst>
          </p:cNvPr>
          <p:cNvSpPr txBox="1"/>
          <p:nvPr/>
        </p:nvSpPr>
        <p:spPr>
          <a:xfrm>
            <a:off x="365760" y="422031"/>
            <a:ext cx="11535508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5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. Production control department 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Well proven </a:t>
            </a:r>
            <a:r>
              <a:rPr lang="en-IN" sz="2400" b="1" dirty="0">
                <a:latin typeface="Calibri" panose="020F0502020204030204"/>
              </a:rPr>
              <a:t>design and methods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improve planning and control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/>
              </a:rPr>
              <a:t>Chasing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 small batches(of products) </a:t>
            </a:r>
            <a:r>
              <a:rPr lang="en-IN" sz="2400" b="1" dirty="0">
                <a:latin typeface="Calibri" panose="020F0502020204030204"/>
              </a:rPr>
              <a:t>consumes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 less time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Fewer delays </a:t>
            </a:r>
            <a:r>
              <a:rPr lang="en-IN" sz="2400" b="1" dirty="0">
                <a:latin typeface="Calibri" panose="020F0502020204030204"/>
              </a:rPr>
              <a:t>arise from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waiting for materials, instructions, tools etc.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Accurate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delivery promises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6. Purchase and stock control section 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Holding stock of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standard items(</a:t>
            </a:r>
            <a:r>
              <a:rPr lang="en-IN" sz="2400" b="1" dirty="0" err="1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i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. e. less variety of </a:t>
            </a:r>
            <a:r>
              <a:rPr lang="en-IN" sz="2400" b="1" dirty="0" err="1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matrials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 and components0 -&gt; less paper work and fewer requisitions and orders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Storage and part location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can be improved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Large purchase quantities -&gt; favourable purchase contacts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Newer control techniques</a:t>
            </a: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 can be used for better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stock control of stock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2652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1AEE72-D5C7-3ECB-E5CD-43F9659D297D}"/>
              </a:ext>
            </a:extLst>
          </p:cNvPr>
          <p:cNvSpPr txBox="1"/>
          <p:nvPr/>
        </p:nvSpPr>
        <p:spPr>
          <a:xfrm>
            <a:off x="436097" y="154746"/>
            <a:ext cx="11493305" cy="668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7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. Quality control department 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Better </a:t>
            </a: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inspection and quality control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Operators </a:t>
            </a: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become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familiar with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the work and produce jobs of </a:t>
            </a:r>
            <a:r>
              <a:rPr lang="en-IN" sz="2400" b="1" dirty="0" err="1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consistant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 quality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Quality standards can be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more clearly defined</a:t>
            </a:r>
          </a:p>
          <a:p>
            <a:pPr>
              <a:lnSpc>
                <a:spcPct val="150000"/>
              </a:lnSpc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8. Work –study section: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Effective break down of (limited) operations into short repetitive cycles and effective work measurement </a:t>
            </a: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afford considerable opportunities for work study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9. Supervision :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All the above points help the </a:t>
            </a:r>
            <a:r>
              <a:rPr lang="en-IN" sz="2400" b="1" dirty="0" err="1">
                <a:latin typeface="Calibri" panose="020F0502020204030204"/>
                <a:sym typeface="Wingdings" panose="05000000000000000000" pitchFamily="2" charset="2"/>
              </a:rPr>
              <a:t>supervisior</a:t>
            </a:r>
            <a:endParaRPr lang="en-IN" sz="2400" b="1" dirty="0">
              <a:latin typeface="Calibri" panose="020F0502020204030204"/>
              <a:sym typeface="Wingdings" panose="05000000000000000000" pitchFamily="2" charset="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Less time </a:t>
            </a: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is wasted in resolving production snags such as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wrong information, faulty </a:t>
            </a:r>
            <a:r>
              <a:rPr kumimoji="0" lang="en-I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toolings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etc.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Reduced rejections and scrapes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99325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C551FA-7326-A71F-4C69-681D4F1A4986}"/>
              </a:ext>
            </a:extLst>
          </p:cNvPr>
          <p:cNvSpPr txBox="1"/>
          <p:nvPr/>
        </p:nvSpPr>
        <p:spPr>
          <a:xfrm>
            <a:off x="309489" y="0"/>
            <a:ext cx="11690253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More time is available to make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useful records and preserve statistics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10. Costing :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Better control </a:t>
            </a: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by installing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standard costing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Wingdings" panose="05000000000000000000" pitchFamily="2" charset="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Disadvantages of Standardisation :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Reduction</a:t>
            </a:r>
            <a:r>
              <a:rPr kumimoji="0" lang="hi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in choice </a:t>
            </a: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because of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reduced variety and consequence loss of business or customer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Changes in public taste seriously affect </a:t>
            </a: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a company producing only standard product range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Difficult to int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r</a:t>
            </a:r>
            <a:r>
              <a:rPr kumimoji="0" lang="en-I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oduce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new models </a:t>
            </a: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because of less flexible production facilities and due to the cost of specialised production equipment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 err="1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Standardisaton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 tend to favour large companies, </a:t>
            </a: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because small or new concerns can rarely get much business even by producing same price as the big companies </a:t>
            </a:r>
          </a:p>
        </p:txBody>
      </p:sp>
    </p:spTree>
    <p:extLst>
      <p:ext uri="{BB962C8B-B14F-4D97-AF65-F5344CB8AC3E}">
        <p14:creationId xmlns:p14="http://schemas.microsoft.com/office/powerpoint/2010/main" val="3956151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28691E-00F1-17B1-078B-9D54542B380A}"/>
              </a:ext>
            </a:extLst>
          </p:cNvPr>
          <p:cNvSpPr txBox="1"/>
          <p:nvPr/>
        </p:nvSpPr>
        <p:spPr>
          <a:xfrm>
            <a:off x="309489" y="295422"/>
            <a:ext cx="11662117" cy="557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Standards </a:t>
            </a: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ones set,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resists change -&gt; may become an obstacle to progress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Applications of Standardisation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Finished products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, e.g. cars and televisions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2. Subassemblies and components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, e.g. automobile gearbox and to electric bulbs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3. Material standardisation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, e. g. both of </a:t>
            </a:r>
            <a:r>
              <a:rPr kumimoji="0" lang="en-I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direc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t material(plain carbon and alloy steels, arc welding electrode core wires, etc.) and indirect materials (such as oils and greases)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4. Production equipment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standardisation, e. g. that of machine tools, presses, welding </a:t>
            </a:r>
            <a:r>
              <a:rPr kumimoji="0" lang="en-I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equipments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etc.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192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6630E3-0956-5A7D-0029-289947021244}"/>
              </a:ext>
            </a:extLst>
          </p:cNvPr>
          <p:cNvSpPr txBox="1"/>
          <p:nvPr/>
        </p:nvSpPr>
        <p:spPr>
          <a:xfrm>
            <a:off x="393895" y="351692"/>
            <a:ext cx="11549576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International Standardisation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For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 </a:t>
            </a: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export market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International Organisation for Standard</a:t>
            </a:r>
            <a:r>
              <a:rPr lang="en-IN" sz="2400" b="1" dirty="0" err="1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isation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 (ISO)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ISO </a:t>
            </a: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does not issues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independent standards of its own but it </a:t>
            </a: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makes recommendations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which are </a:t>
            </a: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included in the national Standards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of the colla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borating countries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National standardisation :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Every country has its own standards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. IS in India, BS in UK, DIN in Germany </a:t>
            </a: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are few examples of national or home standards</a:t>
            </a:r>
          </a:p>
        </p:txBody>
      </p:sp>
    </p:spTree>
    <p:extLst>
      <p:ext uri="{BB962C8B-B14F-4D97-AF65-F5344CB8AC3E}">
        <p14:creationId xmlns:p14="http://schemas.microsoft.com/office/powerpoint/2010/main" val="201780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2B29EA-B127-42FE-8472-8DB18EFA3E0D}"/>
              </a:ext>
            </a:extLst>
          </p:cNvPr>
          <p:cNvSpPr txBox="1"/>
          <p:nvPr/>
        </p:nvSpPr>
        <p:spPr>
          <a:xfrm>
            <a:off x="365760" y="98474"/>
            <a:ext cx="11408898" cy="668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Diversification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Concept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Contrary  </a:t>
            </a: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to simplification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means(</a:t>
            </a:r>
            <a:r>
              <a:rPr lang="en-IN" sz="2400" b="1" dirty="0" err="1">
                <a:latin typeface="Calibri" panose="020F0502020204030204"/>
                <a:sym typeface="Wingdings" panose="05000000000000000000" pitchFamily="2" charset="2"/>
              </a:rPr>
              <a:t>i</a:t>
            </a: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) </a:t>
            </a:r>
            <a:r>
              <a:rPr lang="en-IN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addition </a:t>
            </a:r>
            <a:r>
              <a:rPr lang="en-IN" sz="2400" b="1" dirty="0">
                <a:latin typeface="Calibri" panose="020F0502020204030204"/>
                <a:sym typeface="Wingdings" panose="05000000000000000000" pitchFamily="2" charset="2"/>
              </a:rPr>
              <a:t>of new products or (ii) introduction of established products into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new markets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/>
              </a:rPr>
              <a:t>Tends to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increase complexity </a:t>
            </a:r>
            <a:r>
              <a:rPr lang="en-IN" sz="2400" b="1" dirty="0">
                <a:latin typeface="Calibri" panose="020F0502020204030204"/>
              </a:rPr>
              <a:t>of the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methods</a:t>
            </a:r>
            <a:r>
              <a:rPr lang="en-IN" sz="2400" b="1" dirty="0">
                <a:latin typeface="Calibri" panose="020F0502020204030204"/>
              </a:rPr>
              <a:t> of manufacturing, because sometimes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consumer</a:t>
            </a:r>
            <a:r>
              <a:rPr lang="en-IN" sz="2400" b="1" dirty="0">
                <a:latin typeface="Calibri" panose="020F0502020204030204"/>
              </a:rPr>
              <a:t> like to have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variety in type, size, colour and quantity </a:t>
            </a:r>
            <a:r>
              <a:rPr lang="en-IN" sz="2400" b="1" dirty="0">
                <a:latin typeface="Calibri" panose="020F0502020204030204"/>
              </a:rPr>
              <a:t>of products being manufactured. This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adds to the cost </a:t>
            </a:r>
            <a:r>
              <a:rPr lang="en-IN" sz="2400" b="1" dirty="0">
                <a:latin typeface="Calibri" panose="020F0502020204030204"/>
              </a:rPr>
              <a:t>characteristics of production which is of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varied nature.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Calibri" panose="020F0502020204030204"/>
              </a:rPr>
              <a:t>The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extent</a:t>
            </a:r>
            <a:r>
              <a:rPr lang="en-IN" sz="2400" b="1" dirty="0">
                <a:latin typeface="Calibri" panose="020F0502020204030204"/>
              </a:rPr>
              <a:t> of to which the </a:t>
            </a:r>
            <a:r>
              <a:rPr lang="en-IN" sz="2400" b="1" dirty="0" err="1">
                <a:latin typeface="Calibri" panose="020F0502020204030204"/>
              </a:rPr>
              <a:t>diversificaton</a:t>
            </a:r>
            <a:r>
              <a:rPr lang="en-IN" sz="2400" b="1" dirty="0">
                <a:latin typeface="Calibri" panose="020F0502020204030204"/>
              </a:rPr>
              <a:t> programme can be carried out must be determined by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market analysis </a:t>
            </a:r>
            <a:r>
              <a:rPr lang="en-IN" sz="2400" b="1" dirty="0">
                <a:latin typeface="Calibri" panose="020F0502020204030204"/>
              </a:rPr>
              <a:t>of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probable volume at varying </a:t>
            </a:r>
            <a:r>
              <a:rPr lang="en-IN" sz="2400" b="1" dirty="0" err="1">
                <a:solidFill>
                  <a:srgbClr val="FF0000"/>
                </a:solidFill>
                <a:latin typeface="Calibri" panose="020F0502020204030204"/>
              </a:rPr>
              <a:t>lavels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 of diversification </a:t>
            </a:r>
            <a:r>
              <a:rPr lang="en-IN" sz="2400" b="1" dirty="0">
                <a:latin typeface="Calibri" panose="020F0502020204030204"/>
              </a:rPr>
              <a:t>compared with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production cost </a:t>
            </a:r>
            <a:r>
              <a:rPr lang="en-IN" sz="2400" b="1" dirty="0">
                <a:latin typeface="Calibri" panose="020F0502020204030204"/>
              </a:rPr>
              <a:t>of the volume obtainable at those various </a:t>
            </a:r>
            <a:r>
              <a:rPr lang="en-IN" sz="2400" b="1" dirty="0" err="1">
                <a:latin typeface="Calibri" panose="020F0502020204030204"/>
              </a:rPr>
              <a:t>lavels</a:t>
            </a:r>
            <a:r>
              <a:rPr lang="en-IN" sz="2400" b="1" dirty="0">
                <a:latin typeface="Calibri" panose="020F050202020403020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4681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7AD7EB-F36E-4F7E-583F-8A8B22E3E77F}"/>
              </a:ext>
            </a:extLst>
          </p:cNvPr>
          <p:cNvSpPr txBox="1"/>
          <p:nvPr/>
        </p:nvSpPr>
        <p:spPr>
          <a:xfrm>
            <a:off x="464234" y="323557"/>
            <a:ext cx="11521440" cy="100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Industries generally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expand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. An automobile concern may think in terms of diversifying in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its own product lines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, an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aircraft concern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may like to expand in field of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propulsion or electronics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and so 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  <a:sym typeface="Wingdings" panose="05000000000000000000" pitchFamily="2" charset="2"/>
              </a:rPr>
              <a:t>Diversification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adds to the classes of consumers 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  <a:sym typeface="Wingdings" panose="05000000000000000000" pitchFamily="2" charset="2"/>
              </a:rPr>
              <a:t>served, by developing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new technical knowledge.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b="1" dirty="0">
              <a:solidFill>
                <a:prstClr val="black"/>
              </a:solidFill>
              <a:latin typeface="Calibri" panose="020F0502020204030204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  <a:sym typeface="Wingdings" panose="05000000000000000000" pitchFamily="2" charset="2"/>
              </a:rPr>
              <a:t>Reasons for diversification :</a:t>
            </a:r>
          </a:p>
          <a:p>
            <a:pPr marL="457200" indent="-457200">
              <a:lnSpc>
                <a:spcPct val="150000"/>
              </a:lnSpc>
              <a:buAutoNum type="alphaUcParenBoth"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Survival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To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offset declining or vanishing market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To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obsolete facilities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To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offset </a:t>
            </a:r>
            <a:r>
              <a:rPr lang="en-IN" sz="2400" b="1" dirty="0" err="1">
                <a:solidFill>
                  <a:srgbClr val="FF0000"/>
                </a:solidFill>
                <a:latin typeface="Calibri" panose="020F0502020204030204"/>
              </a:rPr>
              <a:t>offset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 declining profit margins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To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compensate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 for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technical obsolescence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(B)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Stability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To offset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seasonal slumps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To offset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cyclic fluctuations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To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balance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 between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high margin and low margin products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To maintain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market share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To  meet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new products 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of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competitors</a:t>
            </a:r>
          </a:p>
        </p:txBody>
      </p:sp>
    </p:spTree>
    <p:extLst>
      <p:ext uri="{BB962C8B-B14F-4D97-AF65-F5344CB8AC3E}">
        <p14:creationId xmlns:p14="http://schemas.microsoft.com/office/powerpoint/2010/main" val="4203109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ACC64D-B627-2092-445E-D9BC73F53B6F}"/>
              </a:ext>
            </a:extLst>
          </p:cNvPr>
          <p:cNvSpPr txBox="1"/>
          <p:nvPr/>
        </p:nvSpPr>
        <p:spPr>
          <a:xfrm>
            <a:off x="295421" y="196948"/>
            <a:ext cx="11648049" cy="557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(B) Stability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To offset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seasonal slumps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offset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cyclic fluctuations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To provide balance between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high margin and low margin products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maintain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market share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To meet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new products of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competitors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tie customers to  the firm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To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distribute risk 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by serving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several small markets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develop a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strong competitive supply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position by offering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several close substitute products</a:t>
            </a:r>
          </a:p>
        </p:txBody>
      </p:sp>
    </p:spTree>
    <p:extLst>
      <p:ext uri="{BB962C8B-B14F-4D97-AF65-F5344CB8AC3E}">
        <p14:creationId xmlns:p14="http://schemas.microsoft.com/office/powerpoint/2010/main" val="4172283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028F8B-2AEF-6362-B744-228D455F63D6}"/>
              </a:ext>
            </a:extLst>
          </p:cNvPr>
          <p:cNvSpPr txBox="1"/>
          <p:nvPr/>
        </p:nvSpPr>
        <p:spPr>
          <a:xfrm>
            <a:off x="647114" y="407963"/>
            <a:ext cx="11169748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(C) Productive utilisation of resources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To utilise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waste or by-products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To make use of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basic raw material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To utilise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excess productive capacity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To make use of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innovations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 from internal technical  research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To make full use of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management resources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To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capitalise on a firm’s market contacts</a:t>
            </a:r>
            <a:endParaRPr lang="en-IN" sz="2400" b="1" dirty="0">
              <a:solidFill>
                <a:prstClr val="black"/>
              </a:solidFill>
              <a:latin typeface="Calibri" panose="020F0502020204030204"/>
            </a:endParaRPr>
          </a:p>
          <a:p>
            <a:pPr>
              <a:lnSpc>
                <a:spcPct val="150000"/>
              </a:lnSpc>
              <a:defRPr/>
            </a:pP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(D)</a:t>
            </a:r>
            <a:r>
              <a:rPr lang="en-IN" sz="2400" b="1" dirty="0">
                <a:solidFill>
                  <a:srgbClr val="FF0000"/>
                </a:solidFill>
              </a:rPr>
              <a:t> Adaption of change in customer needs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 To meet the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demands of diversified dealers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 To meet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specific requests 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of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important groups of customers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To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improve performance 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of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existing products </a:t>
            </a:r>
            <a:r>
              <a:rPr lang="en-IN" sz="2400" b="1" dirty="0">
                <a:solidFill>
                  <a:prstClr val="black"/>
                </a:solidFill>
                <a:latin typeface="Calibri" panose="020F0502020204030204"/>
              </a:rPr>
              <a:t>through </a:t>
            </a:r>
            <a:r>
              <a:rPr lang="en-IN" sz="2400" b="1" dirty="0">
                <a:solidFill>
                  <a:srgbClr val="FF0000"/>
                </a:solidFill>
                <a:latin typeface="Calibri" panose="020F0502020204030204"/>
              </a:rPr>
              <a:t>adding accessories</a:t>
            </a:r>
          </a:p>
        </p:txBody>
      </p:sp>
    </p:spTree>
    <p:extLst>
      <p:ext uri="{BB962C8B-B14F-4D97-AF65-F5344CB8AC3E}">
        <p14:creationId xmlns:p14="http://schemas.microsoft.com/office/powerpoint/2010/main" val="34784854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D72BBA-AFDC-B2D2-8F4D-944B28B1B971}"/>
              </a:ext>
            </a:extLst>
          </p:cNvPr>
          <p:cNvSpPr txBox="1"/>
          <p:nvPr/>
        </p:nvSpPr>
        <p:spPr>
          <a:xfrm>
            <a:off x="379828" y="281354"/>
            <a:ext cx="11507372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(E) Growth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To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counter</a:t>
            </a: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 market saturation on present products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reinvest earnings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To take advantage of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usually attractive opportunities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(F) Miscellaneous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To maintain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reputation of </a:t>
            </a: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industrial leadership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To </a:t>
            </a:r>
            <a:r>
              <a:rPr lang="en-US" sz="2400" b="1" dirty="0" err="1">
                <a:solidFill>
                  <a:prstClr val="black"/>
                </a:solidFill>
                <a:latin typeface="Calibri" panose="020F0502020204030204"/>
              </a:rPr>
              <a:t>realise</a:t>
            </a: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 maximum advantage from the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tax structure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To comply either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desires</a:t>
            </a: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 of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owners or management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	</a:t>
            </a: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Possibly the easiest route of diversification is through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merge or acquisition</a:t>
            </a:r>
          </a:p>
        </p:txBody>
      </p:sp>
    </p:spTree>
    <p:extLst>
      <p:ext uri="{BB962C8B-B14F-4D97-AF65-F5344CB8AC3E}">
        <p14:creationId xmlns:p14="http://schemas.microsoft.com/office/powerpoint/2010/main" val="2210053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1801</Words>
  <Application>Microsoft Office PowerPoint</Application>
  <PresentationFormat>Widescreen</PresentationFormat>
  <Paragraphs>195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 mathur</dc:creator>
  <cp:lastModifiedBy>ravi mathur</cp:lastModifiedBy>
  <cp:revision>10</cp:revision>
  <dcterms:created xsi:type="dcterms:W3CDTF">2024-03-07T18:53:44Z</dcterms:created>
  <dcterms:modified xsi:type="dcterms:W3CDTF">2024-03-10T19:50:58Z</dcterms:modified>
</cp:coreProperties>
</file>