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6106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Components of cost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Prime cost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Factory cost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Office cost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/>
              <a:t>Total cost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1. Prime cost or Direct cost </a:t>
            </a:r>
            <a:r>
              <a:rPr lang="en-US" sz="2400" b="1" dirty="0"/>
              <a:t>= Direct material cost +Direct </a:t>
            </a:r>
            <a:r>
              <a:rPr lang="en-US" sz="2400" b="1" dirty="0" err="1"/>
              <a:t>labour</a:t>
            </a:r>
            <a:r>
              <a:rPr lang="en-US" sz="2400" b="1" dirty="0"/>
              <a:t> cost + Direct expenses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2. Factory cost or works cost  </a:t>
            </a:r>
            <a:r>
              <a:rPr lang="en-US" sz="2400" b="1" dirty="0"/>
              <a:t>= Prime cost + Factory expenses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3. Office cost or Manufacturing or Production cost </a:t>
            </a:r>
            <a:r>
              <a:rPr lang="en-US" sz="2400" b="1" dirty="0"/>
              <a:t>= Factory cost + Administrative expenses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4. Total cost </a:t>
            </a:r>
            <a:r>
              <a:rPr lang="en-US" sz="2400" b="1" dirty="0"/>
              <a:t>= Office cost  + Selling expenses + Distribution expenses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458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Selling Price </a:t>
            </a:r>
            <a:r>
              <a:rPr lang="en-US" sz="2400" b="1" dirty="0"/>
              <a:t>: If the profit of factory is added in the total cost of product it is called selling price.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So the customers gets the article by paying the price which is named as “ Selling Price.”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Selling Price  = Total cost + Profit or Loss</a:t>
            </a:r>
            <a:endParaRPr lang="en-US" sz="2400" b="1" dirty="0"/>
          </a:p>
          <a:p>
            <a:pPr>
              <a:lnSpc>
                <a:spcPct val="150000"/>
              </a:lnSpc>
            </a:pP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	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0"/>
            <a:ext cx="8458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Selling Price </a:t>
            </a:r>
            <a:r>
              <a:rPr lang="en-US" sz="2400" b="1" dirty="0"/>
              <a:t>: If the profit of factory is added in the total cost of product it is called selling price.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So the customers gets the article by paying the price which is named as “ Selling Price.” 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Relation between the elements of cost and components of cost is illustrated as 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0"/>
            <a:ext cx="86868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Allocation of overheads (or Indirect expenses or </a:t>
            </a:r>
            <a:r>
              <a:rPr lang="en-US" sz="2400" b="1" dirty="0" err="1">
                <a:solidFill>
                  <a:srgbClr val="FF0000"/>
                </a:solidFill>
              </a:rPr>
              <a:t>oncost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1 .Factory expenses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2. Administrative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3.Sales and distribution Expenses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Most of the overheads of above categories can easily be found out from records.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	But some  overhead charges require good knowledge and experience of the estimator. These are following :-</a:t>
            </a:r>
          </a:p>
          <a:p>
            <a:r>
              <a:rPr lang="en-US" sz="2400" b="1" dirty="0"/>
              <a:t>1. Depreciation</a:t>
            </a:r>
          </a:p>
          <a:p>
            <a:r>
              <a:rPr lang="en-US" sz="2400" b="1" dirty="0"/>
              <a:t>2. Obsolescence</a:t>
            </a:r>
          </a:p>
          <a:p>
            <a:r>
              <a:rPr lang="en-US" sz="2400" b="1" dirty="0"/>
              <a:t>3. Interest on capital</a:t>
            </a:r>
          </a:p>
          <a:p>
            <a:r>
              <a:rPr lang="en-US" sz="2400" b="1" dirty="0"/>
              <a:t>4. Idleness</a:t>
            </a:r>
          </a:p>
          <a:p>
            <a:r>
              <a:rPr lang="en-US" sz="2400" b="1" dirty="0"/>
              <a:t>5. Repair and maintenance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"/>
            <a:ext cx="8686799" cy="6858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Depreciation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		</a:t>
            </a:r>
            <a:r>
              <a:rPr lang="en-US" sz="2400" b="1" dirty="0"/>
              <a:t>Efficiency and value of machine or asset reduces with the lapse of time during use, which is known as Depreciation. 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	</a:t>
            </a:r>
            <a:r>
              <a:rPr lang="en-US" sz="2400" b="1" dirty="0"/>
              <a:t>	So some money must be </a:t>
            </a:r>
            <a:r>
              <a:rPr lang="en-US" sz="2400" b="1" dirty="0">
                <a:solidFill>
                  <a:srgbClr val="FF0000"/>
                </a:solidFill>
              </a:rPr>
              <a:t>set aside yearly from the profits, </a:t>
            </a:r>
            <a:r>
              <a:rPr lang="en-US" sz="2400" b="1" dirty="0"/>
              <a:t>so that when the equipment becomes uneconomical, it can be replaced by the new one.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/>
              <a:t>		Therefore, the </a:t>
            </a:r>
            <a:r>
              <a:rPr lang="en-US" sz="2400" b="1" dirty="0">
                <a:solidFill>
                  <a:srgbClr val="FF0000"/>
                </a:solidFill>
              </a:rPr>
              <a:t>initial cost of machine + installation charges + repair charges – scrap value</a:t>
            </a:r>
            <a:r>
              <a:rPr lang="en-US" sz="2400" b="1" dirty="0"/>
              <a:t> is charged </a:t>
            </a:r>
            <a:r>
              <a:rPr lang="en-US" sz="2400" b="1" dirty="0">
                <a:solidFill>
                  <a:srgbClr val="FF0000"/>
                </a:solidFill>
              </a:rPr>
              <a:t>against overheads </a:t>
            </a:r>
            <a:r>
              <a:rPr lang="en-US" sz="2400" b="1" dirty="0"/>
              <a:t>and </a:t>
            </a:r>
            <a:r>
              <a:rPr lang="en-US" sz="2400" b="1" dirty="0">
                <a:solidFill>
                  <a:srgbClr val="FF0000"/>
                </a:solidFill>
              </a:rPr>
              <a:t>spread over the machine’s useful life</a:t>
            </a:r>
            <a:r>
              <a:rPr lang="en-US" sz="2400" b="1" dirty="0"/>
              <a:t>.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/>
              <a:t> 		For this purpose </a:t>
            </a:r>
            <a:r>
              <a:rPr lang="en-US" sz="2400" b="1" dirty="0">
                <a:solidFill>
                  <a:srgbClr val="FF0000"/>
                </a:solidFill>
              </a:rPr>
              <a:t>depreciation account </a:t>
            </a:r>
            <a:r>
              <a:rPr lang="en-US" sz="2400" b="1" dirty="0"/>
              <a:t>is opened in the Company’s books  known as “Depreciation” or “Sinking Fund “</a:t>
            </a:r>
          </a:p>
          <a:p>
            <a:pPr marL="342900" indent="-342900"/>
            <a:r>
              <a:rPr lang="en-US" sz="2400" b="1" dirty="0"/>
              <a:t> and is </a:t>
            </a:r>
            <a:r>
              <a:rPr lang="en-US" sz="2400" b="1" dirty="0">
                <a:solidFill>
                  <a:srgbClr val="FF0000"/>
                </a:solidFill>
              </a:rPr>
              <a:t>deducted yearly from the profit  </a:t>
            </a:r>
            <a:r>
              <a:rPr lang="en-US" sz="2400" b="1" dirty="0"/>
              <a:t>and kept separate to have sufficient money for replacement at end of useful life.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23DE923-3114-9871-9AA2-EE52311AEAE8}"/>
              </a:ext>
            </a:extLst>
          </p:cNvPr>
          <p:cNvSpPr/>
          <p:nvPr/>
        </p:nvSpPr>
        <p:spPr>
          <a:xfrm>
            <a:off x="342900" y="0"/>
            <a:ext cx="8458200" cy="6683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2. Obsolescence : </a:t>
            </a:r>
            <a:r>
              <a:rPr lang="en-US" sz="2400" b="1" dirty="0"/>
              <a:t>is the depreciation of </a:t>
            </a:r>
            <a:r>
              <a:rPr lang="en-US" sz="2400" b="1" dirty="0">
                <a:solidFill>
                  <a:srgbClr val="FF0000"/>
                </a:solidFill>
              </a:rPr>
              <a:t>existing machinery or asset</a:t>
            </a:r>
            <a:r>
              <a:rPr lang="en-US" sz="2400" b="1" dirty="0"/>
              <a:t> due to </a:t>
            </a:r>
            <a:r>
              <a:rPr lang="en-US" sz="2400" b="1" dirty="0">
                <a:solidFill>
                  <a:srgbClr val="FF0000"/>
                </a:solidFill>
              </a:rPr>
              <a:t>new and better invention, design voluntary </a:t>
            </a:r>
            <a:r>
              <a:rPr lang="en-US" sz="2400" b="1" dirty="0" err="1" smtClean="0">
                <a:solidFill>
                  <a:srgbClr val="FF0000"/>
                </a:solidFill>
              </a:rPr>
              <a:t>euipment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or process etc. </a:t>
            </a:r>
            <a:r>
              <a:rPr lang="en-US" sz="2400" b="1" dirty="0"/>
              <a:t>Although the </a:t>
            </a:r>
            <a:r>
              <a:rPr lang="en-US" sz="2400" b="1" dirty="0">
                <a:solidFill>
                  <a:srgbClr val="FF0000"/>
                </a:solidFill>
              </a:rPr>
              <a:t>old machine is efficient </a:t>
            </a:r>
            <a:r>
              <a:rPr lang="en-US" sz="2400" b="1" dirty="0"/>
              <a:t>but becomes </a:t>
            </a:r>
            <a:r>
              <a:rPr lang="en-US" sz="2400" b="1" dirty="0" smtClean="0">
                <a:solidFill>
                  <a:srgbClr val="FF0000"/>
                </a:solidFill>
              </a:rPr>
              <a:t>out </a:t>
            </a:r>
            <a:r>
              <a:rPr lang="en-US" sz="2400" b="1" dirty="0">
                <a:solidFill>
                  <a:srgbClr val="FF0000"/>
                </a:solidFill>
              </a:rPr>
              <a:t>of fashion </a:t>
            </a:r>
            <a:r>
              <a:rPr lang="en-US" sz="2400" b="1" dirty="0"/>
              <a:t>and </a:t>
            </a:r>
            <a:r>
              <a:rPr lang="en-US" sz="2400" b="1" dirty="0">
                <a:solidFill>
                  <a:srgbClr val="FF0000"/>
                </a:solidFill>
              </a:rPr>
              <a:t>uneconomical</a:t>
            </a:r>
            <a:r>
              <a:rPr lang="en-US" sz="2400" b="1" dirty="0"/>
              <a:t> due to new better machine which has come in the market.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It </a:t>
            </a:r>
            <a:r>
              <a:rPr lang="en-US" sz="2400" b="1" dirty="0"/>
              <a:t>is very </a:t>
            </a:r>
            <a:r>
              <a:rPr lang="en-US" sz="2400" b="1" dirty="0">
                <a:solidFill>
                  <a:srgbClr val="FF0000"/>
                </a:solidFill>
              </a:rPr>
              <a:t>difficult</a:t>
            </a:r>
            <a:r>
              <a:rPr lang="en-US" sz="2400" b="1" dirty="0"/>
              <a:t> for </a:t>
            </a:r>
            <a:r>
              <a:rPr lang="en-US" sz="2400" b="1" dirty="0" smtClean="0"/>
              <a:t>estimator to </a:t>
            </a:r>
            <a:r>
              <a:rPr lang="en-US" sz="2400" b="1" dirty="0"/>
              <a:t>provide for the </a:t>
            </a:r>
            <a:r>
              <a:rPr lang="en-US" sz="2400" b="1" dirty="0" smtClean="0"/>
              <a:t>on cost </a:t>
            </a:r>
            <a:r>
              <a:rPr lang="en-US" sz="2400" b="1" dirty="0"/>
              <a:t>on obsolescence, because </a:t>
            </a:r>
            <a:r>
              <a:rPr lang="en-US" sz="2400" b="1" dirty="0">
                <a:solidFill>
                  <a:srgbClr val="FF0000"/>
                </a:solidFill>
              </a:rPr>
              <a:t>no body </a:t>
            </a:r>
            <a:r>
              <a:rPr lang="en-US" sz="2400" b="1" dirty="0" smtClean="0"/>
              <a:t>can say </a:t>
            </a:r>
            <a:r>
              <a:rPr lang="en-US" sz="2400" b="1" dirty="0"/>
              <a:t>when </a:t>
            </a:r>
            <a:r>
              <a:rPr lang="en-US" sz="2400" b="1" dirty="0" smtClean="0"/>
              <a:t>are </a:t>
            </a:r>
            <a:r>
              <a:rPr lang="en-US" sz="2400" b="1" dirty="0" err="1" smtClean="0"/>
              <a:t>revolutionery</a:t>
            </a:r>
            <a:r>
              <a:rPr lang="en-US" sz="2400" b="1" dirty="0" smtClean="0"/>
              <a:t> </a:t>
            </a:r>
            <a:r>
              <a:rPr lang="en-US" sz="2400" b="1" dirty="0"/>
              <a:t>change is coming in the market.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But </a:t>
            </a:r>
            <a:r>
              <a:rPr lang="en-US" sz="2400" b="1" dirty="0"/>
              <a:t>is a general practice to </a:t>
            </a:r>
            <a:r>
              <a:rPr lang="en-US" sz="2400" b="1" dirty="0">
                <a:solidFill>
                  <a:srgbClr val="FF0000"/>
                </a:solidFill>
              </a:rPr>
              <a:t>reduce the life </a:t>
            </a:r>
            <a:r>
              <a:rPr lang="en-US" sz="2400" b="1" dirty="0"/>
              <a:t>of machine so as </a:t>
            </a:r>
            <a:r>
              <a:rPr lang="en-US" sz="2400" b="1" dirty="0">
                <a:solidFill>
                  <a:srgbClr val="FF0000"/>
                </a:solidFill>
              </a:rPr>
              <a:t>to account the effect of obsolescence.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Now </a:t>
            </a:r>
            <a:r>
              <a:rPr lang="en-US" sz="2400" b="1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depreciation and obsolescence charges</a:t>
            </a:r>
            <a:r>
              <a:rPr lang="en-US" sz="2400" b="1" dirty="0"/>
              <a:t> are calculated </a:t>
            </a:r>
            <a:r>
              <a:rPr lang="en-US" sz="2400" b="1" dirty="0">
                <a:solidFill>
                  <a:srgbClr val="FF0000"/>
                </a:solidFill>
              </a:rPr>
              <a:t>on reduced life</a:t>
            </a:r>
            <a:r>
              <a:rPr lang="en-US" sz="2400" b="1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B4E4E0B-5294-22E7-9C6B-511F785AF434}"/>
              </a:ext>
            </a:extLst>
          </p:cNvPr>
          <p:cNvSpPr/>
          <p:nvPr/>
        </p:nvSpPr>
        <p:spPr>
          <a:xfrm>
            <a:off x="336046" y="247612"/>
            <a:ext cx="869431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/>
              <a:t>Example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Expected life of machine = 25 years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Then the Depreciation rate = 100/25 = 4%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By </a:t>
            </a:r>
            <a:r>
              <a:rPr lang="en-US" sz="2400" b="1" dirty="0"/>
              <a:t>considering obsolescence also, its life may be taken as 20 years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Then </a:t>
            </a:r>
            <a:r>
              <a:rPr lang="en-US" sz="2400" b="1" dirty="0"/>
              <a:t>the </a:t>
            </a:r>
            <a:r>
              <a:rPr lang="en-US" sz="2400" b="1" dirty="0">
                <a:solidFill>
                  <a:srgbClr val="FF0000"/>
                </a:solidFill>
              </a:rPr>
              <a:t>combined</a:t>
            </a:r>
            <a:r>
              <a:rPr lang="en-US" sz="2400" b="1" dirty="0"/>
              <a:t> depreciation and obsolescence charges will be 100/20  = 5% instead of 4%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Therefore</a:t>
            </a:r>
            <a:r>
              <a:rPr lang="en-US" sz="2400" b="1" dirty="0"/>
              <a:t>, the </a:t>
            </a:r>
            <a:r>
              <a:rPr lang="en-US" sz="2400" b="1" dirty="0">
                <a:solidFill>
                  <a:srgbClr val="FF0000"/>
                </a:solidFill>
              </a:rPr>
              <a:t>difference</a:t>
            </a:r>
            <a:r>
              <a:rPr lang="en-US" sz="2400" b="1" dirty="0"/>
              <a:t> 5-4 =1% will be </a:t>
            </a:r>
            <a:r>
              <a:rPr lang="en-US" sz="2400" b="1" dirty="0">
                <a:solidFill>
                  <a:srgbClr val="FF0000"/>
                </a:solidFill>
              </a:rPr>
              <a:t>obsolescence </a:t>
            </a:r>
            <a:r>
              <a:rPr lang="en-US" sz="2400" b="1" dirty="0"/>
              <a:t>charges.</a:t>
            </a:r>
          </a:p>
        </p:txBody>
      </p:sp>
    </p:spTree>
    <p:extLst>
      <p:ext uri="{BB962C8B-B14F-4D97-AF65-F5344CB8AC3E}">
        <p14:creationId xmlns:p14="http://schemas.microsoft.com/office/powerpoint/2010/main" xmlns="" val="824795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6F632686-F481-0AB0-91EE-A5A6B7F1B7CA}"/>
              </a:ext>
            </a:extLst>
          </p:cNvPr>
          <p:cNvSpPr/>
          <p:nvPr/>
        </p:nvSpPr>
        <p:spPr>
          <a:xfrm>
            <a:off x="457200" y="142852"/>
            <a:ext cx="84582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/>
              <a:t>	The </a:t>
            </a:r>
            <a:r>
              <a:rPr lang="en-US" sz="2400" b="1" dirty="0"/>
              <a:t>other causes of depreciation are physical decay, accidents, deferred maintenance and neglect, </a:t>
            </a:r>
            <a:r>
              <a:rPr lang="en-US" sz="2400" b="1" dirty="0" err="1" smtClean="0"/>
              <a:t>inedequacy</a:t>
            </a:r>
            <a:r>
              <a:rPr lang="en-US" sz="2400" b="1" dirty="0" smtClean="0"/>
              <a:t> etc.</a:t>
            </a:r>
            <a:endParaRPr lang="en-US" sz="2400" b="1" dirty="0"/>
          </a:p>
          <a:p>
            <a:pPr>
              <a:lnSpc>
                <a:spcPct val="150000"/>
              </a:lnSpc>
            </a:pPr>
            <a:r>
              <a:rPr lang="en-US" sz="2400" b="1" dirty="0"/>
              <a:t>Depreciation can be classified as under :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1. Depreciation due to </a:t>
            </a:r>
            <a:r>
              <a:rPr lang="en-US" sz="2400" b="1" dirty="0">
                <a:solidFill>
                  <a:srgbClr val="FF0000"/>
                </a:solidFill>
              </a:rPr>
              <a:t>physical </a:t>
            </a:r>
            <a:r>
              <a:rPr lang="en-US" sz="2400" b="1" dirty="0" smtClean="0">
                <a:solidFill>
                  <a:srgbClr val="FF0000"/>
                </a:solidFill>
              </a:rPr>
              <a:t>conditions </a:t>
            </a:r>
            <a:r>
              <a:rPr lang="en-US" sz="2400" b="1" dirty="0" smtClean="0"/>
              <a:t>:</a:t>
            </a:r>
            <a:endParaRPr lang="en-US" sz="2400" b="1" dirty="0"/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/>
              <a:t>Wear and tear</a:t>
            </a: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/>
              <a:t>Physical </a:t>
            </a:r>
            <a:r>
              <a:rPr lang="en-US" sz="2400" b="1" dirty="0"/>
              <a:t>decay</a:t>
            </a: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/>
              <a:t>Accidental</a:t>
            </a: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/>
              <a:t>Deferred maintenance </a:t>
            </a:r>
            <a:r>
              <a:rPr lang="en-US" sz="2400" b="1" dirty="0"/>
              <a:t>and neglect</a:t>
            </a:r>
          </a:p>
          <a:p>
            <a:pPr>
              <a:lnSpc>
                <a:spcPct val="150000"/>
              </a:lnSpc>
            </a:pPr>
            <a:r>
              <a:rPr lang="en-US" sz="2400" b="1" dirty="0"/>
              <a:t>2. </a:t>
            </a:r>
            <a:r>
              <a:rPr lang="en-US" sz="2400" b="1" dirty="0" smtClean="0"/>
              <a:t>Depreciation due to </a:t>
            </a:r>
            <a:r>
              <a:rPr lang="en-US" sz="2400" b="1" dirty="0" smtClean="0">
                <a:solidFill>
                  <a:srgbClr val="FF0000"/>
                </a:solidFill>
              </a:rPr>
              <a:t>Functional causes :</a:t>
            </a:r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err="1" smtClean="0"/>
              <a:t>Inedequacy</a:t>
            </a:r>
            <a:endParaRPr lang="en-US" sz="2400" b="1" dirty="0" smtClean="0"/>
          </a:p>
          <a:p>
            <a:pPr marL="457200" indent="-457200">
              <a:lnSpc>
                <a:spcPct val="150000"/>
              </a:lnSpc>
              <a:buAutoNum type="alphaLcPeriod"/>
            </a:pPr>
            <a:r>
              <a:rPr lang="en-US" sz="2400" b="1" dirty="0" smtClean="0"/>
              <a:t> Obsolescence 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xmlns="" val="188407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214291"/>
            <a:ext cx="871543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a.  Depreciation due to Wear and tear :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Wear and tear of certain components takes place despite sufficient precautions </a:t>
            </a:r>
            <a:r>
              <a:rPr lang="en-US" sz="2400" b="1" dirty="0" err="1" smtClean="0"/>
              <a:t>i</a:t>
            </a:r>
            <a:r>
              <a:rPr lang="en-US" sz="2400" b="1" dirty="0" smtClean="0"/>
              <a:t>. e. proper lubricating and cooling , which minimize wear and tear. So the cost of replacement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Indicates importance  of depreciation due to wear and tear.</a:t>
            </a:r>
          </a:p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FF0000"/>
                </a:solidFill>
              </a:rPr>
              <a:t>b.Depreciation</a:t>
            </a:r>
            <a:r>
              <a:rPr lang="en-US" sz="2400" b="1" dirty="0" smtClean="0">
                <a:solidFill>
                  <a:srgbClr val="FF0000"/>
                </a:solidFill>
              </a:rPr>
              <a:t> due to physical decay :  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insulation of materials, furniture, electric cables, buildings, chemicals and vessels which gets decay, because of climatic and atmospheric effects,  - result in reduction of value (there by reduction of cost) of such articles with lapse of time.</a:t>
            </a:r>
            <a:endParaRPr lang="en-US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282" y="0"/>
            <a:ext cx="878687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c. Accidental Depreciation 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</a:t>
            </a:r>
            <a:r>
              <a:rPr lang="en-US" sz="2400" b="1" dirty="0" smtClean="0"/>
              <a:t>may occur due to some </a:t>
            </a:r>
            <a:r>
              <a:rPr lang="en-US" sz="2400" b="1" dirty="0" smtClean="0">
                <a:solidFill>
                  <a:srgbClr val="FF0000"/>
                </a:solidFill>
              </a:rPr>
              <a:t>wrong operation, or some loose component or some other cause</a:t>
            </a:r>
            <a:r>
              <a:rPr lang="en-US" sz="2400" b="1" dirty="0" smtClean="0"/>
              <a:t> which may result in damage.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Nowadays most of the owners get their equipment </a:t>
            </a:r>
            <a:r>
              <a:rPr lang="en-US" sz="2400" b="1" dirty="0" smtClean="0">
                <a:solidFill>
                  <a:srgbClr val="FF0000"/>
                </a:solidFill>
              </a:rPr>
              <a:t>insured , </a:t>
            </a:r>
            <a:r>
              <a:rPr lang="en-US" sz="2400" b="1" dirty="0" smtClean="0"/>
              <a:t>pay certain </a:t>
            </a:r>
            <a:r>
              <a:rPr lang="en-US" sz="2400" b="1" dirty="0" smtClean="0">
                <a:solidFill>
                  <a:srgbClr val="FF0000"/>
                </a:solidFill>
              </a:rPr>
              <a:t>premium periodically depending </a:t>
            </a:r>
            <a:r>
              <a:rPr lang="en-US" sz="2400" b="1" dirty="0" smtClean="0"/>
              <a:t>upon the estimated cost and life of equipment.</a:t>
            </a:r>
          </a:p>
          <a:p>
            <a:pPr marL="342900" indent="-342900">
              <a:lnSpc>
                <a:spcPct val="150000"/>
              </a:lnSpc>
              <a:buAutoNum type="alphaLcPeriod" startAt="4"/>
            </a:pPr>
            <a:r>
              <a:rPr lang="en-US" sz="2400" b="1" dirty="0" smtClean="0">
                <a:solidFill>
                  <a:srgbClr val="FF0000"/>
                </a:solidFill>
              </a:rPr>
              <a:t>Depreciation due to Deferred maintenance and ignore : </a:t>
            </a:r>
          </a:p>
          <a:p>
            <a:pPr marL="342900" indent="-342900"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		</a:t>
            </a:r>
            <a:r>
              <a:rPr lang="en-US" sz="2400" b="1" dirty="0" smtClean="0"/>
              <a:t>Every manufacture supplies </a:t>
            </a:r>
            <a:r>
              <a:rPr lang="en-US" sz="2400" b="1" dirty="0" smtClean="0">
                <a:solidFill>
                  <a:srgbClr val="FF0000"/>
                </a:solidFill>
              </a:rPr>
              <a:t>certain instructions </a:t>
            </a:r>
            <a:r>
              <a:rPr lang="en-US" sz="2400" b="1" dirty="0" smtClean="0"/>
              <a:t>for the smooth and efficient running of an equipment. If these instructions are </a:t>
            </a:r>
            <a:r>
              <a:rPr lang="en-US" sz="2400" b="1" dirty="0" smtClean="0">
                <a:solidFill>
                  <a:srgbClr val="FF0000"/>
                </a:solidFill>
              </a:rPr>
              <a:t>not properly </a:t>
            </a:r>
            <a:r>
              <a:rPr lang="en-US" sz="2400" b="1" dirty="0" smtClean="0"/>
              <a:t>followed </a:t>
            </a:r>
            <a:r>
              <a:rPr lang="en-US" sz="2400" b="1" dirty="0" smtClean="0">
                <a:solidFill>
                  <a:srgbClr val="FF0000"/>
                </a:solidFill>
              </a:rPr>
              <a:t>because of poor maintenance and neglect</a:t>
            </a:r>
            <a:r>
              <a:rPr lang="en-US" sz="2400" b="1" dirty="0" smtClean="0"/>
              <a:t>; then the life of equipment may be reduced and result in  depreciation due to this </a:t>
            </a:r>
            <a:r>
              <a:rPr lang="en-US" sz="2400" b="1" dirty="0" err="1" smtClean="0"/>
              <a:t>cause.Ex</a:t>
            </a:r>
            <a:r>
              <a:rPr lang="en-US" sz="2400" b="1" dirty="0" smtClean="0"/>
              <a:t>.  vehicles</a:t>
            </a:r>
            <a:endParaRPr lang="en-US" sz="24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7158" y="428604"/>
            <a:ext cx="857256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err="1" smtClean="0">
                <a:solidFill>
                  <a:srgbClr val="FF0000"/>
                </a:solidFill>
              </a:rPr>
              <a:t>e.Inedequacy</a:t>
            </a:r>
            <a:r>
              <a:rPr lang="en-US" sz="2400" b="1" dirty="0" smtClean="0">
                <a:solidFill>
                  <a:srgbClr val="FF0000"/>
                </a:solidFill>
              </a:rPr>
              <a:t> :</a:t>
            </a:r>
          </a:p>
          <a:p>
            <a:pPr>
              <a:lnSpc>
                <a:spcPct val="150000"/>
              </a:lnSpc>
            </a:pPr>
            <a:r>
              <a:rPr lang="en-US" sz="2400" b="1" dirty="0" smtClean="0"/>
              <a:t>	means </a:t>
            </a:r>
            <a:r>
              <a:rPr lang="en-US" sz="2400" b="1" dirty="0" smtClean="0">
                <a:solidFill>
                  <a:srgbClr val="FF0000"/>
                </a:solidFill>
              </a:rPr>
              <a:t>reduction of efficiency of an asset </a:t>
            </a:r>
            <a:r>
              <a:rPr lang="en-US" sz="2400" b="1" dirty="0" smtClean="0"/>
              <a:t>; fall in efficiency; result </a:t>
            </a:r>
            <a:r>
              <a:rPr lang="en-US" sz="2400" b="1" dirty="0" smtClean="0">
                <a:solidFill>
                  <a:srgbClr val="FF0000"/>
                </a:solidFill>
              </a:rPr>
              <a:t>firstly</a:t>
            </a:r>
            <a:r>
              <a:rPr lang="en-US" sz="2400" b="1" dirty="0" smtClean="0"/>
              <a:t> , even if any equipment  </a:t>
            </a:r>
            <a:r>
              <a:rPr lang="en-US" sz="2400" b="1" dirty="0" smtClean="0"/>
              <a:t>servicing under proper precautions and sufficient maintenance is provided, there is fall in efficiency with </a:t>
            </a:r>
            <a:r>
              <a:rPr lang="en-US" sz="2400" b="1" dirty="0" smtClean="0"/>
              <a:t>the lapse of </a:t>
            </a:r>
            <a:r>
              <a:rPr lang="en-US" sz="2400" b="1" dirty="0" smtClean="0"/>
              <a:t>time.</a:t>
            </a:r>
            <a:endParaRPr lang="en-US" sz="2400" b="1" dirty="0" smtClean="0"/>
          </a:p>
          <a:p>
            <a:pPr>
              <a:lnSpc>
                <a:spcPct val="150000"/>
              </a:lnSpc>
            </a:pPr>
            <a:r>
              <a:rPr lang="en-US" sz="2400" b="1" dirty="0" smtClean="0"/>
              <a:t> </a:t>
            </a:r>
            <a:r>
              <a:rPr lang="en-US" sz="2400" b="1" dirty="0" smtClean="0"/>
              <a:t>	Secondly suppose after 2-3 </a:t>
            </a:r>
            <a:r>
              <a:rPr lang="en-US" sz="2400" b="1" dirty="0" smtClean="0"/>
              <a:t>y</a:t>
            </a:r>
            <a:r>
              <a:rPr lang="en-US" sz="2400" b="1" dirty="0" smtClean="0"/>
              <a:t>ears of running, the </a:t>
            </a:r>
            <a:r>
              <a:rPr lang="en-US" sz="2400" b="1" dirty="0" smtClean="0">
                <a:solidFill>
                  <a:srgbClr val="FF0000"/>
                </a:solidFill>
              </a:rPr>
              <a:t>demand</a:t>
            </a:r>
            <a:r>
              <a:rPr lang="en-US" sz="2400" b="1" dirty="0" smtClean="0"/>
              <a:t> of products manufactured by certain plant is </a:t>
            </a:r>
            <a:r>
              <a:rPr lang="en-US" sz="2400" b="1" dirty="0" smtClean="0">
                <a:solidFill>
                  <a:srgbClr val="FF0000"/>
                </a:solidFill>
              </a:rPr>
              <a:t>increased</a:t>
            </a:r>
            <a:r>
              <a:rPr lang="en-US" sz="2400" b="1" dirty="0" smtClean="0"/>
              <a:t>. But the plant </a:t>
            </a:r>
            <a:r>
              <a:rPr lang="en-US" sz="2400" b="1" dirty="0" smtClean="0">
                <a:solidFill>
                  <a:srgbClr val="FF0000"/>
                </a:solidFill>
              </a:rPr>
              <a:t>cannot </a:t>
            </a:r>
            <a:r>
              <a:rPr lang="en-US" sz="2400" b="1" dirty="0" smtClean="0">
                <a:solidFill>
                  <a:srgbClr val="FF0000"/>
                </a:solidFill>
              </a:rPr>
              <a:t>cope </a:t>
            </a:r>
            <a:r>
              <a:rPr lang="en-US" sz="2400" b="1" dirty="0" smtClean="0">
                <a:solidFill>
                  <a:srgbClr val="FF0000"/>
                </a:solidFill>
              </a:rPr>
              <a:t>up </a:t>
            </a:r>
            <a:r>
              <a:rPr lang="en-US" sz="2400" b="1" dirty="0" smtClean="0"/>
              <a:t>with the increased demand. This needs </a:t>
            </a:r>
            <a:r>
              <a:rPr lang="en-US" sz="2400" b="1" dirty="0" smtClean="0">
                <a:solidFill>
                  <a:srgbClr val="FF0000"/>
                </a:solidFill>
              </a:rPr>
              <a:t>additional money </a:t>
            </a:r>
            <a:r>
              <a:rPr lang="en-US" sz="2400" b="1" dirty="0" smtClean="0"/>
              <a:t>either to </a:t>
            </a:r>
            <a:r>
              <a:rPr lang="en-US" sz="2400" b="1" dirty="0" smtClean="0">
                <a:solidFill>
                  <a:srgbClr val="FF0000"/>
                </a:solidFill>
              </a:rPr>
              <a:t>replace with the bigger size machinery </a:t>
            </a:r>
            <a:r>
              <a:rPr lang="en-US" sz="2400" b="1" dirty="0" smtClean="0">
                <a:solidFill>
                  <a:srgbClr val="FF0000"/>
                </a:solidFill>
              </a:rPr>
              <a:t>or</a:t>
            </a:r>
            <a:r>
              <a:rPr lang="en-US" sz="2400" b="1" dirty="0" smtClean="0"/>
              <a:t> installation of the </a:t>
            </a:r>
            <a:r>
              <a:rPr lang="en-US" sz="2400" b="1" dirty="0" smtClean="0">
                <a:solidFill>
                  <a:srgbClr val="FF0000"/>
                </a:solidFill>
              </a:rPr>
              <a:t>similar </a:t>
            </a:r>
            <a:r>
              <a:rPr lang="en-US" sz="2400" b="1" dirty="0" smtClean="0">
                <a:solidFill>
                  <a:srgbClr val="FF0000"/>
                </a:solidFill>
              </a:rPr>
              <a:t>size more plants</a:t>
            </a:r>
            <a:r>
              <a:rPr lang="en-US" sz="2400" b="1" dirty="0" smtClean="0"/>
              <a:t>. This is ,</a:t>
            </a:r>
            <a:r>
              <a:rPr lang="en-US" sz="2400" b="1" dirty="0" smtClean="0"/>
              <a:t>what is called depreciation </a:t>
            </a:r>
            <a:r>
              <a:rPr lang="en-US" sz="2400" b="1" smtClean="0"/>
              <a:t>due to inedequacy</a:t>
            </a:r>
            <a:r>
              <a:rPr lang="en-US" sz="2400" b="1" dirty="0" smtClean="0"/>
              <a:t>.</a:t>
            </a:r>
            <a:endParaRPr lang="en-US" sz="2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313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sony</cp:lastModifiedBy>
  <cp:revision>20</cp:revision>
  <dcterms:created xsi:type="dcterms:W3CDTF">2006-08-16T00:00:00Z</dcterms:created>
  <dcterms:modified xsi:type="dcterms:W3CDTF">2024-02-19T16:09:36Z</dcterms:modified>
</cp:coreProperties>
</file>