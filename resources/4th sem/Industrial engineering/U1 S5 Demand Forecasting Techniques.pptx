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7" r:id="rId7"/>
    <p:sldId id="261" r:id="rId8"/>
    <p:sldId id="268" r:id="rId9"/>
    <p:sldId id="264" r:id="rId10"/>
    <p:sldId id="265" r:id="rId11"/>
    <p:sldId id="266" r:id="rId12"/>
    <p:sldId id="262" r:id="rId13"/>
    <p:sldId id="263"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4" r:id="rId43"/>
    <p:sldId id="302" r:id="rId44"/>
    <p:sldId id="303"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2E5BCA-9C59-4103-AE0E-F7F6403AEEB4}" v="10" dt="2024-10-17T07:33:56.7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922" autoAdjust="0"/>
  </p:normalViewPr>
  <p:slideViewPr>
    <p:cSldViewPr>
      <p:cViewPr varScale="1">
        <p:scale>
          <a:sx n="52" d="100"/>
          <a:sy n="52" d="100"/>
        </p:scale>
        <p:origin x="150"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vi mathur" userId="80bfe0b41f0c38b8" providerId="LiveId" clId="{3A2E5BCA-9C59-4103-AE0E-F7F6403AEEB4}"/>
    <pc:docChg chg="undo redo custSel addSld delSld modSld sldOrd">
      <pc:chgData name="ravi mathur" userId="80bfe0b41f0c38b8" providerId="LiveId" clId="{3A2E5BCA-9C59-4103-AE0E-F7F6403AEEB4}" dt="2024-10-17T08:07:18.693" v="273" actId="20577"/>
      <pc:docMkLst>
        <pc:docMk/>
      </pc:docMkLst>
      <pc:sldChg chg="addSp modSp del mod">
        <pc:chgData name="ravi mathur" userId="80bfe0b41f0c38b8" providerId="LiveId" clId="{3A2E5BCA-9C59-4103-AE0E-F7F6403AEEB4}" dt="2024-10-17T06:51:21.604" v="33" actId="47"/>
        <pc:sldMkLst>
          <pc:docMk/>
          <pc:sldMk cId="4058654722" sldId="284"/>
        </pc:sldMkLst>
        <pc:spChg chg="add mod">
          <ac:chgData name="ravi mathur" userId="80bfe0b41f0c38b8" providerId="LiveId" clId="{3A2E5BCA-9C59-4103-AE0E-F7F6403AEEB4}" dt="2024-10-17T06:48:30.273" v="26" actId="21"/>
          <ac:spMkLst>
            <pc:docMk/>
            <pc:sldMk cId="4058654722" sldId="284"/>
            <ac:spMk id="3" creationId="{A18F9986-EF8F-EB29-A247-25A444E1071F}"/>
          </ac:spMkLst>
        </pc:spChg>
      </pc:sldChg>
      <pc:sldChg chg="addSp delSp modSp del mod setBg">
        <pc:chgData name="ravi mathur" userId="80bfe0b41f0c38b8" providerId="LiveId" clId="{3A2E5BCA-9C59-4103-AE0E-F7F6403AEEB4}" dt="2024-10-17T06:51:22.882" v="34" actId="47"/>
        <pc:sldMkLst>
          <pc:docMk/>
          <pc:sldMk cId="1846747239" sldId="285"/>
        </pc:sldMkLst>
        <pc:spChg chg="add del">
          <ac:chgData name="ravi mathur" userId="80bfe0b41f0c38b8" providerId="LiveId" clId="{3A2E5BCA-9C59-4103-AE0E-F7F6403AEEB4}" dt="2024-10-17T06:45:53.812" v="10" actId="22"/>
          <ac:spMkLst>
            <pc:docMk/>
            <pc:sldMk cId="1846747239" sldId="285"/>
            <ac:spMk id="3" creationId="{EE9B2776-DAA1-4D11-C813-600B74009586}"/>
          </ac:spMkLst>
        </pc:spChg>
        <pc:spChg chg="add mod">
          <ac:chgData name="ravi mathur" userId="80bfe0b41f0c38b8" providerId="LiveId" clId="{3A2E5BCA-9C59-4103-AE0E-F7F6403AEEB4}" dt="2024-10-17T06:49:17.475" v="32" actId="108"/>
          <ac:spMkLst>
            <pc:docMk/>
            <pc:sldMk cId="1846747239" sldId="285"/>
            <ac:spMk id="8" creationId="{7D6324AD-2A42-FC1F-44A6-30744AEE56BF}"/>
          </ac:spMkLst>
        </pc:spChg>
        <pc:picChg chg="add del mod">
          <ac:chgData name="ravi mathur" userId="80bfe0b41f0c38b8" providerId="LiveId" clId="{3A2E5BCA-9C59-4103-AE0E-F7F6403AEEB4}" dt="2024-10-17T06:47:55.519" v="22" actId="22"/>
          <ac:picMkLst>
            <pc:docMk/>
            <pc:sldMk cId="1846747239" sldId="285"/>
            <ac:picMk id="5" creationId="{EF2E3D46-B18E-789A-D2E8-C89D915626C0}"/>
          </ac:picMkLst>
        </pc:picChg>
        <pc:picChg chg="add mod">
          <ac:chgData name="ravi mathur" userId="80bfe0b41f0c38b8" providerId="LiveId" clId="{3A2E5BCA-9C59-4103-AE0E-F7F6403AEEB4}" dt="2024-10-17T06:48:26.311" v="25" actId="1076"/>
          <ac:picMkLst>
            <pc:docMk/>
            <pc:sldMk cId="1846747239" sldId="285"/>
            <ac:picMk id="6" creationId="{E941ADE0-0A4A-5C16-F9B4-67B2EA2E9E42}"/>
          </ac:picMkLst>
        </pc:picChg>
      </pc:sldChg>
      <pc:sldChg chg="addSp modSp mod">
        <pc:chgData name="ravi mathur" userId="80bfe0b41f0c38b8" providerId="LiveId" clId="{3A2E5BCA-9C59-4103-AE0E-F7F6403AEEB4}" dt="2024-10-17T06:54:03.854" v="40" actId="21"/>
        <pc:sldMkLst>
          <pc:docMk/>
          <pc:sldMk cId="1663161194" sldId="286"/>
        </pc:sldMkLst>
        <pc:spChg chg="add mod">
          <ac:chgData name="ravi mathur" userId="80bfe0b41f0c38b8" providerId="LiveId" clId="{3A2E5BCA-9C59-4103-AE0E-F7F6403AEEB4}" dt="2024-10-17T06:54:03.854" v="40" actId="21"/>
          <ac:spMkLst>
            <pc:docMk/>
            <pc:sldMk cId="1663161194" sldId="286"/>
            <ac:spMk id="3" creationId="{64F4673E-70AC-7D50-EE28-95C528837341}"/>
          </ac:spMkLst>
        </pc:spChg>
      </pc:sldChg>
      <pc:sldChg chg="addSp delSp modSp mod">
        <pc:chgData name="ravi mathur" userId="80bfe0b41f0c38b8" providerId="LiveId" clId="{3A2E5BCA-9C59-4103-AE0E-F7F6403AEEB4}" dt="2024-10-17T06:59:57.435" v="65" actId="14100"/>
        <pc:sldMkLst>
          <pc:docMk/>
          <pc:sldMk cId="364335374" sldId="287"/>
        </pc:sldMkLst>
        <pc:spChg chg="add mod">
          <ac:chgData name="ravi mathur" userId="80bfe0b41f0c38b8" providerId="LiveId" clId="{3A2E5BCA-9C59-4103-AE0E-F7F6403AEEB4}" dt="2024-10-17T06:58:16.012" v="62" actId="20577"/>
          <ac:spMkLst>
            <pc:docMk/>
            <pc:sldMk cId="364335374" sldId="287"/>
            <ac:spMk id="5" creationId="{2C684BBC-1A9F-BA96-70C0-C56EFB6F0889}"/>
          </ac:spMkLst>
        </pc:spChg>
        <pc:graphicFrameChg chg="add del mod modGraphic">
          <ac:chgData name="ravi mathur" userId="80bfe0b41f0c38b8" providerId="LiveId" clId="{3A2E5BCA-9C59-4103-AE0E-F7F6403AEEB4}" dt="2024-10-17T06:58:12.273" v="57" actId="3680"/>
          <ac:graphicFrameMkLst>
            <pc:docMk/>
            <pc:sldMk cId="364335374" sldId="287"/>
            <ac:graphicFrameMk id="6" creationId="{4CEAB530-4178-DEBE-24F9-547F2570CAE9}"/>
          </ac:graphicFrameMkLst>
        </pc:graphicFrameChg>
        <pc:picChg chg="add del mod">
          <ac:chgData name="ravi mathur" userId="80bfe0b41f0c38b8" providerId="LiveId" clId="{3A2E5BCA-9C59-4103-AE0E-F7F6403AEEB4}" dt="2024-10-17T06:54:39.774" v="46" actId="22"/>
          <ac:picMkLst>
            <pc:docMk/>
            <pc:sldMk cId="364335374" sldId="287"/>
            <ac:picMk id="3" creationId="{6CAD3B60-3F44-F62D-B0D6-A951966FB442}"/>
          </ac:picMkLst>
        </pc:picChg>
        <pc:picChg chg="add mod">
          <ac:chgData name="ravi mathur" userId="80bfe0b41f0c38b8" providerId="LiveId" clId="{3A2E5BCA-9C59-4103-AE0E-F7F6403AEEB4}" dt="2024-10-17T06:59:57.435" v="65" actId="14100"/>
          <ac:picMkLst>
            <pc:docMk/>
            <pc:sldMk cId="364335374" sldId="287"/>
            <ac:picMk id="8" creationId="{B6363383-BCB2-6346-3CBD-A7FCA7482F12}"/>
          </ac:picMkLst>
        </pc:picChg>
      </pc:sldChg>
      <pc:sldChg chg="addSp modSp mod">
        <pc:chgData name="ravi mathur" userId="80bfe0b41f0c38b8" providerId="LiveId" clId="{3A2E5BCA-9C59-4103-AE0E-F7F6403AEEB4}" dt="2024-10-17T07:01:31.829" v="70" actId="207"/>
        <pc:sldMkLst>
          <pc:docMk/>
          <pc:sldMk cId="1189366810" sldId="288"/>
        </pc:sldMkLst>
        <pc:spChg chg="add mod">
          <ac:chgData name="ravi mathur" userId="80bfe0b41f0c38b8" providerId="LiveId" clId="{3A2E5BCA-9C59-4103-AE0E-F7F6403AEEB4}" dt="2024-10-17T07:01:31.829" v="70" actId="207"/>
          <ac:spMkLst>
            <pc:docMk/>
            <pc:sldMk cId="1189366810" sldId="288"/>
            <ac:spMk id="3" creationId="{BB852CD5-1209-9622-5F48-3BB7046D3E55}"/>
          </ac:spMkLst>
        </pc:spChg>
      </pc:sldChg>
      <pc:sldChg chg="addSp modSp new mod">
        <pc:chgData name="ravi mathur" userId="80bfe0b41f0c38b8" providerId="LiveId" clId="{3A2E5BCA-9C59-4103-AE0E-F7F6403AEEB4}" dt="2024-10-17T07:02:28.219" v="79" actId="14100"/>
        <pc:sldMkLst>
          <pc:docMk/>
          <pc:sldMk cId="3068743014" sldId="289"/>
        </pc:sldMkLst>
        <pc:picChg chg="add mod">
          <ac:chgData name="ravi mathur" userId="80bfe0b41f0c38b8" providerId="LiveId" clId="{3A2E5BCA-9C59-4103-AE0E-F7F6403AEEB4}" dt="2024-10-17T07:02:28.219" v="79" actId="14100"/>
          <ac:picMkLst>
            <pc:docMk/>
            <pc:sldMk cId="3068743014" sldId="289"/>
            <ac:picMk id="3" creationId="{BA369F3B-EDCE-4FBD-F2FD-C93C248BE382}"/>
          </ac:picMkLst>
        </pc:picChg>
      </pc:sldChg>
      <pc:sldChg chg="addSp modSp new mod">
        <pc:chgData name="ravi mathur" userId="80bfe0b41f0c38b8" providerId="LiveId" clId="{3A2E5BCA-9C59-4103-AE0E-F7F6403AEEB4}" dt="2024-10-17T07:03:32.470" v="84" actId="207"/>
        <pc:sldMkLst>
          <pc:docMk/>
          <pc:sldMk cId="2472010040" sldId="290"/>
        </pc:sldMkLst>
        <pc:spChg chg="add mod">
          <ac:chgData name="ravi mathur" userId="80bfe0b41f0c38b8" providerId="LiveId" clId="{3A2E5BCA-9C59-4103-AE0E-F7F6403AEEB4}" dt="2024-10-17T07:03:32.470" v="84" actId="207"/>
          <ac:spMkLst>
            <pc:docMk/>
            <pc:sldMk cId="2472010040" sldId="290"/>
            <ac:spMk id="3" creationId="{115584E9-86B2-0096-EA28-E7FF728B567B}"/>
          </ac:spMkLst>
        </pc:spChg>
      </pc:sldChg>
      <pc:sldChg chg="addSp delSp modSp new mod">
        <pc:chgData name="ravi mathur" userId="80bfe0b41f0c38b8" providerId="LiveId" clId="{3A2E5BCA-9C59-4103-AE0E-F7F6403AEEB4}" dt="2024-10-17T07:08:55.174" v="99" actId="14100"/>
        <pc:sldMkLst>
          <pc:docMk/>
          <pc:sldMk cId="63719929" sldId="291"/>
        </pc:sldMkLst>
        <pc:spChg chg="add del">
          <ac:chgData name="ravi mathur" userId="80bfe0b41f0c38b8" providerId="LiveId" clId="{3A2E5BCA-9C59-4103-AE0E-F7F6403AEEB4}" dt="2024-10-17T07:05:14.823" v="86" actId="22"/>
          <ac:spMkLst>
            <pc:docMk/>
            <pc:sldMk cId="63719929" sldId="291"/>
            <ac:spMk id="3" creationId="{7CF6E101-6F48-0445-A32B-A0C770918BE4}"/>
          </ac:spMkLst>
        </pc:spChg>
        <pc:picChg chg="add">
          <ac:chgData name="ravi mathur" userId="80bfe0b41f0c38b8" providerId="LiveId" clId="{3A2E5BCA-9C59-4103-AE0E-F7F6403AEEB4}" dt="2024-10-17T07:07:48.390" v="87" actId="22"/>
          <ac:picMkLst>
            <pc:docMk/>
            <pc:sldMk cId="63719929" sldId="291"/>
            <ac:picMk id="5" creationId="{F0BEE187-2151-0D3C-6EB0-4C771E2A3C1B}"/>
          </ac:picMkLst>
        </pc:picChg>
        <pc:picChg chg="add mod">
          <ac:chgData name="ravi mathur" userId="80bfe0b41f0c38b8" providerId="LiveId" clId="{3A2E5BCA-9C59-4103-AE0E-F7F6403AEEB4}" dt="2024-10-17T07:08:55.174" v="99" actId="14100"/>
          <ac:picMkLst>
            <pc:docMk/>
            <pc:sldMk cId="63719929" sldId="291"/>
            <ac:picMk id="7" creationId="{EC091B25-2ACB-54FA-1ED6-A1F01C6E04A0}"/>
          </ac:picMkLst>
        </pc:picChg>
      </pc:sldChg>
      <pc:sldChg chg="addSp modSp new mod chgLayout">
        <pc:chgData name="ravi mathur" userId="80bfe0b41f0c38b8" providerId="LiveId" clId="{3A2E5BCA-9C59-4103-AE0E-F7F6403AEEB4}" dt="2024-10-17T07:12:04.105" v="105" actId="207"/>
        <pc:sldMkLst>
          <pc:docMk/>
          <pc:sldMk cId="4212371741" sldId="292"/>
        </pc:sldMkLst>
        <pc:spChg chg="add mod">
          <ac:chgData name="ravi mathur" userId="80bfe0b41f0c38b8" providerId="LiveId" clId="{3A2E5BCA-9C59-4103-AE0E-F7F6403AEEB4}" dt="2024-10-17T07:12:04.105" v="105" actId="207"/>
          <ac:spMkLst>
            <pc:docMk/>
            <pc:sldMk cId="4212371741" sldId="292"/>
            <ac:spMk id="3" creationId="{C5A1780F-64A3-F91D-1AC5-B6181913098D}"/>
          </ac:spMkLst>
        </pc:spChg>
      </pc:sldChg>
      <pc:sldChg chg="addSp modSp new mod">
        <pc:chgData name="ravi mathur" userId="80bfe0b41f0c38b8" providerId="LiveId" clId="{3A2E5BCA-9C59-4103-AE0E-F7F6403AEEB4}" dt="2024-10-17T07:14:05.087" v="114" actId="108"/>
        <pc:sldMkLst>
          <pc:docMk/>
          <pc:sldMk cId="1058495475" sldId="293"/>
        </pc:sldMkLst>
        <pc:spChg chg="add mod">
          <ac:chgData name="ravi mathur" userId="80bfe0b41f0c38b8" providerId="LiveId" clId="{3A2E5BCA-9C59-4103-AE0E-F7F6403AEEB4}" dt="2024-10-17T07:14:05.087" v="114" actId="108"/>
          <ac:spMkLst>
            <pc:docMk/>
            <pc:sldMk cId="1058495475" sldId="293"/>
            <ac:spMk id="3" creationId="{227401AA-99C6-0FC4-666A-40FDC2A8C158}"/>
          </ac:spMkLst>
        </pc:spChg>
      </pc:sldChg>
      <pc:sldChg chg="addSp modSp new mod">
        <pc:chgData name="ravi mathur" userId="80bfe0b41f0c38b8" providerId="LiveId" clId="{3A2E5BCA-9C59-4103-AE0E-F7F6403AEEB4}" dt="2024-10-17T07:30:53.186" v="138" actId="14100"/>
        <pc:sldMkLst>
          <pc:docMk/>
          <pc:sldMk cId="3656054202" sldId="294"/>
        </pc:sldMkLst>
        <pc:spChg chg="add mod">
          <ac:chgData name="ravi mathur" userId="80bfe0b41f0c38b8" providerId="LiveId" clId="{3A2E5BCA-9C59-4103-AE0E-F7F6403AEEB4}" dt="2024-10-17T07:30:28.310" v="132" actId="108"/>
          <ac:spMkLst>
            <pc:docMk/>
            <pc:sldMk cId="3656054202" sldId="294"/>
            <ac:spMk id="3" creationId="{68B79E17-5D8A-E467-1D01-0E2DB25AA6AC}"/>
          </ac:spMkLst>
        </pc:spChg>
        <pc:picChg chg="add mod">
          <ac:chgData name="ravi mathur" userId="80bfe0b41f0c38b8" providerId="LiveId" clId="{3A2E5BCA-9C59-4103-AE0E-F7F6403AEEB4}" dt="2024-10-17T07:30:53.186" v="138" actId="14100"/>
          <ac:picMkLst>
            <pc:docMk/>
            <pc:sldMk cId="3656054202" sldId="294"/>
            <ac:picMk id="5" creationId="{FAD1A269-1792-459F-3B53-654A1781C995}"/>
          </ac:picMkLst>
        </pc:picChg>
      </pc:sldChg>
      <pc:sldChg chg="addSp modSp new mod">
        <pc:chgData name="ravi mathur" userId="80bfe0b41f0c38b8" providerId="LiveId" clId="{3A2E5BCA-9C59-4103-AE0E-F7F6403AEEB4}" dt="2024-10-17T07:32:15.248" v="146" actId="14100"/>
        <pc:sldMkLst>
          <pc:docMk/>
          <pc:sldMk cId="2704624644" sldId="295"/>
        </pc:sldMkLst>
        <pc:spChg chg="add mod">
          <ac:chgData name="ravi mathur" userId="80bfe0b41f0c38b8" providerId="LiveId" clId="{3A2E5BCA-9C59-4103-AE0E-F7F6403AEEB4}" dt="2024-10-17T07:31:35.827" v="142" actId="108"/>
          <ac:spMkLst>
            <pc:docMk/>
            <pc:sldMk cId="2704624644" sldId="295"/>
            <ac:spMk id="3" creationId="{966A3BAE-B3FC-C7C3-1DDE-5DB57DB54A1E}"/>
          </ac:spMkLst>
        </pc:spChg>
        <pc:picChg chg="add mod">
          <ac:chgData name="ravi mathur" userId="80bfe0b41f0c38b8" providerId="LiveId" clId="{3A2E5BCA-9C59-4103-AE0E-F7F6403AEEB4}" dt="2024-10-17T07:32:15.248" v="146" actId="14100"/>
          <ac:picMkLst>
            <pc:docMk/>
            <pc:sldMk cId="2704624644" sldId="295"/>
            <ac:picMk id="5" creationId="{0489F968-3FD7-04D7-D751-BA74AE91646C}"/>
          </ac:picMkLst>
        </pc:picChg>
      </pc:sldChg>
      <pc:sldChg chg="addSp modSp new mod">
        <pc:chgData name="ravi mathur" userId="80bfe0b41f0c38b8" providerId="LiveId" clId="{3A2E5BCA-9C59-4103-AE0E-F7F6403AEEB4}" dt="2024-10-17T07:34:58.110" v="161" actId="14100"/>
        <pc:sldMkLst>
          <pc:docMk/>
          <pc:sldMk cId="3267388164" sldId="296"/>
        </pc:sldMkLst>
        <pc:spChg chg="add mod">
          <ac:chgData name="ravi mathur" userId="80bfe0b41f0c38b8" providerId="LiveId" clId="{3A2E5BCA-9C59-4103-AE0E-F7F6403AEEB4}" dt="2024-10-17T07:34:05.135" v="157" actId="108"/>
          <ac:spMkLst>
            <pc:docMk/>
            <pc:sldMk cId="3267388164" sldId="296"/>
            <ac:spMk id="3" creationId="{3CC2090B-4FBC-71E1-B161-0099461F3158}"/>
          </ac:spMkLst>
        </pc:spChg>
        <pc:picChg chg="add mod">
          <ac:chgData name="ravi mathur" userId="80bfe0b41f0c38b8" providerId="LiveId" clId="{3A2E5BCA-9C59-4103-AE0E-F7F6403AEEB4}" dt="2024-10-17T07:34:58.110" v="161" actId="14100"/>
          <ac:picMkLst>
            <pc:docMk/>
            <pc:sldMk cId="3267388164" sldId="296"/>
            <ac:picMk id="5" creationId="{0CB7584F-C089-2C5B-15EA-A7967AFB9C35}"/>
          </ac:picMkLst>
        </pc:picChg>
      </pc:sldChg>
      <pc:sldChg chg="addSp modSp new mod">
        <pc:chgData name="ravi mathur" userId="80bfe0b41f0c38b8" providerId="LiveId" clId="{3A2E5BCA-9C59-4103-AE0E-F7F6403AEEB4}" dt="2024-10-17T07:38:37.839" v="186" actId="6549"/>
        <pc:sldMkLst>
          <pc:docMk/>
          <pc:sldMk cId="811840674" sldId="297"/>
        </pc:sldMkLst>
        <pc:spChg chg="add mod">
          <ac:chgData name="ravi mathur" userId="80bfe0b41f0c38b8" providerId="LiveId" clId="{3A2E5BCA-9C59-4103-AE0E-F7F6403AEEB4}" dt="2024-10-17T07:38:37.839" v="186" actId="6549"/>
          <ac:spMkLst>
            <pc:docMk/>
            <pc:sldMk cId="811840674" sldId="297"/>
            <ac:spMk id="3" creationId="{B2CF0F2F-DD06-6AC5-74C9-B70A5A1F4665}"/>
          </ac:spMkLst>
        </pc:spChg>
      </pc:sldChg>
      <pc:sldChg chg="addSp modSp new mod">
        <pc:chgData name="ravi mathur" userId="80bfe0b41f0c38b8" providerId="LiveId" clId="{3A2E5BCA-9C59-4103-AE0E-F7F6403AEEB4}" dt="2024-10-17T07:39:32.195" v="204" actId="6549"/>
        <pc:sldMkLst>
          <pc:docMk/>
          <pc:sldMk cId="346940417" sldId="298"/>
        </pc:sldMkLst>
        <pc:spChg chg="add mod">
          <ac:chgData name="ravi mathur" userId="80bfe0b41f0c38b8" providerId="LiveId" clId="{3A2E5BCA-9C59-4103-AE0E-F7F6403AEEB4}" dt="2024-10-17T07:39:32.195" v="204" actId="6549"/>
          <ac:spMkLst>
            <pc:docMk/>
            <pc:sldMk cId="346940417" sldId="298"/>
            <ac:spMk id="3" creationId="{C35249D9-2894-A0DB-B234-48353C73C051}"/>
          </ac:spMkLst>
        </pc:spChg>
      </pc:sldChg>
      <pc:sldChg chg="addSp modSp new mod">
        <pc:chgData name="ravi mathur" userId="80bfe0b41f0c38b8" providerId="LiveId" clId="{3A2E5BCA-9C59-4103-AE0E-F7F6403AEEB4}" dt="2024-10-17T07:42:41.005" v="226" actId="1076"/>
        <pc:sldMkLst>
          <pc:docMk/>
          <pc:sldMk cId="1775595616" sldId="299"/>
        </pc:sldMkLst>
        <pc:picChg chg="add mod">
          <ac:chgData name="ravi mathur" userId="80bfe0b41f0c38b8" providerId="LiveId" clId="{3A2E5BCA-9C59-4103-AE0E-F7F6403AEEB4}" dt="2024-10-17T07:42:41.005" v="226" actId="1076"/>
          <ac:picMkLst>
            <pc:docMk/>
            <pc:sldMk cId="1775595616" sldId="299"/>
            <ac:picMk id="3" creationId="{F350F5AB-0264-4D37-2091-F80C080494BC}"/>
          </ac:picMkLst>
        </pc:picChg>
      </pc:sldChg>
      <pc:sldChg chg="addSp modSp new mod">
        <pc:chgData name="ravi mathur" userId="80bfe0b41f0c38b8" providerId="LiveId" clId="{3A2E5BCA-9C59-4103-AE0E-F7F6403AEEB4}" dt="2024-10-17T07:41:19.351" v="218" actId="20577"/>
        <pc:sldMkLst>
          <pc:docMk/>
          <pc:sldMk cId="1812651269" sldId="300"/>
        </pc:sldMkLst>
        <pc:spChg chg="add mod">
          <ac:chgData name="ravi mathur" userId="80bfe0b41f0c38b8" providerId="LiveId" clId="{3A2E5BCA-9C59-4103-AE0E-F7F6403AEEB4}" dt="2024-10-17T07:41:19.351" v="218" actId="20577"/>
          <ac:spMkLst>
            <pc:docMk/>
            <pc:sldMk cId="1812651269" sldId="300"/>
            <ac:spMk id="3" creationId="{0C030A4E-4030-81E4-6A15-F31052FBED00}"/>
          </ac:spMkLst>
        </pc:spChg>
      </pc:sldChg>
      <pc:sldChg chg="addSp modSp new mod">
        <pc:chgData name="ravi mathur" userId="80bfe0b41f0c38b8" providerId="LiveId" clId="{3A2E5BCA-9C59-4103-AE0E-F7F6403AEEB4}" dt="2024-10-17T07:43:18.473" v="229" actId="14100"/>
        <pc:sldMkLst>
          <pc:docMk/>
          <pc:sldMk cId="3928085210" sldId="301"/>
        </pc:sldMkLst>
        <pc:spChg chg="add mod">
          <ac:chgData name="ravi mathur" userId="80bfe0b41f0c38b8" providerId="LiveId" clId="{3A2E5BCA-9C59-4103-AE0E-F7F6403AEEB4}" dt="2024-10-17T07:42:17.948" v="225" actId="6549"/>
          <ac:spMkLst>
            <pc:docMk/>
            <pc:sldMk cId="3928085210" sldId="301"/>
            <ac:spMk id="3" creationId="{E3988A5A-1C86-191A-03A6-D194B3E8BDA1}"/>
          </ac:spMkLst>
        </pc:spChg>
        <pc:picChg chg="add mod">
          <ac:chgData name="ravi mathur" userId="80bfe0b41f0c38b8" providerId="LiveId" clId="{3A2E5BCA-9C59-4103-AE0E-F7F6403AEEB4}" dt="2024-10-17T07:43:18.473" v="229" actId="14100"/>
          <ac:picMkLst>
            <pc:docMk/>
            <pc:sldMk cId="3928085210" sldId="301"/>
            <ac:picMk id="5" creationId="{D3830CE5-CA2E-552E-315C-48C5D1391B79}"/>
          </ac:picMkLst>
        </pc:picChg>
      </pc:sldChg>
      <pc:sldChg chg="addSp modSp new mod">
        <pc:chgData name="ravi mathur" userId="80bfe0b41f0c38b8" providerId="LiveId" clId="{3A2E5BCA-9C59-4103-AE0E-F7F6403AEEB4}" dt="2024-10-17T07:45:31.739" v="250" actId="14100"/>
        <pc:sldMkLst>
          <pc:docMk/>
          <pc:sldMk cId="2726894403" sldId="302"/>
        </pc:sldMkLst>
        <pc:picChg chg="add mod">
          <ac:chgData name="ravi mathur" userId="80bfe0b41f0c38b8" providerId="LiveId" clId="{3A2E5BCA-9C59-4103-AE0E-F7F6403AEEB4}" dt="2024-10-17T07:45:31.739" v="250" actId="14100"/>
          <ac:picMkLst>
            <pc:docMk/>
            <pc:sldMk cId="2726894403" sldId="302"/>
            <ac:picMk id="3" creationId="{2A93945A-521D-D7BF-AC62-B27F18A3068C}"/>
          </ac:picMkLst>
        </pc:picChg>
      </pc:sldChg>
      <pc:sldChg chg="addSp delSp modSp new mod">
        <pc:chgData name="ravi mathur" userId="80bfe0b41f0c38b8" providerId="LiveId" clId="{3A2E5BCA-9C59-4103-AE0E-F7F6403AEEB4}" dt="2024-10-17T08:07:18.693" v="273" actId="20577"/>
        <pc:sldMkLst>
          <pc:docMk/>
          <pc:sldMk cId="2614848864" sldId="303"/>
        </pc:sldMkLst>
        <pc:spChg chg="add mod">
          <ac:chgData name="ravi mathur" userId="80bfe0b41f0c38b8" providerId="LiveId" clId="{3A2E5BCA-9C59-4103-AE0E-F7F6403AEEB4}" dt="2024-10-17T07:46:06.805" v="254" actId="108"/>
          <ac:spMkLst>
            <pc:docMk/>
            <pc:sldMk cId="2614848864" sldId="303"/>
            <ac:spMk id="3" creationId="{CC79364B-867E-4FFB-A22C-10AA546C7C27}"/>
          </ac:spMkLst>
        </pc:spChg>
        <pc:spChg chg="add mod">
          <ac:chgData name="ravi mathur" userId="80bfe0b41f0c38b8" providerId="LiveId" clId="{3A2E5BCA-9C59-4103-AE0E-F7F6403AEEB4}" dt="2024-10-17T08:07:18.693" v="273" actId="20577"/>
          <ac:spMkLst>
            <pc:docMk/>
            <pc:sldMk cId="2614848864" sldId="303"/>
            <ac:spMk id="9" creationId="{746D1CF1-2A8F-35CD-57A3-356E916E0378}"/>
          </ac:spMkLst>
        </pc:spChg>
        <pc:picChg chg="add del mod">
          <ac:chgData name="ravi mathur" userId="80bfe0b41f0c38b8" providerId="LiveId" clId="{3A2E5BCA-9C59-4103-AE0E-F7F6403AEEB4}" dt="2024-10-17T07:47:00.536" v="258" actId="22"/>
          <ac:picMkLst>
            <pc:docMk/>
            <pc:sldMk cId="2614848864" sldId="303"/>
            <ac:picMk id="5" creationId="{7D49732F-2C35-8F48-B401-6B8C4C4E47CE}"/>
          </ac:picMkLst>
        </pc:picChg>
        <pc:picChg chg="add mod">
          <ac:chgData name="ravi mathur" userId="80bfe0b41f0c38b8" providerId="LiveId" clId="{3A2E5BCA-9C59-4103-AE0E-F7F6403AEEB4}" dt="2024-10-17T07:47:50.239" v="264" actId="1076"/>
          <ac:picMkLst>
            <pc:docMk/>
            <pc:sldMk cId="2614848864" sldId="303"/>
            <ac:picMk id="7" creationId="{39AEBB28-DEBD-DE2C-7E72-B0BC525663CA}"/>
          </ac:picMkLst>
        </pc:picChg>
      </pc:sldChg>
      <pc:sldChg chg="addSp modSp new mod ord">
        <pc:chgData name="ravi mathur" userId="80bfe0b41f0c38b8" providerId="LiveId" clId="{3A2E5BCA-9C59-4103-AE0E-F7F6403AEEB4}" dt="2024-10-17T07:44:39.427" v="247" actId="6549"/>
        <pc:sldMkLst>
          <pc:docMk/>
          <pc:sldMk cId="3338233912" sldId="304"/>
        </pc:sldMkLst>
        <pc:spChg chg="add mod">
          <ac:chgData name="ravi mathur" userId="80bfe0b41f0c38b8" providerId="LiveId" clId="{3A2E5BCA-9C59-4103-AE0E-F7F6403AEEB4}" dt="2024-10-17T07:44:39.427" v="247" actId="6549"/>
          <ac:spMkLst>
            <pc:docMk/>
            <pc:sldMk cId="3338233912" sldId="304"/>
            <ac:spMk id="3" creationId="{DF665559-0E0C-23FD-A4D6-3808713842D9}"/>
          </ac:spMkLst>
        </pc:spChg>
      </pc:sldChg>
      <pc:sldChg chg="new del">
        <pc:chgData name="ravi mathur" userId="80bfe0b41f0c38b8" providerId="LiveId" clId="{3A2E5BCA-9C59-4103-AE0E-F7F6403AEEB4}" dt="2024-10-17T07:49:32.989" v="272" actId="47"/>
        <pc:sldMkLst>
          <pc:docMk/>
          <pc:sldMk cId="2011382465" sldId="30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534400" cy="5447645"/>
          </a:xfrm>
          <a:prstGeom prst="rect">
            <a:avLst/>
          </a:prstGeom>
        </p:spPr>
        <p:txBody>
          <a:bodyPr wrap="square">
            <a:spAutoFit/>
          </a:bodyPr>
          <a:lstStyle/>
          <a:p>
            <a:pPr algn="ctr"/>
            <a:r>
              <a:rPr lang="en-US" sz="2400" b="1" dirty="0">
                <a:solidFill>
                  <a:srgbClr val="FF0000"/>
                </a:solidFill>
              </a:rPr>
              <a:t>DEMAND FORECASTING</a:t>
            </a:r>
          </a:p>
          <a:p>
            <a:pPr>
              <a:lnSpc>
                <a:spcPct val="150000"/>
              </a:lnSpc>
            </a:pPr>
            <a:r>
              <a:rPr lang="en-US" sz="2400" b="1" dirty="0">
                <a:solidFill>
                  <a:srgbClr val="FF0000"/>
                </a:solidFill>
              </a:rPr>
              <a:t>	Forecasting,</a:t>
            </a:r>
            <a:r>
              <a:rPr lang="en-US" sz="2400" b="1" dirty="0"/>
              <a:t> in general, refers to knowing or measuring the status or nature of an event or variable </a:t>
            </a:r>
            <a:r>
              <a:rPr lang="en-US" sz="2400" b="1" dirty="0">
                <a:solidFill>
                  <a:srgbClr val="FF0000"/>
                </a:solidFill>
              </a:rPr>
              <a:t>before it occurs</a:t>
            </a:r>
            <a:r>
              <a:rPr lang="en-US" sz="2400" b="1" dirty="0"/>
              <a:t>. 	</a:t>
            </a:r>
            <a:r>
              <a:rPr lang="en-US" sz="2400" b="1" dirty="0">
                <a:solidFill>
                  <a:srgbClr val="FF0000"/>
                </a:solidFill>
              </a:rPr>
              <a:t>Forecasting of demand </a:t>
            </a:r>
            <a:r>
              <a:rPr lang="en-US" sz="2400" b="1" dirty="0"/>
              <a:t>is the art and science of predicting the </a:t>
            </a:r>
            <a:r>
              <a:rPr lang="en-US" sz="2400" b="1" dirty="0">
                <a:solidFill>
                  <a:srgbClr val="FF0000"/>
                </a:solidFill>
              </a:rPr>
              <a:t>probable demand </a:t>
            </a:r>
            <a:r>
              <a:rPr lang="en-US" sz="2400" b="1" dirty="0"/>
              <a:t>for a product or a service </a:t>
            </a:r>
            <a:r>
              <a:rPr lang="en-US" sz="2400" b="1" dirty="0">
                <a:solidFill>
                  <a:srgbClr val="FF0000"/>
                </a:solidFill>
              </a:rPr>
              <a:t>at some future date</a:t>
            </a:r>
            <a:r>
              <a:rPr lang="en-US" sz="2400" b="1" dirty="0"/>
              <a:t> on the </a:t>
            </a:r>
            <a:r>
              <a:rPr lang="en-US" sz="2400" b="1" dirty="0">
                <a:solidFill>
                  <a:srgbClr val="FF0000"/>
                </a:solidFill>
              </a:rPr>
              <a:t>basis of certain past </a:t>
            </a:r>
            <a:r>
              <a:rPr lang="en-US" sz="2400" b="1" dirty="0" err="1">
                <a:solidFill>
                  <a:srgbClr val="FF0000"/>
                </a:solidFill>
              </a:rPr>
              <a:t>behaviour</a:t>
            </a:r>
            <a:r>
              <a:rPr lang="en-US" sz="2400" b="1" dirty="0">
                <a:solidFill>
                  <a:srgbClr val="FF0000"/>
                </a:solidFill>
              </a:rPr>
              <a:t> patterns of some related events and the prevailing trends in the present. </a:t>
            </a:r>
          </a:p>
          <a:p>
            <a:pPr>
              <a:lnSpc>
                <a:spcPct val="150000"/>
              </a:lnSpc>
            </a:pPr>
            <a:r>
              <a:rPr lang="en-US" sz="2400" b="1" dirty="0">
                <a:solidFill>
                  <a:srgbClr val="FF0000"/>
                </a:solidFill>
              </a:rPr>
              <a:t>	</a:t>
            </a:r>
            <a:r>
              <a:rPr lang="en-US" sz="2400" b="1" dirty="0"/>
              <a:t>Demand forecasting is no simple</a:t>
            </a:r>
            <a:r>
              <a:rPr lang="en-US" sz="2400" b="1" dirty="0">
                <a:solidFill>
                  <a:srgbClr val="FF0000"/>
                </a:solidFill>
              </a:rPr>
              <a:t> guessing</a:t>
            </a:r>
            <a:r>
              <a:rPr lang="en-US" sz="2400" b="1" dirty="0"/>
              <a:t>, but it refers to estimating demand </a:t>
            </a:r>
            <a:r>
              <a:rPr lang="en-US" sz="2400" b="1" dirty="0">
                <a:solidFill>
                  <a:srgbClr val="FF0000"/>
                </a:solidFill>
              </a:rPr>
              <a:t>scientifically and objectively</a:t>
            </a:r>
            <a:r>
              <a:rPr lang="en-US" sz="2400" b="1" dirty="0"/>
              <a:t> on the basis of certain </a:t>
            </a:r>
            <a:r>
              <a:rPr lang="en-US" sz="2400" b="1" dirty="0">
                <a:solidFill>
                  <a:srgbClr val="FF0000"/>
                </a:solidFill>
              </a:rPr>
              <a:t>facts and events relevant to forecasting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304800"/>
            <a:ext cx="8763000" cy="6740307"/>
          </a:xfrm>
          <a:prstGeom prst="rect">
            <a:avLst/>
          </a:prstGeom>
        </p:spPr>
        <p:txBody>
          <a:bodyPr wrap="square">
            <a:spAutoFit/>
          </a:bodyPr>
          <a:lstStyle/>
          <a:p>
            <a:pPr>
              <a:lnSpc>
                <a:spcPct val="150000"/>
              </a:lnSpc>
            </a:pPr>
            <a:r>
              <a:rPr lang="en-US" sz="2400" b="1" dirty="0">
                <a:solidFill>
                  <a:srgbClr val="FF0000"/>
                </a:solidFill>
              </a:rPr>
              <a:t>Usefulness</a:t>
            </a:r>
          </a:p>
          <a:p>
            <a:pPr>
              <a:lnSpc>
                <a:spcPct val="150000"/>
              </a:lnSpc>
              <a:buFont typeface="Wingdings" pitchFamily="2" charset="2"/>
              <a:buChar char="Ø"/>
            </a:pPr>
            <a:r>
              <a:rPr lang="en-US" sz="2400" b="1" dirty="0"/>
              <a:t> Forecasting of demand plays a vital role in the process of </a:t>
            </a:r>
            <a:r>
              <a:rPr lang="en-US" sz="2400" b="1" dirty="0">
                <a:solidFill>
                  <a:srgbClr val="FF0000"/>
                </a:solidFill>
              </a:rPr>
              <a:t>planning and decision-making</a:t>
            </a:r>
            <a:r>
              <a:rPr lang="en-US" sz="2400" b="1" dirty="0"/>
              <a:t>, whether at the </a:t>
            </a:r>
            <a:r>
              <a:rPr lang="en-US" sz="2400" b="1" dirty="0">
                <a:solidFill>
                  <a:srgbClr val="FF0000"/>
                </a:solidFill>
              </a:rPr>
              <a:t>national</a:t>
            </a:r>
            <a:r>
              <a:rPr lang="en-US" sz="2400" b="1" dirty="0"/>
              <a:t> level or at the level of a </a:t>
            </a:r>
            <a:r>
              <a:rPr lang="en-US" sz="2400" b="1" dirty="0">
                <a:solidFill>
                  <a:srgbClr val="FF0000"/>
                </a:solidFill>
              </a:rPr>
              <a:t>firm.</a:t>
            </a:r>
            <a:r>
              <a:rPr lang="en-US" sz="2400" b="1" dirty="0"/>
              <a:t> </a:t>
            </a:r>
          </a:p>
          <a:p>
            <a:pPr>
              <a:lnSpc>
                <a:spcPct val="150000"/>
              </a:lnSpc>
              <a:buFont typeface="Wingdings" pitchFamily="2" charset="2"/>
              <a:buChar char="Ø"/>
            </a:pPr>
            <a:r>
              <a:rPr lang="en-US" sz="2400" b="1" dirty="0"/>
              <a:t> offer information for </a:t>
            </a:r>
            <a:r>
              <a:rPr lang="en-US" sz="2400" b="1" dirty="0">
                <a:solidFill>
                  <a:srgbClr val="FF0000"/>
                </a:solidFill>
              </a:rPr>
              <a:t>budgetary planning </a:t>
            </a:r>
            <a:r>
              <a:rPr lang="en-US" sz="2400" b="1" dirty="0"/>
              <a:t>and </a:t>
            </a:r>
            <a:r>
              <a:rPr lang="en-US" sz="2400" b="1" dirty="0">
                <a:solidFill>
                  <a:srgbClr val="FF0000"/>
                </a:solidFill>
              </a:rPr>
              <a:t>cost control </a:t>
            </a:r>
            <a:r>
              <a:rPr lang="en-US" sz="2400" b="1" dirty="0"/>
              <a:t>in functional areas of </a:t>
            </a:r>
            <a:r>
              <a:rPr lang="en-US" sz="2400" b="1" dirty="0">
                <a:solidFill>
                  <a:srgbClr val="FF0000"/>
                </a:solidFill>
              </a:rPr>
              <a:t>finance</a:t>
            </a:r>
            <a:r>
              <a:rPr lang="en-US" sz="2400" b="1" dirty="0"/>
              <a:t> and </a:t>
            </a:r>
            <a:r>
              <a:rPr lang="en-US" sz="2400" b="1" dirty="0">
                <a:solidFill>
                  <a:srgbClr val="FF0000"/>
                </a:solidFill>
              </a:rPr>
              <a:t>accounting</a:t>
            </a:r>
            <a:r>
              <a:rPr lang="en-US" sz="2400" b="1" dirty="0"/>
              <a:t>. </a:t>
            </a:r>
          </a:p>
          <a:p>
            <a:pPr>
              <a:lnSpc>
                <a:spcPct val="150000"/>
              </a:lnSpc>
              <a:buFont typeface="Wingdings" pitchFamily="2" charset="2"/>
              <a:buChar char="Ø"/>
            </a:pPr>
            <a:r>
              <a:rPr lang="en-US" sz="2400" b="1" dirty="0"/>
              <a:t> help in efficient </a:t>
            </a:r>
            <a:r>
              <a:rPr lang="en-US" sz="2400" b="1" dirty="0">
                <a:solidFill>
                  <a:srgbClr val="FF0000"/>
                </a:solidFill>
              </a:rPr>
              <a:t>production planning, process selection, capacity planning, facility layout and inventory management</a:t>
            </a:r>
            <a:r>
              <a:rPr lang="en-US" sz="2400" b="1" dirty="0"/>
              <a:t>. </a:t>
            </a:r>
          </a:p>
          <a:p>
            <a:pPr>
              <a:lnSpc>
                <a:spcPct val="150000"/>
              </a:lnSpc>
              <a:buFont typeface="Wingdings" pitchFamily="2" charset="2"/>
              <a:buChar char="Ø"/>
            </a:pPr>
            <a:r>
              <a:rPr lang="en-US" sz="2400" b="1" dirty="0"/>
              <a:t> A firm can plan </a:t>
            </a:r>
            <a:r>
              <a:rPr lang="en-US" sz="2400" b="1" dirty="0">
                <a:solidFill>
                  <a:srgbClr val="FF0000"/>
                </a:solidFill>
              </a:rPr>
              <a:t>production scheduling </a:t>
            </a:r>
            <a:r>
              <a:rPr lang="en-US" sz="2400" b="1" dirty="0"/>
              <a:t>well in advance and </a:t>
            </a:r>
            <a:r>
              <a:rPr lang="en-US" sz="2400" b="1" dirty="0">
                <a:solidFill>
                  <a:srgbClr val="FF0000"/>
                </a:solidFill>
              </a:rPr>
              <a:t>obtain all necessary resources for production </a:t>
            </a:r>
            <a:r>
              <a:rPr lang="en-US" sz="2400" b="1" dirty="0"/>
              <a:t>such as </a:t>
            </a:r>
            <a:r>
              <a:rPr lang="en-US" sz="2400" b="1" dirty="0">
                <a:solidFill>
                  <a:srgbClr val="FF0000"/>
                </a:solidFill>
              </a:rPr>
              <a:t>inputs, and finances</a:t>
            </a:r>
            <a:r>
              <a:rPr lang="en-US" sz="2400" b="1" dirty="0"/>
              <a:t>..  </a:t>
            </a:r>
          </a:p>
          <a:p>
            <a:pPr>
              <a:lnSpc>
                <a:spcPct val="150000"/>
              </a:lnSpc>
            </a:pPr>
            <a:endParaRPr lang="en-US" sz="2400" b="1" dirty="0"/>
          </a:p>
          <a:p>
            <a:pPr>
              <a:lnSpc>
                <a:spcPct val="150000"/>
              </a:lnSpc>
            </a:pPr>
            <a:r>
              <a:rPr lang="en-US" sz="2400" b="1" dirty="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228600"/>
            <a:ext cx="8382000" cy="3416320"/>
          </a:xfrm>
          <a:prstGeom prst="rect">
            <a:avLst/>
          </a:prstGeom>
        </p:spPr>
        <p:txBody>
          <a:bodyPr wrap="square">
            <a:spAutoFit/>
          </a:bodyPr>
          <a:lstStyle/>
          <a:p>
            <a:pPr>
              <a:lnSpc>
                <a:spcPct val="150000"/>
              </a:lnSpc>
              <a:buFont typeface="Wingdings" pitchFamily="2" charset="2"/>
              <a:buChar char="Ø"/>
            </a:pPr>
            <a:r>
              <a:rPr lang="en-US" sz="2400" b="1" dirty="0"/>
              <a:t> </a:t>
            </a:r>
            <a:r>
              <a:rPr lang="en-US" sz="2400" b="1" dirty="0">
                <a:solidFill>
                  <a:srgbClr val="FF0000"/>
                </a:solidFill>
              </a:rPr>
              <a:t>Capital investments </a:t>
            </a:r>
            <a:r>
              <a:rPr lang="en-US" sz="2400" b="1" dirty="0"/>
              <a:t>can be </a:t>
            </a:r>
            <a:r>
              <a:rPr lang="en-US" sz="2400" b="1" dirty="0">
                <a:solidFill>
                  <a:srgbClr val="FF0000"/>
                </a:solidFill>
              </a:rPr>
              <a:t>aligned</a:t>
            </a:r>
            <a:r>
              <a:rPr lang="en-US" sz="2400" b="1" dirty="0"/>
              <a:t> to demand expectations and this will check the possibility of </a:t>
            </a:r>
            <a:r>
              <a:rPr lang="en-US" sz="2400" b="1" dirty="0">
                <a:solidFill>
                  <a:srgbClr val="FF0000"/>
                </a:solidFill>
              </a:rPr>
              <a:t>overproduction</a:t>
            </a:r>
            <a:r>
              <a:rPr lang="en-US" sz="2400" b="1" dirty="0"/>
              <a:t> and </a:t>
            </a:r>
            <a:r>
              <a:rPr lang="en-US" sz="2400" b="1" dirty="0">
                <a:solidFill>
                  <a:srgbClr val="FF0000"/>
                </a:solidFill>
              </a:rPr>
              <a:t>underproduction</a:t>
            </a:r>
            <a:r>
              <a:rPr lang="en-US" sz="2400" b="1" dirty="0"/>
              <a:t>, excess of </a:t>
            </a:r>
            <a:r>
              <a:rPr lang="en-US" sz="2400" b="1" dirty="0">
                <a:solidFill>
                  <a:srgbClr val="FF0000"/>
                </a:solidFill>
              </a:rPr>
              <a:t>unused capacity </a:t>
            </a:r>
            <a:r>
              <a:rPr lang="en-US" sz="2400" b="1" dirty="0"/>
              <a:t>and </a:t>
            </a:r>
            <a:r>
              <a:rPr lang="en-US" sz="2400" b="1" dirty="0">
                <a:solidFill>
                  <a:srgbClr val="FF0000"/>
                </a:solidFill>
              </a:rPr>
              <a:t>idle resources</a:t>
            </a:r>
            <a:r>
              <a:rPr lang="en-US" sz="2400" b="1" dirty="0"/>
              <a:t>.   </a:t>
            </a:r>
          </a:p>
          <a:p>
            <a:pPr>
              <a:lnSpc>
                <a:spcPct val="150000"/>
              </a:lnSpc>
              <a:buFont typeface="Wingdings" pitchFamily="2" charset="2"/>
              <a:buChar char="Ø"/>
            </a:pPr>
            <a:r>
              <a:rPr lang="en-US" sz="2400" b="1" dirty="0"/>
              <a:t> Marketing relies on sales forecasting in </a:t>
            </a:r>
            <a:r>
              <a:rPr lang="en-US" sz="2400" b="1" dirty="0">
                <a:solidFill>
                  <a:srgbClr val="FF0000"/>
                </a:solidFill>
              </a:rPr>
              <a:t>making key decisions</a:t>
            </a:r>
            <a:r>
              <a:rPr lang="en-US" sz="2400" b="1" dirty="0"/>
              <a:t>.  </a:t>
            </a:r>
          </a:p>
          <a:p>
            <a:pPr>
              <a:lnSpc>
                <a:spcPct val="150000"/>
              </a:lnSpc>
              <a:buFont typeface="Wingdings" pitchFamily="2" charset="2"/>
              <a:buChar char="Ø"/>
            </a:pPr>
            <a:r>
              <a:rPr lang="en-US" sz="2400" b="1" dirty="0"/>
              <a:t> Demand forecasts also provide the necessary information for formulation of </a:t>
            </a:r>
            <a:r>
              <a:rPr lang="en-US" sz="2400" b="1" dirty="0">
                <a:solidFill>
                  <a:srgbClr val="FF0000"/>
                </a:solidFill>
              </a:rPr>
              <a:t>suitable pricing and advertisement strategies</a:t>
            </a:r>
            <a:endParaRPr lang="en-US" sz="2400"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0"/>
            <a:ext cx="8534400" cy="6740307"/>
          </a:xfrm>
          <a:prstGeom prst="rect">
            <a:avLst/>
          </a:prstGeom>
        </p:spPr>
        <p:txBody>
          <a:bodyPr wrap="square">
            <a:spAutoFit/>
          </a:bodyPr>
          <a:lstStyle/>
          <a:p>
            <a:pPr>
              <a:lnSpc>
                <a:spcPct val="150000"/>
              </a:lnSpc>
            </a:pPr>
            <a:r>
              <a:rPr lang="en-US" sz="2400" b="1" dirty="0">
                <a:solidFill>
                  <a:srgbClr val="FF0000"/>
                </a:solidFill>
              </a:rPr>
              <a:t>Types of forecasts </a:t>
            </a:r>
          </a:p>
          <a:p>
            <a:pPr marL="342900" indent="-342900">
              <a:lnSpc>
                <a:spcPct val="150000"/>
              </a:lnSpc>
              <a:buAutoNum type="arabicParenBoth"/>
            </a:pPr>
            <a:r>
              <a:rPr lang="en-US" sz="2400" b="1" dirty="0">
                <a:solidFill>
                  <a:srgbClr val="FF0000"/>
                </a:solidFill>
              </a:rPr>
              <a:t> Macro-level</a:t>
            </a:r>
            <a:r>
              <a:rPr lang="en-US" sz="2400" b="1" dirty="0"/>
              <a:t> forecasting deals with the general economic environment prevailing in the economy as measured by the </a:t>
            </a:r>
            <a:r>
              <a:rPr lang="en-US" sz="2400" b="1" dirty="0">
                <a:solidFill>
                  <a:srgbClr val="FF0000"/>
                </a:solidFill>
              </a:rPr>
              <a:t>Index of Industrial Production (IIP), national income and general level of employment, money supply, inflation rates, interest rates, etc. </a:t>
            </a:r>
          </a:p>
          <a:p>
            <a:pPr marL="342900" indent="-342900">
              <a:lnSpc>
                <a:spcPct val="150000"/>
              </a:lnSpc>
            </a:pPr>
            <a:r>
              <a:rPr lang="en-US" sz="2400" b="1" dirty="0"/>
              <a:t>	(</a:t>
            </a:r>
            <a:r>
              <a:rPr lang="en-US" sz="2400" b="1" dirty="0" err="1"/>
              <a:t>i</a:t>
            </a:r>
            <a:r>
              <a:rPr lang="en-US" sz="2400" b="1" dirty="0"/>
              <a:t>) </a:t>
            </a:r>
            <a:r>
              <a:rPr lang="en-US" sz="2400" b="1" dirty="0">
                <a:solidFill>
                  <a:srgbClr val="FF0000"/>
                </a:solidFill>
              </a:rPr>
              <a:t>Industry- level </a:t>
            </a:r>
            <a:r>
              <a:rPr lang="en-US" sz="2400" b="1" dirty="0"/>
              <a:t>forecasting is concerned with the demand for the </a:t>
            </a:r>
            <a:r>
              <a:rPr lang="en-US" sz="2400" b="1" dirty="0">
                <a:solidFill>
                  <a:srgbClr val="FF0000"/>
                </a:solidFill>
              </a:rPr>
              <a:t>industry’s products as a whole</a:t>
            </a:r>
            <a:r>
              <a:rPr lang="en-US" sz="2400" b="1" dirty="0"/>
              <a:t>. For example, </a:t>
            </a:r>
            <a:r>
              <a:rPr lang="en-US" sz="2400" b="1" dirty="0">
                <a:solidFill>
                  <a:srgbClr val="FF0000"/>
                </a:solidFill>
              </a:rPr>
              <a:t>demand for cement in India. </a:t>
            </a:r>
          </a:p>
          <a:p>
            <a:pPr marL="342900" indent="-342900">
              <a:lnSpc>
                <a:spcPct val="150000"/>
              </a:lnSpc>
            </a:pPr>
            <a:r>
              <a:rPr lang="en-US" sz="2400" b="1" dirty="0"/>
              <a:t>	(ii) </a:t>
            </a:r>
            <a:r>
              <a:rPr lang="en-US" sz="2400" b="1" dirty="0">
                <a:solidFill>
                  <a:srgbClr val="FF0000"/>
                </a:solidFill>
              </a:rPr>
              <a:t>Firm- level </a:t>
            </a:r>
            <a:r>
              <a:rPr lang="en-US" sz="2400" b="1" dirty="0"/>
              <a:t>forecasting refers to forecasting the demand for a </a:t>
            </a:r>
            <a:r>
              <a:rPr lang="en-US" sz="2400" b="1" dirty="0">
                <a:solidFill>
                  <a:srgbClr val="FF0000"/>
                </a:solidFill>
              </a:rPr>
              <a:t>particular firm’s products or services</a:t>
            </a:r>
            <a:r>
              <a:rPr lang="en-US" sz="2400" b="1" dirty="0"/>
              <a:t>, say, the </a:t>
            </a:r>
            <a:r>
              <a:rPr lang="en-US" sz="2400" b="1" dirty="0">
                <a:solidFill>
                  <a:srgbClr val="FF0000"/>
                </a:solidFill>
              </a:rPr>
              <a:t>demand for ACC cement</a:t>
            </a:r>
            <a:r>
              <a:rPr lang="en-US" sz="2400" b="1" dirty="0"/>
              <a:t>. </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0"/>
            <a:ext cx="8229600" cy="6186309"/>
          </a:xfrm>
          <a:prstGeom prst="rect">
            <a:avLst/>
          </a:prstGeom>
        </p:spPr>
        <p:txBody>
          <a:bodyPr wrap="square">
            <a:spAutoFit/>
          </a:bodyPr>
          <a:lstStyle/>
          <a:p>
            <a:pPr marL="342900" indent="-342900">
              <a:lnSpc>
                <a:spcPct val="150000"/>
              </a:lnSpc>
            </a:pPr>
            <a:r>
              <a:rPr lang="en-US" sz="2400" b="1" dirty="0">
                <a:solidFill>
                  <a:srgbClr val="FF0000"/>
                </a:solidFill>
              </a:rPr>
              <a:t>(2) Based on time period</a:t>
            </a:r>
            <a:r>
              <a:rPr lang="en-US" sz="2400" b="1" dirty="0"/>
              <a:t>, demand forecasts may be short-term demand forecasting and long-term demand forecasting. </a:t>
            </a:r>
          </a:p>
          <a:p>
            <a:pPr marL="514350" indent="-514350">
              <a:lnSpc>
                <a:spcPct val="150000"/>
              </a:lnSpc>
            </a:pPr>
            <a:r>
              <a:rPr lang="en-US" sz="2400" b="1" dirty="0">
                <a:solidFill>
                  <a:srgbClr val="FF0000"/>
                </a:solidFill>
              </a:rPr>
              <a:t>(</a:t>
            </a:r>
            <a:r>
              <a:rPr lang="en-US" sz="2400" b="1" dirty="0" err="1">
                <a:solidFill>
                  <a:srgbClr val="FF0000"/>
                </a:solidFill>
              </a:rPr>
              <a:t>i</a:t>
            </a:r>
            <a:r>
              <a:rPr lang="en-US" sz="2400" b="1" dirty="0">
                <a:solidFill>
                  <a:srgbClr val="FF0000"/>
                </a:solidFill>
              </a:rPr>
              <a:t>) Short-term </a:t>
            </a:r>
            <a:r>
              <a:rPr lang="en-US" sz="2400" b="1" dirty="0"/>
              <a:t>demand forecasting covers a short span of time, depending of the nature of industry. It is done usually for </a:t>
            </a:r>
            <a:r>
              <a:rPr lang="en-US" sz="2400" b="1" dirty="0">
                <a:solidFill>
                  <a:srgbClr val="FF0000"/>
                </a:solidFill>
              </a:rPr>
              <a:t>six months or less than one year </a:t>
            </a:r>
            <a:r>
              <a:rPr lang="en-US" sz="2400" b="1" dirty="0"/>
              <a:t>and is generally useful in </a:t>
            </a:r>
            <a:r>
              <a:rPr lang="en-US" sz="2400" b="1" dirty="0">
                <a:solidFill>
                  <a:srgbClr val="FF0000"/>
                </a:solidFill>
              </a:rPr>
              <a:t>tactical decisions. Ex </a:t>
            </a:r>
            <a:r>
              <a:rPr lang="en-US" sz="2400" b="1" dirty="0"/>
              <a:t>Material Requirement Planning (MRP), scheduling, sequencing, budgeting etc. </a:t>
            </a:r>
          </a:p>
          <a:p>
            <a:pPr marL="514350" indent="-514350">
              <a:lnSpc>
                <a:spcPct val="150000"/>
              </a:lnSpc>
            </a:pPr>
            <a:r>
              <a:rPr lang="en-US" sz="2400" b="1" dirty="0">
                <a:solidFill>
                  <a:srgbClr val="FF0000"/>
                </a:solidFill>
              </a:rPr>
              <a:t>(ii) Long-term</a:t>
            </a:r>
            <a:r>
              <a:rPr lang="en-US" sz="2400" b="1" dirty="0"/>
              <a:t> forecasts are for longer periods of time, say two to five years and more. It provides information for major strategic decisions of the firm such as </a:t>
            </a:r>
            <a:r>
              <a:rPr lang="en-US" sz="2400" b="1" dirty="0">
                <a:solidFill>
                  <a:srgbClr val="FF0000"/>
                </a:solidFill>
              </a:rPr>
              <a:t>expansion of plant capacity, </a:t>
            </a:r>
            <a:r>
              <a:rPr lang="en-US" sz="2400" dirty="0"/>
              <a:t>. </a:t>
            </a:r>
            <a:r>
              <a:rPr lang="en-US" sz="2400" b="1" dirty="0"/>
              <a:t>product diversification, sales and advertisement.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lum bright="-32000" contrast="49000"/>
          </a:blip>
          <a:srcRect/>
          <a:stretch>
            <a:fillRect/>
          </a:stretch>
        </p:blipFill>
        <p:spPr bwMode="auto">
          <a:xfrm>
            <a:off x="304800" y="762001"/>
            <a:ext cx="8686799" cy="4224338"/>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lum bright="-66000" contrast="100000"/>
          </a:blip>
          <a:srcRect/>
          <a:stretch>
            <a:fillRect/>
          </a:stretch>
        </p:blipFill>
        <p:spPr bwMode="auto">
          <a:xfrm>
            <a:off x="0" y="762000"/>
            <a:ext cx="9144000" cy="47244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lum bright="-54000" contrast="70000"/>
          </a:blip>
          <a:srcRect/>
          <a:stretch>
            <a:fillRect/>
          </a:stretch>
        </p:blipFill>
        <p:spPr bwMode="auto">
          <a:xfrm>
            <a:off x="228600" y="228600"/>
            <a:ext cx="8915400" cy="6400799"/>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04800"/>
            <a:ext cx="8534400" cy="1143070"/>
          </a:xfrm>
          <a:prstGeom prst="rect">
            <a:avLst/>
          </a:prstGeom>
        </p:spPr>
        <p:txBody>
          <a:bodyPr wrap="square">
            <a:spAutoFit/>
          </a:bodyPr>
          <a:lstStyle/>
          <a:p>
            <a:pPr>
              <a:lnSpc>
                <a:spcPct val="150000"/>
              </a:lnSpc>
            </a:pPr>
            <a:endParaRPr lang="en-US" sz="2400" b="1" dirty="0"/>
          </a:p>
          <a:p>
            <a:pPr>
              <a:lnSpc>
                <a:spcPct val="150000"/>
              </a:lnSpc>
            </a:pPr>
            <a:endParaRPr lang="en-US" sz="2400" b="1" dirty="0"/>
          </a:p>
        </p:txBody>
      </p:sp>
      <p:sp>
        <p:nvSpPr>
          <p:cNvPr id="4" name="Rectangle 3"/>
          <p:cNvSpPr/>
          <p:nvPr/>
        </p:nvSpPr>
        <p:spPr>
          <a:xfrm>
            <a:off x="228600" y="457200"/>
            <a:ext cx="8686800" cy="5078313"/>
          </a:xfrm>
          <a:prstGeom prst="rect">
            <a:avLst/>
          </a:prstGeom>
        </p:spPr>
        <p:txBody>
          <a:bodyPr wrap="square">
            <a:spAutoFit/>
          </a:bodyPr>
          <a:lstStyle/>
          <a:p>
            <a:pPr algn="ctr">
              <a:lnSpc>
                <a:spcPct val="150000"/>
              </a:lnSpc>
            </a:pPr>
            <a:r>
              <a:rPr lang="en-US" sz="2400" b="1" dirty="0">
                <a:solidFill>
                  <a:srgbClr val="FF0000"/>
                </a:solidFill>
              </a:rPr>
              <a:t>DECOMPOSITION OF A TIME SERIES </a:t>
            </a:r>
          </a:p>
          <a:p>
            <a:pPr>
              <a:lnSpc>
                <a:spcPct val="150000"/>
              </a:lnSpc>
            </a:pPr>
            <a:r>
              <a:rPr lang="en-US" sz="2400" b="1" dirty="0">
                <a:solidFill>
                  <a:srgbClr val="FF0000"/>
                </a:solidFill>
              </a:rPr>
              <a:t>Patterns</a:t>
            </a:r>
            <a:r>
              <a:rPr lang="en-US" sz="2400" b="1" dirty="0"/>
              <a:t> that may be present in a time series </a:t>
            </a:r>
          </a:p>
          <a:p>
            <a:pPr>
              <a:lnSpc>
                <a:spcPct val="150000"/>
              </a:lnSpc>
              <a:buFont typeface="Wingdings" pitchFamily="2" charset="2"/>
              <a:buChar char="Ø"/>
            </a:pPr>
            <a:r>
              <a:rPr lang="en-US" sz="2400" b="1" dirty="0">
                <a:solidFill>
                  <a:srgbClr val="FF0000"/>
                </a:solidFill>
              </a:rPr>
              <a:t> Trend: </a:t>
            </a:r>
            <a:r>
              <a:rPr lang="en-US" sz="2400" b="1" dirty="0"/>
              <a:t>Data exhibit a steady growth or decline over time.</a:t>
            </a:r>
          </a:p>
          <a:p>
            <a:pPr>
              <a:lnSpc>
                <a:spcPct val="150000"/>
              </a:lnSpc>
              <a:buFont typeface="Wingdings" pitchFamily="2" charset="2"/>
              <a:buChar char="Ø"/>
            </a:pPr>
            <a:r>
              <a:rPr lang="en-US" sz="2400" b="1" dirty="0">
                <a:solidFill>
                  <a:srgbClr val="FF0000"/>
                </a:solidFill>
              </a:rPr>
              <a:t> Seasonality: </a:t>
            </a:r>
            <a:r>
              <a:rPr lang="en-US" sz="2400" b="1" dirty="0"/>
              <a:t>Data exhibit upward and downward swings in a short to intermediate time frame (most notably during a year). </a:t>
            </a:r>
          </a:p>
          <a:p>
            <a:pPr>
              <a:lnSpc>
                <a:spcPct val="150000"/>
              </a:lnSpc>
              <a:buFont typeface="Wingdings" pitchFamily="2" charset="2"/>
              <a:buChar char="Ø"/>
            </a:pPr>
            <a:r>
              <a:rPr lang="en-US" sz="2400" b="1" dirty="0">
                <a:solidFill>
                  <a:srgbClr val="FF0000"/>
                </a:solidFill>
              </a:rPr>
              <a:t> Cycles: </a:t>
            </a:r>
            <a:r>
              <a:rPr lang="en-US" sz="2400" b="1" dirty="0"/>
              <a:t>Data exhibit upward and downward swings in over a very long time frame. </a:t>
            </a:r>
          </a:p>
          <a:p>
            <a:pPr>
              <a:lnSpc>
                <a:spcPct val="150000"/>
              </a:lnSpc>
              <a:buFont typeface="Wingdings" pitchFamily="2" charset="2"/>
              <a:buChar char="Ø"/>
            </a:pPr>
            <a:r>
              <a:rPr lang="en-US" sz="2400" b="1" dirty="0">
                <a:solidFill>
                  <a:srgbClr val="FF0000"/>
                </a:solidFill>
              </a:rPr>
              <a:t> Random variations: </a:t>
            </a:r>
            <a:r>
              <a:rPr lang="en-US" sz="2400" b="1" dirty="0"/>
              <a:t>Erratic and unpredictable variation in the data over time with no discernable pattern.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7200" y="304800"/>
            <a:ext cx="8534400" cy="830997"/>
          </a:xfrm>
          <a:prstGeom prst="rect">
            <a:avLst/>
          </a:prstGeom>
        </p:spPr>
        <p:txBody>
          <a:bodyPr wrap="square">
            <a:spAutoFit/>
          </a:bodyPr>
          <a:lstStyle/>
          <a:p>
            <a:r>
              <a:rPr lang="en-US" sz="2400" b="1" dirty="0">
                <a:solidFill>
                  <a:srgbClr val="FF0000"/>
                </a:solidFill>
              </a:rPr>
              <a:t>ILLUSTRATION OF TIME SERIES DECOMPOSITION </a:t>
            </a:r>
          </a:p>
          <a:p>
            <a:r>
              <a:rPr lang="en-US" sz="2400" b="1" dirty="0"/>
              <a:t>Hypothetical Pattern of Historical Demand</a:t>
            </a:r>
          </a:p>
        </p:txBody>
      </p:sp>
      <p:pic>
        <p:nvPicPr>
          <p:cNvPr id="4098" name="Picture 2"/>
          <p:cNvPicPr>
            <a:picLocks noChangeAspect="1" noChangeArrowheads="1"/>
          </p:cNvPicPr>
          <p:nvPr/>
        </p:nvPicPr>
        <p:blipFill>
          <a:blip r:embed="rId2">
            <a:lum bright="-67000" contrast="99000"/>
          </a:blip>
          <a:srcRect/>
          <a:stretch>
            <a:fillRect/>
          </a:stretch>
        </p:blipFill>
        <p:spPr bwMode="auto">
          <a:xfrm>
            <a:off x="609600" y="1447800"/>
            <a:ext cx="8153400" cy="41148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lum bright="-72000" contrast="100000"/>
          </a:blip>
          <a:srcRect/>
          <a:stretch>
            <a:fillRect/>
          </a:stretch>
        </p:blipFill>
        <p:spPr bwMode="auto">
          <a:xfrm>
            <a:off x="762000" y="1371600"/>
            <a:ext cx="7924800" cy="40386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lum bright="-53000" contrast="89000"/>
          </a:blip>
          <a:srcRect/>
          <a:stretch>
            <a:fillRect/>
          </a:stretch>
        </p:blipFill>
        <p:spPr bwMode="auto">
          <a:xfrm>
            <a:off x="228600" y="457200"/>
            <a:ext cx="8458200" cy="470535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lum bright="-54000" contrast="80000"/>
          </a:blip>
          <a:srcRect/>
          <a:stretch>
            <a:fillRect/>
          </a:stretch>
        </p:blipFill>
        <p:spPr bwMode="auto">
          <a:xfrm>
            <a:off x="304800" y="304800"/>
            <a:ext cx="8381999" cy="5257799"/>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lum bright="-71000" contrast="100000"/>
          </a:blip>
          <a:srcRect/>
          <a:stretch>
            <a:fillRect/>
          </a:stretch>
        </p:blipFill>
        <p:spPr bwMode="auto">
          <a:xfrm>
            <a:off x="457200" y="457200"/>
            <a:ext cx="8229600" cy="56388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04801"/>
            <a:ext cx="8458200" cy="3913059"/>
          </a:xfrm>
          <a:prstGeom prst="rect">
            <a:avLst/>
          </a:prstGeom>
        </p:spPr>
        <p:txBody>
          <a:bodyPr wrap="square">
            <a:spAutoFit/>
          </a:bodyPr>
          <a:lstStyle/>
          <a:p>
            <a:pPr>
              <a:lnSpc>
                <a:spcPct val="150000"/>
              </a:lnSpc>
            </a:pPr>
            <a:r>
              <a:rPr lang="en-US" sz="2400" b="1" dirty="0">
                <a:solidFill>
                  <a:srgbClr val="FF0000"/>
                </a:solidFill>
              </a:rPr>
              <a:t>ILLUSTRATION OF THE NAÏVE METHOD</a:t>
            </a:r>
          </a:p>
          <a:p>
            <a:pPr>
              <a:lnSpc>
                <a:spcPct val="150000"/>
              </a:lnSpc>
            </a:pPr>
            <a:r>
              <a:rPr lang="en-US" sz="2400" b="1" dirty="0"/>
              <a:t> </a:t>
            </a:r>
            <a:r>
              <a:rPr lang="en-US" sz="2400" b="1" dirty="0">
                <a:solidFill>
                  <a:srgbClr val="FF0000"/>
                </a:solidFill>
              </a:rPr>
              <a:t>Naïve method: </a:t>
            </a:r>
            <a:r>
              <a:rPr lang="en-US" sz="2400" b="1" dirty="0"/>
              <a:t>The </a:t>
            </a:r>
            <a:r>
              <a:rPr lang="en-US" sz="2400" b="1" dirty="0">
                <a:solidFill>
                  <a:srgbClr val="FF0000"/>
                </a:solidFill>
              </a:rPr>
              <a:t>forecast for next period </a:t>
            </a:r>
            <a:r>
              <a:rPr lang="en-US" sz="2400" b="1" dirty="0"/>
              <a:t>(period t+1) will be </a:t>
            </a:r>
            <a:r>
              <a:rPr lang="en-US" sz="2400" b="1" dirty="0">
                <a:solidFill>
                  <a:srgbClr val="FF0000"/>
                </a:solidFill>
              </a:rPr>
              <a:t>equal to this period's actual demand (At). </a:t>
            </a:r>
            <a:r>
              <a:rPr lang="en-US" sz="2400" b="1" dirty="0"/>
              <a:t>In this illustration we </a:t>
            </a:r>
            <a:r>
              <a:rPr lang="en-US" sz="2400" b="1" dirty="0">
                <a:solidFill>
                  <a:srgbClr val="FF0000"/>
                </a:solidFill>
              </a:rPr>
              <a:t>assume</a:t>
            </a:r>
            <a:r>
              <a:rPr lang="en-US" sz="2400" b="1" dirty="0"/>
              <a:t> that each year (beginning with year 2) we made a forecast, then waited to see what demand unfolded during the year. We then made a forecast for the subsequent year, and so on right through to the forecast for year 7.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lum bright="-78000" contrast="100000"/>
          </a:blip>
          <a:srcRect/>
          <a:stretch>
            <a:fillRect/>
          </a:stretch>
        </p:blipFill>
        <p:spPr bwMode="auto">
          <a:xfrm>
            <a:off x="304800" y="228600"/>
            <a:ext cx="8839200" cy="60960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534400" cy="6129050"/>
          </a:xfrm>
          <a:prstGeom prst="rect">
            <a:avLst/>
          </a:prstGeom>
        </p:spPr>
        <p:txBody>
          <a:bodyPr wrap="square">
            <a:spAutoFit/>
          </a:bodyPr>
          <a:lstStyle/>
          <a:p>
            <a:pPr>
              <a:lnSpc>
                <a:spcPct val="150000"/>
              </a:lnSpc>
            </a:pPr>
            <a:r>
              <a:rPr lang="en-US" sz="2400" b="1" dirty="0">
                <a:solidFill>
                  <a:srgbClr val="FF0000"/>
                </a:solidFill>
              </a:rPr>
              <a:t>MEAN (SIMPLE AVERAGE) METHOD </a:t>
            </a:r>
          </a:p>
          <a:p>
            <a:pPr>
              <a:lnSpc>
                <a:spcPct val="150000"/>
              </a:lnSpc>
            </a:pPr>
            <a:r>
              <a:rPr lang="en-US" sz="2400" b="1" dirty="0">
                <a:solidFill>
                  <a:srgbClr val="FF0000"/>
                </a:solidFill>
              </a:rPr>
              <a:t>Mean (simple average) method: </a:t>
            </a:r>
            <a:r>
              <a:rPr lang="en-US" sz="2400" b="1" dirty="0"/>
              <a:t>The forecast for next period (period t+1) will be equal to the </a:t>
            </a:r>
            <a:r>
              <a:rPr lang="en-US" sz="2400" b="1" dirty="0">
                <a:solidFill>
                  <a:srgbClr val="FF0000"/>
                </a:solidFill>
              </a:rPr>
              <a:t>average of all past historical demands.</a:t>
            </a:r>
            <a:r>
              <a:rPr lang="en-US" sz="2400" b="1" dirty="0"/>
              <a:t> In this illustration we assume that a </a:t>
            </a:r>
            <a:r>
              <a:rPr lang="en-US" sz="2400" b="1" dirty="0">
                <a:solidFill>
                  <a:srgbClr val="FF0000"/>
                </a:solidFill>
              </a:rPr>
              <a:t>simple average method</a:t>
            </a:r>
            <a:r>
              <a:rPr lang="en-US" sz="2400" b="1" dirty="0"/>
              <a:t> is being used. We will </a:t>
            </a:r>
            <a:r>
              <a:rPr lang="en-US" sz="2400" b="1" dirty="0">
                <a:solidFill>
                  <a:srgbClr val="FF0000"/>
                </a:solidFill>
              </a:rPr>
              <a:t>also assume </a:t>
            </a:r>
            <a:r>
              <a:rPr lang="en-US" sz="2400" b="1" dirty="0"/>
              <a:t>that, </a:t>
            </a:r>
            <a:r>
              <a:rPr lang="en-US" sz="2400" b="1" dirty="0">
                <a:solidFill>
                  <a:srgbClr val="FF0000"/>
                </a:solidFill>
              </a:rPr>
              <a:t>in the absence of data at startup,</a:t>
            </a:r>
            <a:r>
              <a:rPr lang="en-US" sz="2400" b="1" dirty="0"/>
              <a:t> we made </a:t>
            </a:r>
            <a:r>
              <a:rPr lang="en-US" sz="2400" b="1" dirty="0">
                <a:solidFill>
                  <a:srgbClr val="FF0000"/>
                </a:solidFill>
              </a:rPr>
              <a:t>a guess for the year 1 forecast (300). </a:t>
            </a:r>
            <a:r>
              <a:rPr lang="en-US" sz="2400" b="1" dirty="0"/>
              <a:t>At </a:t>
            </a:r>
            <a:r>
              <a:rPr lang="en-US" sz="2400" b="1" dirty="0">
                <a:solidFill>
                  <a:srgbClr val="FF0000"/>
                </a:solidFill>
              </a:rPr>
              <a:t>the end of year 1 </a:t>
            </a:r>
            <a:r>
              <a:rPr lang="en-US" sz="2400" b="1" dirty="0"/>
              <a:t>we could start using this forecasting method. In this illustration we assume that </a:t>
            </a:r>
            <a:r>
              <a:rPr lang="en-US" sz="2400" b="1" dirty="0">
                <a:solidFill>
                  <a:srgbClr val="FF0000"/>
                </a:solidFill>
              </a:rPr>
              <a:t>each year (beginning with year 2) </a:t>
            </a:r>
            <a:r>
              <a:rPr lang="en-US" sz="2400" b="1" dirty="0"/>
              <a:t>we made a forecast, then waited to see what demand unfolded during the year. We then made a forecast for the subsequent year, and so on right through to the forecast for year 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lum bright="-25000" contrast="38000"/>
          </a:blip>
          <a:srcRect/>
          <a:stretch>
            <a:fillRect/>
          </a:stretch>
        </p:blipFill>
        <p:spPr bwMode="auto">
          <a:xfrm>
            <a:off x="0" y="228600"/>
            <a:ext cx="9144000" cy="57912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10600" cy="6186309"/>
          </a:xfrm>
          <a:prstGeom prst="rect">
            <a:avLst/>
          </a:prstGeom>
        </p:spPr>
        <p:txBody>
          <a:bodyPr wrap="square">
            <a:spAutoFit/>
          </a:bodyPr>
          <a:lstStyle/>
          <a:p>
            <a:pPr>
              <a:lnSpc>
                <a:spcPct val="150000"/>
              </a:lnSpc>
            </a:pPr>
            <a:r>
              <a:rPr lang="en-US" sz="2400" b="1" dirty="0">
                <a:solidFill>
                  <a:srgbClr val="FF0000"/>
                </a:solidFill>
              </a:rPr>
              <a:t>SIMPLE MOVING AVERAGE METHOD </a:t>
            </a:r>
          </a:p>
          <a:p>
            <a:pPr>
              <a:lnSpc>
                <a:spcPct val="150000"/>
              </a:lnSpc>
            </a:pPr>
            <a:r>
              <a:rPr lang="en-US" sz="2400" b="1" dirty="0">
                <a:solidFill>
                  <a:srgbClr val="FF0000"/>
                </a:solidFill>
              </a:rPr>
              <a:t>Simple moving average method: </a:t>
            </a:r>
            <a:r>
              <a:rPr lang="en-US" sz="2400" b="1" dirty="0"/>
              <a:t>The </a:t>
            </a:r>
            <a:r>
              <a:rPr lang="en-US" sz="2400" b="1" dirty="0">
                <a:solidFill>
                  <a:srgbClr val="FF0000"/>
                </a:solidFill>
              </a:rPr>
              <a:t>forecast for next period </a:t>
            </a:r>
            <a:r>
              <a:rPr lang="en-US" sz="2400" b="1" dirty="0"/>
              <a:t>(period t+1) will be equal to the </a:t>
            </a:r>
            <a:r>
              <a:rPr lang="en-US" sz="2400" b="1" dirty="0">
                <a:solidFill>
                  <a:srgbClr val="FF0000"/>
                </a:solidFill>
              </a:rPr>
              <a:t>average of a specified number of the most recent observations, </a:t>
            </a:r>
            <a:r>
              <a:rPr lang="en-US" sz="2400" b="1" dirty="0"/>
              <a:t>with </a:t>
            </a:r>
            <a:r>
              <a:rPr lang="en-US" sz="2400" b="1" dirty="0">
                <a:solidFill>
                  <a:srgbClr val="FF0000"/>
                </a:solidFill>
              </a:rPr>
              <a:t>each observation receiving the same emphasis (weight)</a:t>
            </a:r>
            <a:r>
              <a:rPr lang="en-US" sz="2400" b="1" dirty="0"/>
              <a:t>. In this illustration </a:t>
            </a:r>
            <a:r>
              <a:rPr lang="en-US" sz="2400" b="1" dirty="0">
                <a:solidFill>
                  <a:srgbClr val="FF0000"/>
                </a:solidFill>
              </a:rPr>
              <a:t>we assume that a 2-year simple moving average is being used.</a:t>
            </a:r>
            <a:r>
              <a:rPr lang="en-US" sz="2400" b="1" dirty="0"/>
              <a:t> We will also assume that, </a:t>
            </a:r>
            <a:r>
              <a:rPr lang="en-US" sz="2400" b="1" dirty="0">
                <a:solidFill>
                  <a:srgbClr val="FF0000"/>
                </a:solidFill>
              </a:rPr>
              <a:t>in the absence of data at startup</a:t>
            </a:r>
            <a:r>
              <a:rPr lang="en-US" sz="2400" b="1" dirty="0"/>
              <a:t>, we made a </a:t>
            </a:r>
            <a:r>
              <a:rPr lang="en-US" sz="2400" b="1" dirty="0">
                <a:solidFill>
                  <a:srgbClr val="FF0000"/>
                </a:solidFill>
              </a:rPr>
              <a:t>guess</a:t>
            </a:r>
            <a:r>
              <a:rPr lang="en-US" sz="2400" b="1" dirty="0"/>
              <a:t> for the </a:t>
            </a:r>
            <a:r>
              <a:rPr lang="en-US" sz="2400" b="1" dirty="0">
                <a:solidFill>
                  <a:srgbClr val="FF0000"/>
                </a:solidFill>
              </a:rPr>
              <a:t>year 1 forecast (300). </a:t>
            </a:r>
            <a:r>
              <a:rPr lang="en-US" sz="2400" b="1" dirty="0"/>
              <a:t>Then, after year 1 elapsed, we made a forecast for year 2 using a </a:t>
            </a:r>
            <a:r>
              <a:rPr lang="en-US" sz="2400" b="1" dirty="0">
                <a:solidFill>
                  <a:srgbClr val="FF0000"/>
                </a:solidFill>
              </a:rPr>
              <a:t>naïve method (310). Beyond that </a:t>
            </a:r>
            <a:r>
              <a:rPr lang="en-US" sz="2400" b="1" dirty="0"/>
              <a:t>point </a:t>
            </a:r>
            <a:r>
              <a:rPr lang="en-US" sz="2400" b="1" dirty="0">
                <a:solidFill>
                  <a:srgbClr val="FF0000"/>
                </a:solidFill>
              </a:rPr>
              <a:t>we had sufficient data </a:t>
            </a:r>
            <a:r>
              <a:rPr lang="en-US" sz="2400" b="1" dirty="0"/>
              <a:t>to let our </a:t>
            </a:r>
            <a:r>
              <a:rPr lang="en-US" sz="2400" b="1" dirty="0">
                <a:solidFill>
                  <a:srgbClr val="FF0000"/>
                </a:solidFill>
              </a:rPr>
              <a:t>2-year simple moving average </a:t>
            </a:r>
            <a:r>
              <a:rPr lang="en-US" sz="2400" b="1" dirty="0"/>
              <a:t>forecasts unfold throughout the years.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lum bright="-63000" contrast="78000"/>
          </a:blip>
          <a:srcRect/>
          <a:stretch>
            <a:fillRect/>
          </a:stretch>
        </p:blipFill>
        <p:spPr bwMode="auto">
          <a:xfrm>
            <a:off x="228600" y="304800"/>
            <a:ext cx="8915400" cy="57150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81000"/>
            <a:ext cx="8458200" cy="4467057"/>
          </a:xfrm>
          <a:prstGeom prst="rect">
            <a:avLst/>
          </a:prstGeom>
        </p:spPr>
        <p:txBody>
          <a:bodyPr wrap="square">
            <a:spAutoFit/>
          </a:bodyPr>
          <a:lstStyle/>
          <a:p>
            <a:pPr>
              <a:lnSpc>
                <a:spcPct val="150000"/>
              </a:lnSpc>
            </a:pPr>
            <a:r>
              <a:rPr lang="en-US" sz="2400" b="1" dirty="0">
                <a:solidFill>
                  <a:srgbClr val="FF0000"/>
                </a:solidFill>
              </a:rPr>
              <a:t>ANOTHER SIMPLE MOVING AVERAGE ILLUSTRATION </a:t>
            </a:r>
          </a:p>
          <a:p>
            <a:pPr>
              <a:lnSpc>
                <a:spcPct val="150000"/>
              </a:lnSpc>
            </a:pPr>
            <a:r>
              <a:rPr lang="en-US" sz="2400" b="1" dirty="0"/>
              <a:t>In this illustration </a:t>
            </a:r>
            <a:r>
              <a:rPr lang="en-US" sz="2400" b="1" dirty="0">
                <a:solidFill>
                  <a:srgbClr val="FF0000"/>
                </a:solidFill>
              </a:rPr>
              <a:t>we assume </a:t>
            </a:r>
            <a:r>
              <a:rPr lang="en-US" sz="2400" b="1" dirty="0"/>
              <a:t>that a </a:t>
            </a:r>
            <a:r>
              <a:rPr lang="en-US" sz="2400" b="1" dirty="0">
                <a:solidFill>
                  <a:srgbClr val="FF0000"/>
                </a:solidFill>
              </a:rPr>
              <a:t>3-year simple moving average is being used</a:t>
            </a:r>
            <a:r>
              <a:rPr lang="en-US" sz="2400" b="1" dirty="0"/>
              <a:t>. We will also assume that, in the absence of data at startup, we made a guess for the year 1 forecast (300). Then, after year 1 elapsed, we used a naïve method to make a forecast for year 2 (310) and year 3 (365). Beyond that point we had sufficient data to let our </a:t>
            </a:r>
            <a:r>
              <a:rPr lang="en-US" sz="2400" b="1" dirty="0">
                <a:solidFill>
                  <a:srgbClr val="FF0000"/>
                </a:solidFill>
              </a:rPr>
              <a:t>3-year simple moving average </a:t>
            </a:r>
            <a:r>
              <a:rPr lang="en-US" sz="2400" b="1" dirty="0"/>
              <a:t>forecasts unfold throughout the years.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lum bright="-72000" contrast="88000"/>
          </a:blip>
          <a:srcRect/>
          <a:stretch>
            <a:fillRect/>
          </a:stretch>
        </p:blipFill>
        <p:spPr bwMode="auto">
          <a:xfrm>
            <a:off x="228600" y="304800"/>
            <a:ext cx="8915400" cy="57912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0"/>
            <a:ext cx="8534400" cy="6987849"/>
          </a:xfrm>
          <a:prstGeom prst="rect">
            <a:avLst/>
          </a:prstGeom>
        </p:spPr>
        <p:txBody>
          <a:bodyPr wrap="square">
            <a:spAutoFit/>
          </a:bodyPr>
          <a:lstStyle/>
          <a:p>
            <a:pPr>
              <a:lnSpc>
                <a:spcPct val="150000"/>
              </a:lnSpc>
            </a:pPr>
            <a:r>
              <a:rPr lang="en-US" sz="2400" b="1" dirty="0">
                <a:solidFill>
                  <a:srgbClr val="FF0000"/>
                </a:solidFill>
              </a:rPr>
              <a:t>WEIGHTED MOVING AVERAGE METHOD </a:t>
            </a:r>
          </a:p>
          <a:p>
            <a:pPr>
              <a:lnSpc>
                <a:spcPct val="150000"/>
              </a:lnSpc>
            </a:pPr>
            <a:r>
              <a:rPr lang="en-US" sz="2400" b="1" dirty="0">
                <a:solidFill>
                  <a:srgbClr val="FF0000"/>
                </a:solidFill>
              </a:rPr>
              <a:t>Weighted moving average method: </a:t>
            </a:r>
            <a:r>
              <a:rPr lang="en-US" sz="2400" b="1" dirty="0"/>
              <a:t>The </a:t>
            </a:r>
            <a:r>
              <a:rPr lang="en-US" sz="2400" b="1" dirty="0">
                <a:solidFill>
                  <a:srgbClr val="FF0000"/>
                </a:solidFill>
              </a:rPr>
              <a:t>forecast for next period (period t+1) will be equal to a weighted average of a specified number of the most recent observations.</a:t>
            </a:r>
            <a:r>
              <a:rPr lang="en-US" sz="2400" b="1" dirty="0"/>
              <a:t> In this illustration we assume that a </a:t>
            </a:r>
            <a:r>
              <a:rPr lang="en-US" sz="2400" b="1" dirty="0">
                <a:solidFill>
                  <a:srgbClr val="FF0000"/>
                </a:solidFill>
              </a:rPr>
              <a:t>3-year weighted moving average </a:t>
            </a:r>
            <a:r>
              <a:rPr lang="en-US" sz="2400" b="1" dirty="0"/>
              <a:t>is being used. We will also assume that, in the </a:t>
            </a:r>
            <a:r>
              <a:rPr lang="en-US" sz="2400" b="1" dirty="0">
                <a:solidFill>
                  <a:srgbClr val="FF0000"/>
                </a:solidFill>
              </a:rPr>
              <a:t>absence of data at startup</a:t>
            </a:r>
            <a:r>
              <a:rPr lang="en-US" sz="2400" b="1" dirty="0"/>
              <a:t>, we made a </a:t>
            </a:r>
            <a:r>
              <a:rPr lang="en-US" sz="2400" b="1" dirty="0">
                <a:solidFill>
                  <a:srgbClr val="FF0000"/>
                </a:solidFill>
              </a:rPr>
              <a:t>guess for the year 1 </a:t>
            </a:r>
            <a:r>
              <a:rPr lang="en-US" sz="2400" b="1" dirty="0"/>
              <a:t>forecast (300). Then, after year 1 elapsed, we used a </a:t>
            </a:r>
            <a:r>
              <a:rPr lang="en-US" sz="2400" b="1" dirty="0">
                <a:solidFill>
                  <a:srgbClr val="FF0000"/>
                </a:solidFill>
              </a:rPr>
              <a:t>naïve method </a:t>
            </a:r>
            <a:r>
              <a:rPr lang="en-US" sz="2400" b="1" dirty="0"/>
              <a:t>to make a forecast for year 2 (310) and year 3 (365). Beyond that point we had sufficient data to let our 3-year weighted moving average forecasts unfold throughout the years. The </a:t>
            </a:r>
            <a:r>
              <a:rPr lang="en-US" sz="2400" b="1" dirty="0">
                <a:solidFill>
                  <a:srgbClr val="FF0000"/>
                </a:solidFill>
              </a:rPr>
              <a:t>weights that were to be used are as follows</a:t>
            </a:r>
            <a:r>
              <a:rPr lang="en-US" sz="2400" b="1" dirty="0"/>
              <a:t>: </a:t>
            </a:r>
            <a:r>
              <a:rPr lang="en-US" sz="2400" b="1" dirty="0">
                <a:solidFill>
                  <a:srgbClr val="FF0000"/>
                </a:solidFill>
              </a:rPr>
              <a:t>Most recent year, .5</a:t>
            </a:r>
            <a:r>
              <a:rPr lang="en-US" sz="2400" b="1" dirty="0"/>
              <a:t>; </a:t>
            </a:r>
            <a:r>
              <a:rPr lang="en-US" sz="2400" b="1" dirty="0">
                <a:solidFill>
                  <a:srgbClr val="FF0000"/>
                </a:solidFill>
              </a:rPr>
              <a:t>year prior to that, .3</a:t>
            </a:r>
            <a:r>
              <a:rPr lang="en-US" sz="2400" b="1" dirty="0"/>
              <a:t>; </a:t>
            </a:r>
            <a:r>
              <a:rPr lang="en-US" sz="2400" b="1" dirty="0">
                <a:solidFill>
                  <a:srgbClr val="FF0000"/>
                </a:solidFill>
              </a:rPr>
              <a:t>year prior to that, .2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lum bright="-59000" contrast="80000"/>
          </a:blip>
          <a:srcRect/>
          <a:stretch>
            <a:fillRect/>
          </a:stretch>
        </p:blipFill>
        <p:spPr bwMode="auto">
          <a:xfrm>
            <a:off x="1066800" y="203662"/>
            <a:ext cx="7391399" cy="6450676"/>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4F1E8D-F8C0-6C53-7869-80823C2827F3}"/>
              </a:ext>
            </a:extLst>
          </p:cNvPr>
          <p:cNvSpPr txBox="1"/>
          <p:nvPr/>
        </p:nvSpPr>
        <p:spPr>
          <a:xfrm>
            <a:off x="152400" y="0"/>
            <a:ext cx="8839200" cy="6740307"/>
          </a:xfrm>
          <a:prstGeom prst="rect">
            <a:avLst/>
          </a:prstGeom>
          <a:noFill/>
        </p:spPr>
        <p:txBody>
          <a:bodyPr wrap="square">
            <a:spAutoFit/>
          </a:bodyPr>
          <a:lstStyle/>
          <a:p>
            <a:r>
              <a:rPr lang="en-IN" sz="2400" b="1" dirty="0">
                <a:solidFill>
                  <a:srgbClr val="FF0000"/>
                </a:solidFill>
              </a:rPr>
              <a:t>EXPONENTIAL SMOOTHING METHOD </a:t>
            </a:r>
          </a:p>
          <a:p>
            <a:r>
              <a:rPr lang="en-US" sz="2400" b="1" dirty="0"/>
              <a:t>Exponential smoothing method: The new forecast for next period (period t) will be calculated as follows: </a:t>
            </a:r>
          </a:p>
          <a:p>
            <a:r>
              <a:rPr lang="en-US" sz="2400" b="1" dirty="0"/>
              <a:t>New forecast = Last period’s forecast + </a:t>
            </a:r>
            <a:r>
              <a:rPr lang="el-GR" sz="2400" b="1" dirty="0"/>
              <a:t>α</a:t>
            </a:r>
            <a:r>
              <a:rPr lang="en-US" sz="2400" b="1" dirty="0"/>
              <a:t> Last period’s actual demand – Last period’s forecast) (this box contains all you need to know to apply exponential smoothing) </a:t>
            </a:r>
          </a:p>
          <a:p>
            <a:r>
              <a:rPr lang="en-IN" sz="2400" b="1" dirty="0"/>
              <a:t>Ft = Ft-1 +</a:t>
            </a:r>
            <a:r>
              <a:rPr lang="el-GR" sz="2400" b="1" dirty="0"/>
              <a:t> α</a:t>
            </a:r>
            <a:r>
              <a:rPr lang="en-IN" sz="2400" b="1" dirty="0"/>
              <a:t>(At-1 – Ft-1) (equation 1) </a:t>
            </a:r>
          </a:p>
          <a:p>
            <a:r>
              <a:rPr lang="en-US" sz="2400" b="1" dirty="0"/>
              <a:t>Ft = </a:t>
            </a:r>
            <a:r>
              <a:rPr lang="el-GR" sz="2400" b="1" dirty="0"/>
              <a:t>α </a:t>
            </a:r>
            <a:r>
              <a:rPr lang="en-US" sz="2400" b="1" dirty="0"/>
              <a:t>At-1 + (1-</a:t>
            </a:r>
            <a:r>
              <a:rPr lang="el-GR" sz="2400" b="1" dirty="0"/>
              <a:t> α</a:t>
            </a:r>
            <a:r>
              <a:rPr lang="en-US" sz="2400" b="1" dirty="0"/>
              <a:t>)Ft-1 (alternate equation 1 – a bit more user friendly) </a:t>
            </a:r>
          </a:p>
          <a:p>
            <a:r>
              <a:rPr lang="en-US" sz="2400" b="1" dirty="0"/>
              <a:t>Where </a:t>
            </a:r>
            <a:r>
              <a:rPr lang="el-GR" sz="2400" b="1" dirty="0"/>
              <a:t>α</a:t>
            </a:r>
            <a:r>
              <a:rPr lang="en-US" sz="2400" b="1" dirty="0"/>
              <a:t> is a smoothing coefficient whose value is between 0 and 1. </a:t>
            </a:r>
          </a:p>
          <a:p>
            <a:r>
              <a:rPr lang="en-US" sz="2400" b="1" dirty="0"/>
              <a:t>	The exponential smoothing method only requires that you dig up two pieces of data to apply it (the most recent actual demand and the most recent forecast). </a:t>
            </a:r>
          </a:p>
          <a:p>
            <a:r>
              <a:rPr lang="en-US" sz="2400" b="1" dirty="0"/>
              <a:t>	An attractive feature of this method is that forecasts made with this model will include a portion of every piece of historical demand. Furthermore, there will be different weights placed on these historical demand values, with older data receiving lower weights. </a:t>
            </a:r>
            <a:r>
              <a:rPr lang="en-US" sz="2400" b="0" i="0" u="none" strike="noStrike" baseline="0" dirty="0">
                <a:solidFill>
                  <a:srgbClr val="000000"/>
                </a:solidFill>
                <a:latin typeface="Times New Roman" panose="02020603050405020304" pitchFamily="18" charset="0"/>
              </a:rPr>
              <a:t>	</a:t>
            </a:r>
          </a:p>
        </p:txBody>
      </p:sp>
    </p:spTree>
    <p:extLst>
      <p:ext uri="{BB962C8B-B14F-4D97-AF65-F5344CB8AC3E}">
        <p14:creationId xmlns:p14="http://schemas.microsoft.com/office/powerpoint/2010/main" val="23758111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F4673E-70AC-7D50-EE28-95C528837341}"/>
              </a:ext>
            </a:extLst>
          </p:cNvPr>
          <p:cNvSpPr txBox="1"/>
          <p:nvPr/>
        </p:nvSpPr>
        <p:spPr>
          <a:xfrm>
            <a:off x="0" y="0"/>
            <a:ext cx="9144000" cy="3046988"/>
          </a:xfrm>
          <a:prstGeom prst="rect">
            <a:avLst/>
          </a:prstGeom>
          <a:noFill/>
        </p:spPr>
        <p:txBody>
          <a:bodyPr wrap="square">
            <a:spAutoFit/>
          </a:bodyPr>
          <a:lstStyle/>
          <a:p>
            <a:r>
              <a:rPr lang="en-US" sz="2400" b="1" dirty="0">
                <a:solidFill>
                  <a:srgbClr val="FF0000"/>
                </a:solidFill>
              </a:rPr>
              <a:t>EXPONENTIAL SMOOTHING ILLUSTRATION</a:t>
            </a:r>
          </a:p>
          <a:p>
            <a:r>
              <a:rPr lang="en-US" sz="2400" b="1" dirty="0"/>
              <a:t>In this illustration we assume that, in the absence of data at startup, we made a guess for the year 1 forecast (300). Then, for each subsequent year (beginning with year 2) we made a forecast using the exponential smoothing model. After the forecast was made, we waited to see what demand unfolded during the year. We then made a forecast for the subsequent year, and so on right through to the forecast for year 7.</a:t>
            </a:r>
          </a:p>
        </p:txBody>
      </p:sp>
    </p:spTree>
    <p:extLst>
      <p:ext uri="{BB962C8B-B14F-4D97-AF65-F5344CB8AC3E}">
        <p14:creationId xmlns:p14="http://schemas.microsoft.com/office/powerpoint/2010/main" val="16631611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C684BBC-1A9F-BA96-70C0-C56EFB6F0889}"/>
              </a:ext>
            </a:extLst>
          </p:cNvPr>
          <p:cNvSpPr txBox="1"/>
          <p:nvPr/>
        </p:nvSpPr>
        <p:spPr>
          <a:xfrm>
            <a:off x="0" y="0"/>
            <a:ext cx="9144000" cy="1477328"/>
          </a:xfrm>
          <a:prstGeom prst="rect">
            <a:avLst/>
          </a:prstGeom>
          <a:noFill/>
        </p:spPr>
        <p:txBody>
          <a:bodyPr wrap="square">
            <a:spAutoFit/>
          </a:bodyPr>
          <a:lstStyle/>
          <a:p>
            <a:r>
              <a:rPr lang="en-US" sz="1800" b="1" i="0" u="none" strike="noStrike" baseline="0" dirty="0">
                <a:solidFill>
                  <a:srgbClr val="000000"/>
                </a:solidFill>
                <a:latin typeface="Times New Roman" panose="02020603050405020304" pitchFamily="18" charset="0"/>
              </a:rPr>
              <a:t>This set of forecasts was made using an </a:t>
            </a:r>
            <a:r>
              <a:rPr lang="en-US" sz="1800" b="0" i="0" u="none" strike="noStrike" baseline="0" dirty="0">
                <a:solidFill>
                  <a:srgbClr val="000000"/>
                </a:solidFill>
                <a:latin typeface="Times New Roman" panose="02020603050405020304" pitchFamily="18" charset="0"/>
              </a:rPr>
              <a:t> </a:t>
            </a:r>
            <a:r>
              <a:rPr lang="en-US" sz="1800" b="1" i="0" u="none" strike="noStrike" baseline="0" dirty="0">
                <a:solidFill>
                  <a:srgbClr val="000000"/>
                </a:solidFill>
                <a:latin typeface="Times New Roman" panose="02020603050405020304" pitchFamily="18" charset="0"/>
              </a:rPr>
              <a:t>value of .1 </a:t>
            </a:r>
          </a:p>
          <a:p>
            <a:endParaRPr lang="en-US" b="1" dirty="0">
              <a:solidFill>
                <a:srgbClr val="000000"/>
              </a:solidFill>
              <a:latin typeface="Times New Roman" panose="02020603050405020304" pitchFamily="18" charset="0"/>
            </a:endParaRPr>
          </a:p>
          <a:p>
            <a:endParaRPr lang="en-US" b="1" dirty="0">
              <a:solidFill>
                <a:srgbClr val="000000"/>
              </a:solidFill>
              <a:latin typeface="Times New Roman" panose="02020603050405020304" pitchFamily="18" charset="0"/>
            </a:endParaRPr>
          </a:p>
          <a:p>
            <a:endParaRPr lang="en-US" b="1" dirty="0">
              <a:solidFill>
                <a:srgbClr val="000000"/>
              </a:solidFill>
              <a:latin typeface="Times New Roman" panose="02020603050405020304" pitchFamily="18" charset="0"/>
            </a:endParaRPr>
          </a:p>
          <a:p>
            <a:endParaRPr lang="en-IN" dirty="0"/>
          </a:p>
        </p:txBody>
      </p:sp>
      <p:pic>
        <p:nvPicPr>
          <p:cNvPr id="8" name="Picture 7">
            <a:extLst>
              <a:ext uri="{FF2B5EF4-FFF2-40B4-BE49-F238E27FC236}">
                <a16:creationId xmlns:a16="http://schemas.microsoft.com/office/drawing/2014/main" id="{B6363383-BCB2-6346-3CBD-A7FCA7482F12}"/>
              </a:ext>
            </a:extLst>
          </p:cNvPr>
          <p:cNvPicPr>
            <a:picLocks noChangeAspect="1"/>
          </p:cNvPicPr>
          <p:nvPr/>
        </p:nvPicPr>
        <p:blipFill>
          <a:blip r:embed="rId2"/>
          <a:stretch>
            <a:fillRect/>
          </a:stretch>
        </p:blipFill>
        <p:spPr>
          <a:xfrm>
            <a:off x="341194" y="1477328"/>
            <a:ext cx="8802806" cy="4060737"/>
          </a:xfrm>
          <a:prstGeom prst="rect">
            <a:avLst/>
          </a:prstGeom>
        </p:spPr>
      </p:pic>
    </p:spTree>
    <p:extLst>
      <p:ext uri="{BB962C8B-B14F-4D97-AF65-F5344CB8AC3E}">
        <p14:creationId xmlns:p14="http://schemas.microsoft.com/office/powerpoint/2010/main" val="3643353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852CD5-1209-9622-5F48-3BB7046D3E55}"/>
              </a:ext>
            </a:extLst>
          </p:cNvPr>
          <p:cNvSpPr txBox="1"/>
          <p:nvPr/>
        </p:nvSpPr>
        <p:spPr>
          <a:xfrm>
            <a:off x="0" y="1066800"/>
            <a:ext cx="9144000" cy="3046988"/>
          </a:xfrm>
          <a:prstGeom prst="rect">
            <a:avLst/>
          </a:prstGeom>
          <a:noFill/>
        </p:spPr>
        <p:txBody>
          <a:bodyPr wrap="square">
            <a:spAutoFit/>
          </a:bodyPr>
          <a:lstStyle/>
          <a:p>
            <a:r>
              <a:rPr lang="en-US" sz="2400" b="1" dirty="0">
                <a:solidFill>
                  <a:srgbClr val="FF0000"/>
                </a:solidFill>
              </a:rPr>
              <a:t>A SECOND EXPONENTIAL SMOOTHING ILLUSTRATION </a:t>
            </a:r>
          </a:p>
          <a:p>
            <a:r>
              <a:rPr lang="en-US" sz="2400" b="1" dirty="0"/>
              <a:t>In this illustration we assume that, in the absence of data at startup, we made a guess for the year 1 forecast (300). Then, for each subsequent year (beginning with year 2) we made a forecast using the exponential smoothing model. After the forecast was made, we waited to see what demand unfolded during the year. We then made a forecast for the subsequent year, and so on right through to the forecast for year 7. </a:t>
            </a:r>
            <a:endParaRPr lang="en-IN" sz="2400" b="1" dirty="0"/>
          </a:p>
        </p:txBody>
      </p:sp>
    </p:spTree>
    <p:extLst>
      <p:ext uri="{BB962C8B-B14F-4D97-AF65-F5344CB8AC3E}">
        <p14:creationId xmlns:p14="http://schemas.microsoft.com/office/powerpoint/2010/main" val="11893668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369F3B-EDCE-4FBD-F2FD-C93C248BE382}"/>
              </a:ext>
            </a:extLst>
          </p:cNvPr>
          <p:cNvPicPr>
            <a:picLocks noChangeAspect="1"/>
          </p:cNvPicPr>
          <p:nvPr/>
        </p:nvPicPr>
        <p:blipFill>
          <a:blip r:embed="rId2"/>
          <a:stretch>
            <a:fillRect/>
          </a:stretch>
        </p:blipFill>
        <p:spPr>
          <a:xfrm>
            <a:off x="0" y="1185334"/>
            <a:ext cx="9144000" cy="4487333"/>
          </a:xfrm>
          <a:prstGeom prst="rect">
            <a:avLst/>
          </a:prstGeom>
        </p:spPr>
      </p:pic>
    </p:spTree>
    <p:extLst>
      <p:ext uri="{BB962C8B-B14F-4D97-AF65-F5344CB8AC3E}">
        <p14:creationId xmlns:p14="http://schemas.microsoft.com/office/powerpoint/2010/main" val="30687430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5584E9-86B2-0096-EA28-E7FF728B567B}"/>
              </a:ext>
            </a:extLst>
          </p:cNvPr>
          <p:cNvSpPr txBox="1"/>
          <p:nvPr/>
        </p:nvSpPr>
        <p:spPr>
          <a:xfrm>
            <a:off x="0" y="762000"/>
            <a:ext cx="9144000" cy="3046988"/>
          </a:xfrm>
          <a:prstGeom prst="rect">
            <a:avLst/>
          </a:prstGeom>
          <a:noFill/>
        </p:spPr>
        <p:txBody>
          <a:bodyPr wrap="square">
            <a:spAutoFit/>
          </a:bodyPr>
          <a:lstStyle/>
          <a:p>
            <a:r>
              <a:rPr lang="en-US" sz="2400" b="1" i="0" u="none" strike="noStrike" baseline="0" dirty="0">
                <a:solidFill>
                  <a:srgbClr val="FF0000"/>
                </a:solidFill>
                <a:latin typeface="Times New Roman" panose="02020603050405020304" pitchFamily="18" charset="0"/>
              </a:rPr>
              <a:t>A THIRD EXPONENTIAL SMOOTHING ILLUSTRATION </a:t>
            </a:r>
            <a:endParaRPr lang="en-US" sz="2400" b="0" i="0" u="none" strike="noStrike" baseline="0" dirty="0">
              <a:solidFill>
                <a:srgbClr val="FF0000"/>
              </a:solidFill>
              <a:latin typeface="Times New Roman" panose="02020603050405020304" pitchFamily="18" charset="0"/>
            </a:endParaRPr>
          </a:p>
          <a:p>
            <a:r>
              <a:rPr lang="en-US" sz="2400" b="1" dirty="0"/>
              <a:t>In this illustration we assume that, in the absence of data at startup, we made a guess for the year 1 forecast (300). Then, for each subsequent year (beginning with year 2) we made a forecast using the exponential smoothing model. After the forecast was made, we waited to see what demand unfolded during the year. We then made a forecast for the subsequent year, and so on right through to the forecast for year 7. </a:t>
            </a:r>
            <a:endParaRPr lang="en-IN" sz="2400" b="1" dirty="0"/>
          </a:p>
        </p:txBody>
      </p:sp>
    </p:spTree>
    <p:extLst>
      <p:ext uri="{BB962C8B-B14F-4D97-AF65-F5344CB8AC3E}">
        <p14:creationId xmlns:p14="http://schemas.microsoft.com/office/powerpoint/2010/main" val="24720100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BEE187-2151-0D3C-6EB0-4C771E2A3C1B}"/>
              </a:ext>
            </a:extLst>
          </p:cNvPr>
          <p:cNvPicPr>
            <a:picLocks noChangeAspect="1"/>
          </p:cNvPicPr>
          <p:nvPr/>
        </p:nvPicPr>
        <p:blipFill>
          <a:blip r:embed="rId2"/>
          <a:stretch>
            <a:fillRect/>
          </a:stretch>
        </p:blipFill>
        <p:spPr>
          <a:xfrm>
            <a:off x="1428750" y="547687"/>
            <a:ext cx="6286500" cy="5762625"/>
          </a:xfrm>
          <a:prstGeom prst="rect">
            <a:avLst/>
          </a:prstGeom>
        </p:spPr>
      </p:pic>
      <p:pic>
        <p:nvPicPr>
          <p:cNvPr id="7" name="Picture 6">
            <a:extLst>
              <a:ext uri="{FF2B5EF4-FFF2-40B4-BE49-F238E27FC236}">
                <a16:creationId xmlns:a16="http://schemas.microsoft.com/office/drawing/2014/main" id="{EC091B25-2ACB-54FA-1ED6-A1F01C6E04A0}"/>
              </a:ext>
            </a:extLst>
          </p:cNvPr>
          <p:cNvPicPr>
            <a:picLocks noChangeAspect="1"/>
          </p:cNvPicPr>
          <p:nvPr/>
        </p:nvPicPr>
        <p:blipFill>
          <a:blip r:embed="rId2"/>
          <a:stretch>
            <a:fillRect/>
          </a:stretch>
        </p:blipFill>
        <p:spPr>
          <a:xfrm>
            <a:off x="831274" y="0"/>
            <a:ext cx="7481453" cy="6858000"/>
          </a:xfrm>
          <a:prstGeom prst="rect">
            <a:avLst/>
          </a:prstGeom>
        </p:spPr>
      </p:pic>
    </p:spTree>
    <p:extLst>
      <p:ext uri="{BB962C8B-B14F-4D97-AF65-F5344CB8AC3E}">
        <p14:creationId xmlns:p14="http://schemas.microsoft.com/office/powerpoint/2010/main" val="63719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A1780F-64A3-F91D-1AC5-B6181913098D}"/>
              </a:ext>
            </a:extLst>
          </p:cNvPr>
          <p:cNvSpPr txBox="1"/>
          <p:nvPr/>
        </p:nvSpPr>
        <p:spPr>
          <a:xfrm>
            <a:off x="0" y="848342"/>
            <a:ext cx="9144000" cy="4893647"/>
          </a:xfrm>
          <a:prstGeom prst="rect">
            <a:avLst/>
          </a:prstGeom>
          <a:noFill/>
        </p:spPr>
        <p:txBody>
          <a:bodyPr wrap="square">
            <a:spAutoFit/>
          </a:bodyPr>
          <a:lstStyle/>
          <a:p>
            <a:r>
              <a:rPr lang="en-IN" sz="2400" b="1" i="0" u="none" strike="noStrike" baseline="0" dirty="0">
                <a:solidFill>
                  <a:srgbClr val="FF0000"/>
                </a:solidFill>
                <a:latin typeface="Times New Roman" panose="02020603050405020304" pitchFamily="18" charset="0"/>
              </a:rPr>
              <a:t>TREND PROJECTION </a:t>
            </a:r>
            <a:endParaRPr lang="en-IN" sz="2400" b="0" i="0" u="none" strike="noStrike" baseline="0" dirty="0">
              <a:solidFill>
                <a:srgbClr val="FF0000"/>
              </a:solidFill>
              <a:latin typeface="Times New Roman" panose="02020603050405020304" pitchFamily="18" charset="0"/>
            </a:endParaRPr>
          </a:p>
          <a:p>
            <a:r>
              <a:rPr lang="en-US" sz="2400" b="1" dirty="0"/>
              <a:t>Trend projection method: This method is a version of the linear regression technique. It attempts to draw a straight line through the historical data points in a fashion that comes as close to the points as possible. (Technically, the approach attempts to reduce the vertical deviations of the points from the trend line, and does this by minimizing the squared values of the deviations of the points from the line). Ultimately, the statistical formulas compute a slope for the trend line (b) and the point where the line crosses the y-axis (a). This results in the straight line equation </a:t>
            </a:r>
          </a:p>
          <a:p>
            <a:r>
              <a:rPr lang="en-IN" sz="2400" b="1" dirty="0"/>
              <a:t>Y = a + </a:t>
            </a:r>
            <a:r>
              <a:rPr lang="en-IN" sz="2400" b="1" dirty="0" err="1"/>
              <a:t>bX</a:t>
            </a:r>
            <a:r>
              <a:rPr lang="en-IN" sz="2400" b="1" dirty="0"/>
              <a:t> </a:t>
            </a:r>
          </a:p>
          <a:p>
            <a:r>
              <a:rPr lang="en-US" sz="2400" b="1" dirty="0"/>
              <a:t>Where X represents the values on the horizontal axis (time), and Y represents the values on the vertical axis (demand). </a:t>
            </a:r>
            <a:endParaRPr lang="en-IN" sz="2400" b="1" dirty="0"/>
          </a:p>
        </p:txBody>
      </p:sp>
    </p:spTree>
    <p:extLst>
      <p:ext uri="{BB962C8B-B14F-4D97-AF65-F5344CB8AC3E}">
        <p14:creationId xmlns:p14="http://schemas.microsoft.com/office/powerpoint/2010/main" val="42123717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7401AA-99C6-0FC4-666A-40FDC2A8C158}"/>
              </a:ext>
            </a:extLst>
          </p:cNvPr>
          <p:cNvSpPr txBox="1"/>
          <p:nvPr/>
        </p:nvSpPr>
        <p:spPr>
          <a:xfrm>
            <a:off x="0" y="304800"/>
            <a:ext cx="9144000" cy="4524315"/>
          </a:xfrm>
          <a:prstGeom prst="rect">
            <a:avLst/>
          </a:prstGeom>
          <a:noFill/>
        </p:spPr>
        <p:txBody>
          <a:bodyPr wrap="square">
            <a:spAutoFit/>
          </a:bodyPr>
          <a:lstStyle/>
          <a:p>
            <a:r>
              <a:rPr lang="en-US" sz="2400" b="1" dirty="0"/>
              <a:t>For the demonstration data, computations for b and a reveal the following </a:t>
            </a:r>
          </a:p>
          <a:p>
            <a:r>
              <a:rPr lang="en-IN" sz="2400" b="1" dirty="0"/>
              <a:t>b = 30 </a:t>
            </a:r>
          </a:p>
          <a:p>
            <a:r>
              <a:rPr lang="en-IN" sz="2400" b="1" dirty="0"/>
              <a:t>a = 295 </a:t>
            </a:r>
          </a:p>
          <a:p>
            <a:r>
              <a:rPr lang="en-IN" sz="2400" b="1" dirty="0"/>
              <a:t>Y = 295 + 30X </a:t>
            </a:r>
          </a:p>
          <a:p>
            <a:r>
              <a:rPr lang="en-US" sz="2400" b="1" dirty="0"/>
              <a:t>This equation can be used to forecast for any year into the future. For example: </a:t>
            </a:r>
          </a:p>
          <a:p>
            <a:r>
              <a:rPr lang="en-US" sz="2400" b="1" dirty="0"/>
              <a:t>Year 7: Forecast = 295 + 30(7) = 505 </a:t>
            </a:r>
          </a:p>
          <a:p>
            <a:r>
              <a:rPr lang="en-US" sz="2400" b="1" dirty="0"/>
              <a:t>Year 8: Forecast = 295 + 30(8) = 535 </a:t>
            </a:r>
          </a:p>
          <a:p>
            <a:r>
              <a:rPr lang="en-US" sz="2400" b="1" dirty="0"/>
              <a:t>Year 9: Forecast = 295 + 30(9) = 565 </a:t>
            </a:r>
          </a:p>
          <a:p>
            <a:r>
              <a:rPr lang="en-US" sz="2400" b="1" dirty="0"/>
              <a:t>Year 10: Forecast = 295 + 30(10) = 595 </a:t>
            </a:r>
          </a:p>
          <a:p>
            <a:endParaRPr lang="en-IN" sz="2400" b="1" dirty="0"/>
          </a:p>
        </p:txBody>
      </p:sp>
    </p:spTree>
    <p:extLst>
      <p:ext uri="{BB962C8B-B14F-4D97-AF65-F5344CB8AC3E}">
        <p14:creationId xmlns:p14="http://schemas.microsoft.com/office/powerpoint/2010/main" val="10584954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B79E17-5D8A-E467-1D01-0E2DB25AA6AC}"/>
              </a:ext>
            </a:extLst>
          </p:cNvPr>
          <p:cNvSpPr txBox="1"/>
          <p:nvPr/>
        </p:nvSpPr>
        <p:spPr>
          <a:xfrm>
            <a:off x="645367" y="381000"/>
            <a:ext cx="8534400" cy="2585323"/>
          </a:xfrm>
          <a:prstGeom prst="rect">
            <a:avLst/>
          </a:prstGeom>
          <a:noFill/>
        </p:spPr>
        <p:txBody>
          <a:bodyPr wrap="square">
            <a:spAutoFit/>
          </a:bodyPr>
          <a:lstStyle/>
          <a:p>
            <a:pPr algn="l"/>
            <a:r>
              <a:rPr lang="en-IN" sz="1800" b="1" i="0" u="none" strike="noStrike" baseline="0" dirty="0">
                <a:latin typeface="Times New Roman" panose="02020603050405020304" pitchFamily="18" charset="0"/>
              </a:rPr>
              <a:t>Simple Linear Regression Model</a:t>
            </a:r>
          </a:p>
          <a:p>
            <a:r>
              <a:rPr lang="en-IN" sz="2400" b="1" dirty="0"/>
              <a:t>y = a + </a:t>
            </a:r>
            <a:r>
              <a:rPr lang="en-IN" sz="2400" b="1" dirty="0" err="1"/>
              <a:t>bx</a:t>
            </a:r>
            <a:endParaRPr lang="en-IN" sz="2400" b="1" dirty="0"/>
          </a:p>
          <a:p>
            <a:pPr algn="l"/>
            <a:r>
              <a:rPr lang="en-IN" sz="2400" b="1" dirty="0"/>
              <a:t>where</a:t>
            </a:r>
          </a:p>
          <a:p>
            <a:pPr algn="l"/>
            <a:r>
              <a:rPr lang="en-IN" sz="2400" b="1" dirty="0"/>
              <a:t>a = intercept</a:t>
            </a:r>
          </a:p>
          <a:p>
            <a:pPr algn="l"/>
            <a:r>
              <a:rPr lang="en-US" sz="2400" b="1" dirty="0"/>
              <a:t>b = slope of the line</a:t>
            </a:r>
          </a:p>
          <a:p>
            <a:pPr algn="l"/>
            <a:r>
              <a:rPr lang="en-IN" sz="2400" b="1" dirty="0"/>
              <a:t>x = time period</a:t>
            </a:r>
          </a:p>
          <a:p>
            <a:pPr algn="l"/>
            <a:r>
              <a:rPr lang="en-IN" sz="2400" b="1" dirty="0"/>
              <a:t>y = forecast for demand for period x</a:t>
            </a:r>
          </a:p>
        </p:txBody>
      </p:sp>
      <p:pic>
        <p:nvPicPr>
          <p:cNvPr id="5" name="Picture 4">
            <a:extLst>
              <a:ext uri="{FF2B5EF4-FFF2-40B4-BE49-F238E27FC236}">
                <a16:creationId xmlns:a16="http://schemas.microsoft.com/office/drawing/2014/main" id="{FAD1A269-1792-459F-3B53-654A1781C995}"/>
              </a:ext>
            </a:extLst>
          </p:cNvPr>
          <p:cNvPicPr>
            <a:picLocks noChangeAspect="1"/>
          </p:cNvPicPr>
          <p:nvPr/>
        </p:nvPicPr>
        <p:blipFill>
          <a:blip r:embed="rId2"/>
          <a:stretch>
            <a:fillRect/>
          </a:stretch>
        </p:blipFill>
        <p:spPr>
          <a:xfrm>
            <a:off x="1600200" y="3581400"/>
            <a:ext cx="4572000" cy="2708480"/>
          </a:xfrm>
          <a:prstGeom prst="rect">
            <a:avLst/>
          </a:prstGeom>
        </p:spPr>
      </p:pic>
    </p:spTree>
    <p:extLst>
      <p:ext uri="{BB962C8B-B14F-4D97-AF65-F5344CB8AC3E}">
        <p14:creationId xmlns:p14="http://schemas.microsoft.com/office/powerpoint/2010/main" val="36560542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6A3BAE-B3FC-C7C3-1DDE-5DB57DB54A1E}"/>
              </a:ext>
            </a:extLst>
          </p:cNvPr>
          <p:cNvSpPr txBox="1"/>
          <p:nvPr/>
        </p:nvSpPr>
        <p:spPr>
          <a:xfrm>
            <a:off x="381000" y="228601"/>
            <a:ext cx="8610600" cy="1200329"/>
          </a:xfrm>
          <a:prstGeom prst="rect">
            <a:avLst/>
          </a:prstGeom>
          <a:noFill/>
        </p:spPr>
        <p:txBody>
          <a:bodyPr wrap="square">
            <a:spAutoFit/>
          </a:bodyPr>
          <a:lstStyle/>
          <a:p>
            <a:pPr algn="l"/>
            <a:r>
              <a:rPr lang="en-US" sz="2400" b="1" dirty="0"/>
              <a:t>Question: Given the data below, what is the simple linear regression model that can be used to</a:t>
            </a:r>
          </a:p>
          <a:p>
            <a:pPr algn="l"/>
            <a:r>
              <a:rPr lang="en-US" sz="2400" b="1" dirty="0"/>
              <a:t>predict sales in future weeks?</a:t>
            </a:r>
            <a:endParaRPr lang="en-IN" sz="2400" b="1" dirty="0"/>
          </a:p>
        </p:txBody>
      </p:sp>
      <p:pic>
        <p:nvPicPr>
          <p:cNvPr id="5" name="Picture 4">
            <a:extLst>
              <a:ext uri="{FF2B5EF4-FFF2-40B4-BE49-F238E27FC236}">
                <a16:creationId xmlns:a16="http://schemas.microsoft.com/office/drawing/2014/main" id="{0489F968-3FD7-04D7-D751-BA74AE91646C}"/>
              </a:ext>
            </a:extLst>
          </p:cNvPr>
          <p:cNvPicPr>
            <a:picLocks noChangeAspect="1"/>
          </p:cNvPicPr>
          <p:nvPr/>
        </p:nvPicPr>
        <p:blipFill>
          <a:blip r:embed="rId2"/>
          <a:stretch>
            <a:fillRect/>
          </a:stretch>
        </p:blipFill>
        <p:spPr>
          <a:xfrm>
            <a:off x="1752600" y="1318388"/>
            <a:ext cx="4038600" cy="3253612"/>
          </a:xfrm>
          <a:prstGeom prst="rect">
            <a:avLst/>
          </a:prstGeom>
        </p:spPr>
      </p:pic>
    </p:spTree>
    <p:extLst>
      <p:ext uri="{BB962C8B-B14F-4D97-AF65-F5344CB8AC3E}">
        <p14:creationId xmlns:p14="http://schemas.microsoft.com/office/powerpoint/2010/main" val="27046246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C2090B-4FBC-71E1-B161-0099461F3158}"/>
              </a:ext>
            </a:extLst>
          </p:cNvPr>
          <p:cNvSpPr txBox="1"/>
          <p:nvPr/>
        </p:nvSpPr>
        <p:spPr>
          <a:xfrm>
            <a:off x="0" y="26437"/>
            <a:ext cx="9144000" cy="830997"/>
          </a:xfrm>
          <a:prstGeom prst="rect">
            <a:avLst/>
          </a:prstGeom>
          <a:noFill/>
        </p:spPr>
        <p:txBody>
          <a:bodyPr wrap="square">
            <a:spAutoFit/>
          </a:bodyPr>
          <a:lstStyle/>
          <a:p>
            <a:r>
              <a:rPr lang="en-US" sz="2400" b="1" dirty="0"/>
              <a:t>Solution: First, using the linear regression formulas, we can compute “a” and “b”.</a:t>
            </a:r>
            <a:endParaRPr lang="en-IN" sz="2400" b="1" dirty="0"/>
          </a:p>
        </p:txBody>
      </p:sp>
      <p:pic>
        <p:nvPicPr>
          <p:cNvPr id="5" name="Picture 4">
            <a:extLst>
              <a:ext uri="{FF2B5EF4-FFF2-40B4-BE49-F238E27FC236}">
                <a16:creationId xmlns:a16="http://schemas.microsoft.com/office/drawing/2014/main" id="{0CB7584F-C089-2C5B-15EA-A7967AFB9C35}"/>
              </a:ext>
            </a:extLst>
          </p:cNvPr>
          <p:cNvPicPr>
            <a:picLocks noChangeAspect="1"/>
          </p:cNvPicPr>
          <p:nvPr/>
        </p:nvPicPr>
        <p:blipFill>
          <a:blip r:embed="rId2"/>
          <a:stretch>
            <a:fillRect/>
          </a:stretch>
        </p:blipFill>
        <p:spPr>
          <a:xfrm>
            <a:off x="838200" y="857433"/>
            <a:ext cx="7391399" cy="5665181"/>
          </a:xfrm>
          <a:prstGeom prst="rect">
            <a:avLst/>
          </a:prstGeom>
        </p:spPr>
      </p:pic>
    </p:spTree>
    <p:extLst>
      <p:ext uri="{BB962C8B-B14F-4D97-AF65-F5344CB8AC3E}">
        <p14:creationId xmlns:p14="http://schemas.microsoft.com/office/powerpoint/2010/main" val="32673881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CF0F2F-DD06-6AC5-74C9-B70A5A1F4665}"/>
              </a:ext>
            </a:extLst>
          </p:cNvPr>
          <p:cNvSpPr txBox="1"/>
          <p:nvPr/>
        </p:nvSpPr>
        <p:spPr>
          <a:xfrm>
            <a:off x="0" y="228601"/>
            <a:ext cx="8991600" cy="5632311"/>
          </a:xfrm>
          <a:prstGeom prst="rect">
            <a:avLst/>
          </a:prstGeom>
          <a:noFill/>
        </p:spPr>
        <p:txBody>
          <a:bodyPr wrap="square">
            <a:spAutoFit/>
          </a:bodyPr>
          <a:lstStyle/>
          <a:p>
            <a:pPr algn="l"/>
            <a:r>
              <a:rPr lang="en-IN" sz="2400" b="1" dirty="0">
                <a:solidFill>
                  <a:srgbClr val="FF0000"/>
                </a:solidFill>
              </a:rPr>
              <a:t>Correlation Coefficient, r</a:t>
            </a:r>
          </a:p>
          <a:p>
            <a:pPr algn="l"/>
            <a:r>
              <a:rPr lang="en-US" sz="2400" b="1" dirty="0"/>
              <a:t> The quantity r, called the linear correlation coefficient, measures the strength and the direction of a linear relationship between two variables. </a:t>
            </a:r>
          </a:p>
          <a:p>
            <a:pPr algn="l"/>
            <a:r>
              <a:rPr lang="en-US" sz="2400" b="1" dirty="0"/>
              <a:t>The linear correlation coefficient is sometimes referred to as the Pearson product moment correlation coefficient in honor</a:t>
            </a:r>
          </a:p>
          <a:p>
            <a:pPr algn="l"/>
            <a:r>
              <a:rPr lang="en-US" sz="2400" b="1" dirty="0"/>
              <a:t>of its developer Karl Pearson.</a:t>
            </a:r>
          </a:p>
          <a:p>
            <a:pPr algn="l"/>
            <a:r>
              <a:rPr lang="en-US" sz="2400" b="1" dirty="0"/>
              <a:t> The value of r is such that -1 &lt; r &lt; +1. The + and – signs are used for positive linear correlations and negative linear correlations, respectively.</a:t>
            </a:r>
          </a:p>
          <a:p>
            <a:pPr algn="l"/>
            <a:r>
              <a:rPr lang="en-US" sz="2400" b="1" dirty="0"/>
              <a:t> Positive correlation: If x and y have a strong positive linear correlation, r is close to +1. An r value of exactly +1 indicates a perfect positive fit. </a:t>
            </a:r>
          </a:p>
          <a:p>
            <a:pPr algn="l"/>
            <a:r>
              <a:rPr lang="en-US" sz="2400" b="1" dirty="0"/>
              <a:t>Positive values indicate a relationship between x and y variables such that as values for x increases, values for y also increase.</a:t>
            </a:r>
            <a:endParaRPr lang="en-IN" sz="2400" b="1" dirty="0"/>
          </a:p>
        </p:txBody>
      </p:sp>
    </p:spTree>
    <p:extLst>
      <p:ext uri="{BB962C8B-B14F-4D97-AF65-F5344CB8AC3E}">
        <p14:creationId xmlns:p14="http://schemas.microsoft.com/office/powerpoint/2010/main" val="8118406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5249D9-2894-A0DB-B234-48353C73C051}"/>
              </a:ext>
            </a:extLst>
          </p:cNvPr>
          <p:cNvSpPr txBox="1"/>
          <p:nvPr/>
        </p:nvSpPr>
        <p:spPr>
          <a:xfrm>
            <a:off x="152400" y="152400"/>
            <a:ext cx="8991600" cy="4893647"/>
          </a:xfrm>
          <a:prstGeom prst="rect">
            <a:avLst/>
          </a:prstGeom>
          <a:noFill/>
        </p:spPr>
        <p:txBody>
          <a:bodyPr wrap="square">
            <a:spAutoFit/>
          </a:bodyPr>
          <a:lstStyle/>
          <a:p>
            <a:pPr algn="l"/>
            <a:r>
              <a:rPr lang="en-US" sz="2400" b="1" dirty="0">
                <a:solidFill>
                  <a:srgbClr val="FF0000"/>
                </a:solidFill>
              </a:rPr>
              <a:t>Negative correlation</a:t>
            </a:r>
            <a:r>
              <a:rPr lang="en-US" sz="2400" b="1" dirty="0"/>
              <a:t>: If x and y have a strong negative linear correlation, r is close to -1. An r value of exactly -1 indicates a perfect negative fit. </a:t>
            </a:r>
          </a:p>
          <a:p>
            <a:pPr algn="l"/>
            <a:r>
              <a:rPr lang="en-US" sz="2400" b="1" dirty="0"/>
              <a:t>Negative values indicate a relationship between x and y such that as values for x increase, values for y </a:t>
            </a:r>
            <a:r>
              <a:rPr lang="en-IN" sz="2400" b="1" dirty="0"/>
              <a:t>decrease.</a:t>
            </a:r>
          </a:p>
          <a:p>
            <a:pPr algn="l"/>
            <a:r>
              <a:rPr lang="en-US" sz="2400" b="1" dirty="0"/>
              <a:t> No correlation: If there is no linear correlation or a weak linear correlation, r is Close to 0. A value near zero means that there is a random, nonlinear relationship </a:t>
            </a:r>
            <a:r>
              <a:rPr lang="en-IN" sz="2400" b="1" dirty="0"/>
              <a:t>between the two variables</a:t>
            </a:r>
          </a:p>
          <a:p>
            <a:pPr algn="l"/>
            <a:r>
              <a:rPr lang="en-US" sz="2400" b="1" dirty="0"/>
              <a:t> Note that r is a dimensionless quantity; that is, it does not depend on the units </a:t>
            </a:r>
            <a:r>
              <a:rPr lang="en-IN" sz="2400" b="1" dirty="0"/>
              <a:t>employed.</a:t>
            </a:r>
          </a:p>
          <a:p>
            <a:pPr algn="l"/>
            <a:r>
              <a:rPr lang="en-US" sz="2400" b="1" dirty="0"/>
              <a:t> A perfect correlation of ± 1 occurs only when the data points all lie exactly on a straight line. If r = +1, the slope of this line is positive. If r = -1, the slope of this </a:t>
            </a:r>
            <a:r>
              <a:rPr lang="en-IN" sz="2400" b="1" dirty="0"/>
              <a:t>line is negative.</a:t>
            </a:r>
          </a:p>
        </p:txBody>
      </p:sp>
    </p:spTree>
    <p:extLst>
      <p:ext uri="{BB962C8B-B14F-4D97-AF65-F5344CB8AC3E}">
        <p14:creationId xmlns:p14="http://schemas.microsoft.com/office/powerpoint/2010/main" val="3469404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50F5AB-0264-4D37-2091-F80C080494BC}"/>
              </a:ext>
            </a:extLst>
          </p:cNvPr>
          <p:cNvPicPr>
            <a:picLocks noChangeAspect="1"/>
          </p:cNvPicPr>
          <p:nvPr/>
        </p:nvPicPr>
        <p:blipFill>
          <a:blip r:embed="rId2"/>
          <a:stretch>
            <a:fillRect/>
          </a:stretch>
        </p:blipFill>
        <p:spPr>
          <a:xfrm>
            <a:off x="990600" y="333374"/>
            <a:ext cx="7543800" cy="6191251"/>
          </a:xfrm>
          <a:prstGeom prst="rect">
            <a:avLst/>
          </a:prstGeom>
        </p:spPr>
      </p:pic>
    </p:spTree>
    <p:extLst>
      <p:ext uri="{BB962C8B-B14F-4D97-AF65-F5344CB8AC3E}">
        <p14:creationId xmlns:p14="http://schemas.microsoft.com/office/powerpoint/2010/main" val="17755956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030A4E-4030-81E4-6A15-F31052FBED00}"/>
              </a:ext>
            </a:extLst>
          </p:cNvPr>
          <p:cNvSpPr txBox="1"/>
          <p:nvPr/>
        </p:nvSpPr>
        <p:spPr>
          <a:xfrm>
            <a:off x="228600" y="457200"/>
            <a:ext cx="8610600" cy="2308324"/>
          </a:xfrm>
          <a:prstGeom prst="rect">
            <a:avLst/>
          </a:prstGeom>
          <a:noFill/>
        </p:spPr>
        <p:txBody>
          <a:bodyPr wrap="square">
            <a:spAutoFit/>
          </a:bodyPr>
          <a:lstStyle/>
          <a:p>
            <a:pPr algn="l"/>
            <a:r>
              <a:rPr lang="en-US" sz="2400" b="1" dirty="0"/>
              <a:t>Notice that in this example as the heights increase, the diameters of the trunks also tend to increase. </a:t>
            </a:r>
          </a:p>
          <a:p>
            <a:pPr algn="l"/>
            <a:r>
              <a:rPr lang="en-US" sz="2400" b="1" dirty="0"/>
              <a:t>If this were a perfect positive correlation all of the points would fall on a straight line.</a:t>
            </a:r>
          </a:p>
          <a:p>
            <a:pPr algn="l"/>
            <a:r>
              <a:rPr lang="en-US" sz="2400" b="1" dirty="0"/>
              <a:t>The more linear the data points, the closer the relationship between the two variables.</a:t>
            </a:r>
            <a:endParaRPr lang="en-IN" sz="2400" b="1" dirty="0"/>
          </a:p>
        </p:txBody>
      </p:sp>
    </p:spTree>
    <p:extLst>
      <p:ext uri="{BB962C8B-B14F-4D97-AF65-F5344CB8AC3E}">
        <p14:creationId xmlns:p14="http://schemas.microsoft.com/office/powerpoint/2010/main" val="18126512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988A5A-1C86-191A-03A6-D194B3E8BDA1}"/>
              </a:ext>
            </a:extLst>
          </p:cNvPr>
          <p:cNvSpPr txBox="1"/>
          <p:nvPr/>
        </p:nvSpPr>
        <p:spPr>
          <a:xfrm>
            <a:off x="381000" y="0"/>
            <a:ext cx="6477000" cy="400110"/>
          </a:xfrm>
          <a:prstGeom prst="rect">
            <a:avLst/>
          </a:prstGeom>
          <a:noFill/>
        </p:spPr>
        <p:txBody>
          <a:bodyPr wrap="square">
            <a:spAutoFit/>
          </a:bodyPr>
          <a:lstStyle/>
          <a:p>
            <a:r>
              <a:rPr lang="en-IN" sz="2000" b="1" i="0" u="none" strike="noStrike" baseline="0" dirty="0">
                <a:solidFill>
                  <a:srgbClr val="FF0000"/>
                </a:solidFill>
                <a:latin typeface="Times New Roman" panose="02020603050405020304" pitchFamily="18" charset="0"/>
              </a:rPr>
              <a:t>Negative</a:t>
            </a:r>
            <a:r>
              <a:rPr lang="en-IN" sz="2000" b="1" i="0" u="none" strike="noStrike" baseline="0" dirty="0">
                <a:latin typeface="Times New Roman" panose="02020603050405020304" pitchFamily="18" charset="0"/>
              </a:rPr>
              <a:t> </a:t>
            </a:r>
            <a:r>
              <a:rPr lang="en-IN" sz="2000" b="1" i="0" u="none" strike="noStrike" baseline="0" dirty="0">
                <a:solidFill>
                  <a:srgbClr val="FF0000"/>
                </a:solidFill>
                <a:latin typeface="Times New Roman" panose="02020603050405020304" pitchFamily="18" charset="0"/>
              </a:rPr>
              <a:t>Correlation</a:t>
            </a:r>
            <a:endParaRPr lang="en-IN" sz="2000" dirty="0">
              <a:solidFill>
                <a:srgbClr val="FF0000"/>
              </a:solidFill>
            </a:endParaRPr>
          </a:p>
        </p:txBody>
      </p:sp>
      <p:pic>
        <p:nvPicPr>
          <p:cNvPr id="5" name="Picture 4">
            <a:extLst>
              <a:ext uri="{FF2B5EF4-FFF2-40B4-BE49-F238E27FC236}">
                <a16:creationId xmlns:a16="http://schemas.microsoft.com/office/drawing/2014/main" id="{D3830CE5-CA2E-552E-315C-48C5D1391B79}"/>
              </a:ext>
            </a:extLst>
          </p:cNvPr>
          <p:cNvPicPr>
            <a:picLocks noChangeAspect="1"/>
          </p:cNvPicPr>
          <p:nvPr/>
        </p:nvPicPr>
        <p:blipFill>
          <a:blip r:embed="rId2"/>
          <a:stretch>
            <a:fillRect/>
          </a:stretch>
        </p:blipFill>
        <p:spPr>
          <a:xfrm>
            <a:off x="1371600" y="591253"/>
            <a:ext cx="6857999" cy="6080888"/>
          </a:xfrm>
          <a:prstGeom prst="rect">
            <a:avLst/>
          </a:prstGeom>
        </p:spPr>
      </p:pic>
    </p:spTree>
    <p:extLst>
      <p:ext uri="{BB962C8B-B14F-4D97-AF65-F5344CB8AC3E}">
        <p14:creationId xmlns:p14="http://schemas.microsoft.com/office/powerpoint/2010/main" val="39280852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665559-0E0C-23FD-A4D6-3808713842D9}"/>
              </a:ext>
            </a:extLst>
          </p:cNvPr>
          <p:cNvSpPr txBox="1"/>
          <p:nvPr/>
        </p:nvSpPr>
        <p:spPr>
          <a:xfrm>
            <a:off x="304800" y="228601"/>
            <a:ext cx="8610600" cy="2308324"/>
          </a:xfrm>
          <a:prstGeom prst="rect">
            <a:avLst/>
          </a:prstGeom>
          <a:noFill/>
        </p:spPr>
        <p:txBody>
          <a:bodyPr wrap="square">
            <a:spAutoFit/>
          </a:bodyPr>
          <a:lstStyle/>
          <a:p>
            <a:pPr algn="l"/>
            <a:r>
              <a:rPr lang="en-US" sz="2400" b="1" dirty="0"/>
              <a:t>Notice that in this example as the number of parasites increases, the harvest of unblemished  apples decreases. </a:t>
            </a:r>
          </a:p>
          <a:p>
            <a:pPr algn="l"/>
            <a:r>
              <a:rPr lang="en-US" sz="2400" b="1" dirty="0"/>
              <a:t>If this were a perfect negative correlation all of the points would fall on a line with a negative slope. </a:t>
            </a:r>
          </a:p>
          <a:p>
            <a:pPr algn="l"/>
            <a:r>
              <a:rPr lang="en-US" sz="2400" b="1" dirty="0"/>
              <a:t>The more linear the data points, the more negatively correlated are the </a:t>
            </a:r>
            <a:r>
              <a:rPr lang="en-IN" sz="2400" b="1" dirty="0"/>
              <a:t>two variables.</a:t>
            </a:r>
          </a:p>
        </p:txBody>
      </p:sp>
    </p:spTree>
    <p:extLst>
      <p:ext uri="{BB962C8B-B14F-4D97-AF65-F5344CB8AC3E}">
        <p14:creationId xmlns:p14="http://schemas.microsoft.com/office/powerpoint/2010/main" val="33382339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93945A-521D-D7BF-AC62-B27F18A3068C}"/>
              </a:ext>
            </a:extLst>
          </p:cNvPr>
          <p:cNvPicPr>
            <a:picLocks noChangeAspect="1"/>
          </p:cNvPicPr>
          <p:nvPr/>
        </p:nvPicPr>
        <p:blipFill>
          <a:blip r:embed="rId2"/>
          <a:stretch>
            <a:fillRect/>
          </a:stretch>
        </p:blipFill>
        <p:spPr>
          <a:xfrm>
            <a:off x="533400" y="417163"/>
            <a:ext cx="8153400" cy="6080501"/>
          </a:xfrm>
          <a:prstGeom prst="rect">
            <a:avLst/>
          </a:prstGeom>
        </p:spPr>
      </p:pic>
    </p:spTree>
    <p:extLst>
      <p:ext uri="{BB962C8B-B14F-4D97-AF65-F5344CB8AC3E}">
        <p14:creationId xmlns:p14="http://schemas.microsoft.com/office/powerpoint/2010/main" val="27268944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79364B-867E-4FFB-A22C-10AA546C7C27}"/>
              </a:ext>
            </a:extLst>
          </p:cNvPr>
          <p:cNvSpPr txBox="1"/>
          <p:nvPr/>
        </p:nvSpPr>
        <p:spPr>
          <a:xfrm>
            <a:off x="304800" y="228601"/>
            <a:ext cx="8686800" cy="1569660"/>
          </a:xfrm>
          <a:prstGeom prst="rect">
            <a:avLst/>
          </a:prstGeom>
          <a:noFill/>
        </p:spPr>
        <p:txBody>
          <a:bodyPr wrap="square">
            <a:spAutoFit/>
          </a:bodyPr>
          <a:lstStyle/>
          <a:p>
            <a:pPr algn="l"/>
            <a:r>
              <a:rPr lang="en-US" sz="2400" b="1" dirty="0"/>
              <a:t>Notice that in this example there seems to be no relationship between the two variables.</a:t>
            </a:r>
          </a:p>
          <a:p>
            <a:pPr algn="l"/>
            <a:r>
              <a:rPr lang="en-US" sz="2400" b="1" dirty="0"/>
              <a:t>Perhaps </a:t>
            </a:r>
            <a:r>
              <a:rPr lang="en-US" sz="2400" b="1" dirty="0" err="1"/>
              <a:t>pillbugs</a:t>
            </a:r>
            <a:r>
              <a:rPr lang="en-US" sz="2400" b="1" dirty="0"/>
              <a:t> and clover do not interact with one another.</a:t>
            </a:r>
          </a:p>
          <a:p>
            <a:pPr algn="l"/>
            <a:r>
              <a:rPr lang="en-US" sz="2400" b="1" dirty="0"/>
              <a:t>The mathematical formula for computing r is:</a:t>
            </a:r>
            <a:endParaRPr lang="en-IN" sz="2400" b="1" dirty="0"/>
          </a:p>
        </p:txBody>
      </p:sp>
      <p:pic>
        <p:nvPicPr>
          <p:cNvPr id="7" name="Picture 6">
            <a:extLst>
              <a:ext uri="{FF2B5EF4-FFF2-40B4-BE49-F238E27FC236}">
                <a16:creationId xmlns:a16="http://schemas.microsoft.com/office/drawing/2014/main" id="{39AEBB28-DEBD-DE2C-7E72-B0BC525663CA}"/>
              </a:ext>
            </a:extLst>
          </p:cNvPr>
          <p:cNvPicPr>
            <a:picLocks noChangeAspect="1"/>
          </p:cNvPicPr>
          <p:nvPr/>
        </p:nvPicPr>
        <p:blipFill>
          <a:blip r:embed="rId2"/>
          <a:stretch>
            <a:fillRect/>
          </a:stretch>
        </p:blipFill>
        <p:spPr>
          <a:xfrm>
            <a:off x="609600" y="2057400"/>
            <a:ext cx="7239000" cy="1629238"/>
          </a:xfrm>
          <a:prstGeom prst="rect">
            <a:avLst/>
          </a:prstGeom>
        </p:spPr>
      </p:pic>
      <p:sp>
        <p:nvSpPr>
          <p:cNvPr id="9" name="TextBox 8">
            <a:extLst>
              <a:ext uri="{FF2B5EF4-FFF2-40B4-BE49-F238E27FC236}">
                <a16:creationId xmlns:a16="http://schemas.microsoft.com/office/drawing/2014/main" id="{746D1CF1-2A8F-35CD-57A3-356E916E0378}"/>
              </a:ext>
            </a:extLst>
          </p:cNvPr>
          <p:cNvSpPr txBox="1"/>
          <p:nvPr/>
        </p:nvSpPr>
        <p:spPr>
          <a:xfrm>
            <a:off x="304800" y="4648200"/>
            <a:ext cx="8686800" cy="830997"/>
          </a:xfrm>
          <a:prstGeom prst="rect">
            <a:avLst/>
          </a:prstGeom>
          <a:noFill/>
        </p:spPr>
        <p:txBody>
          <a:bodyPr wrap="square">
            <a:spAutoFit/>
          </a:bodyPr>
          <a:lstStyle/>
          <a:p>
            <a:pPr algn="l"/>
            <a:r>
              <a:rPr lang="en-US" sz="2400" b="1" dirty="0"/>
              <a:t>A correlation greater than .8 is generally described as strong , whereas a </a:t>
            </a:r>
            <a:r>
              <a:rPr lang="en-US" sz="2400" b="1"/>
              <a:t>correlation less than </a:t>
            </a:r>
            <a:r>
              <a:rPr lang="en-US" sz="2400" b="1" dirty="0"/>
              <a:t>.5 is generally described as weak.</a:t>
            </a:r>
            <a:endParaRPr lang="en-IN" sz="2400" b="1" dirty="0"/>
          </a:p>
        </p:txBody>
      </p:sp>
    </p:spTree>
    <p:extLst>
      <p:ext uri="{BB962C8B-B14F-4D97-AF65-F5344CB8AC3E}">
        <p14:creationId xmlns:p14="http://schemas.microsoft.com/office/powerpoint/2010/main" val="26148488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633</TotalTime>
  <Words>2422</Words>
  <Application>Microsoft Office PowerPoint</Application>
  <PresentationFormat>On-screen Show (4:3)</PresentationFormat>
  <Paragraphs>101</Paragraphs>
  <Slides>44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sony</dc:creator>
  <cp:lastModifiedBy>ravi mathur</cp:lastModifiedBy>
  <cp:revision>18</cp:revision>
  <dcterms:created xsi:type="dcterms:W3CDTF">2006-08-16T00:00:00Z</dcterms:created>
  <dcterms:modified xsi:type="dcterms:W3CDTF">2024-10-17T09:22:20Z</dcterms:modified>
</cp:coreProperties>
</file>