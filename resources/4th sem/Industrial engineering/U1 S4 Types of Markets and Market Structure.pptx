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762999" cy="6129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MARKET TYPES AND MARKET STRUCTURE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MEANING </a:t>
            </a:r>
            <a:r>
              <a:rPr lang="en-US" sz="2400" b="1" dirty="0" smtClean="0">
                <a:solidFill>
                  <a:srgbClr val="FF0000"/>
                </a:solidFill>
              </a:rPr>
              <a:t>OF MARKET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en-US" sz="2400" b="1" dirty="0" smtClean="0"/>
              <a:t>A </a:t>
            </a:r>
            <a:r>
              <a:rPr lang="en-US" sz="2400" b="1" dirty="0" smtClean="0"/>
              <a:t>market is a collection of buyers and sellers with the potential to trade. The actual or potential </a:t>
            </a:r>
            <a:r>
              <a:rPr lang="en-US" sz="2400" b="1" dirty="0" smtClean="0">
                <a:solidFill>
                  <a:srgbClr val="FF0000"/>
                </a:solidFill>
              </a:rPr>
              <a:t>interactions of the buyers and sellers determine the price of a product or service.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en-US" sz="2400" b="1" dirty="0" smtClean="0"/>
              <a:t>The </a:t>
            </a:r>
            <a:r>
              <a:rPr lang="en-US" sz="2400" b="1" dirty="0" smtClean="0"/>
              <a:t>elements of a market are: </a:t>
            </a:r>
            <a:endParaRPr lang="en-US" sz="2400" b="1" dirty="0" smtClean="0"/>
          </a:p>
          <a:p>
            <a:pPr marL="514350" indent="-514350">
              <a:lnSpc>
                <a:spcPct val="150000"/>
              </a:lnSpc>
              <a:buAutoNum type="romanLcParenBoth"/>
            </a:pPr>
            <a:r>
              <a:rPr lang="en-US" sz="2400" b="1" dirty="0" smtClean="0"/>
              <a:t>Buyers </a:t>
            </a:r>
            <a:r>
              <a:rPr lang="en-US" sz="2400" b="1" dirty="0" smtClean="0"/>
              <a:t>and sellers; </a:t>
            </a:r>
            <a:endParaRPr lang="en-US" sz="2400" b="1" dirty="0" smtClean="0"/>
          </a:p>
          <a:p>
            <a:pPr marL="514350" indent="-514350">
              <a:lnSpc>
                <a:spcPct val="150000"/>
              </a:lnSpc>
              <a:buAutoNum type="romanLcParenBoth"/>
            </a:pPr>
            <a:r>
              <a:rPr lang="en-US" sz="2400" b="1" dirty="0" smtClean="0"/>
              <a:t> </a:t>
            </a:r>
            <a:r>
              <a:rPr lang="en-US" sz="2400" b="1" dirty="0" smtClean="0"/>
              <a:t>A product or service; </a:t>
            </a:r>
            <a:endParaRPr lang="en-US" sz="2400" b="1" dirty="0" smtClean="0"/>
          </a:p>
          <a:p>
            <a:pPr marL="514350" indent="-514350">
              <a:lnSpc>
                <a:spcPct val="150000"/>
              </a:lnSpc>
              <a:buAutoNum type="romanLcParenBoth"/>
            </a:pPr>
            <a:r>
              <a:rPr lang="en-US" sz="2400" b="1" dirty="0" smtClean="0"/>
              <a:t> </a:t>
            </a:r>
            <a:r>
              <a:rPr lang="en-US" sz="2400" b="1" dirty="0" smtClean="0"/>
              <a:t>Bargaining for a price; </a:t>
            </a:r>
            <a:endParaRPr lang="en-US" sz="2400" b="1" dirty="0" smtClean="0"/>
          </a:p>
          <a:p>
            <a:pPr marL="514350" indent="-514350">
              <a:lnSpc>
                <a:spcPct val="150000"/>
              </a:lnSpc>
              <a:buAutoNum type="romanLcParenBoth"/>
            </a:pPr>
            <a:r>
              <a:rPr lang="en-US" sz="2400" b="1" dirty="0" smtClean="0"/>
              <a:t> </a:t>
            </a:r>
            <a:r>
              <a:rPr lang="en-US" sz="2400" b="1" dirty="0" smtClean="0"/>
              <a:t>Knowledge about market conditions; and </a:t>
            </a:r>
            <a:endParaRPr lang="en-US" sz="2400" b="1" dirty="0" smtClean="0"/>
          </a:p>
          <a:p>
            <a:pPr marL="514350" indent="-514350">
              <a:lnSpc>
                <a:spcPct val="150000"/>
              </a:lnSpc>
              <a:buAutoNum type="romanLcParenBoth"/>
            </a:pPr>
            <a:r>
              <a:rPr lang="en-US" sz="2400" b="1" dirty="0" smtClean="0"/>
              <a:t> </a:t>
            </a:r>
            <a:r>
              <a:rPr lang="en-US" sz="2400" b="1" dirty="0" smtClean="0"/>
              <a:t>One price for a product or service at a given time. 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763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Classification </a:t>
            </a:r>
            <a:r>
              <a:rPr lang="en-US" sz="2400" b="1" dirty="0" smtClean="0">
                <a:solidFill>
                  <a:srgbClr val="FF0000"/>
                </a:solidFill>
              </a:rPr>
              <a:t>of </a:t>
            </a:r>
            <a:r>
              <a:rPr lang="en-US" sz="2400" b="1" dirty="0" smtClean="0">
                <a:solidFill>
                  <a:srgbClr val="FF0000"/>
                </a:solidFill>
              </a:rPr>
              <a:t>Market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 	Markets </a:t>
            </a:r>
            <a:r>
              <a:rPr lang="en-US" sz="2400" b="1" dirty="0" smtClean="0"/>
              <a:t>are generally </a:t>
            </a:r>
            <a:r>
              <a:rPr lang="en-US" sz="2400" b="1" dirty="0" smtClean="0"/>
              <a:t>classified </a:t>
            </a:r>
            <a:r>
              <a:rPr lang="en-US" sz="2400" b="1" dirty="0" smtClean="0"/>
              <a:t>into </a:t>
            </a:r>
            <a:r>
              <a:rPr lang="en-US" sz="2400" b="1" dirty="0" smtClean="0">
                <a:solidFill>
                  <a:srgbClr val="FF0000"/>
                </a:solidFill>
              </a:rPr>
              <a:t>product markets </a:t>
            </a:r>
            <a:r>
              <a:rPr lang="en-US" sz="2400" b="1" dirty="0" smtClean="0"/>
              <a:t>and </a:t>
            </a:r>
            <a:r>
              <a:rPr lang="en-US" sz="2400" b="1" dirty="0" smtClean="0">
                <a:solidFill>
                  <a:srgbClr val="FF0000"/>
                </a:solidFill>
              </a:rPr>
              <a:t>factor markets</a:t>
            </a:r>
            <a:r>
              <a:rPr lang="en-US" sz="2400" b="1" dirty="0" smtClean="0"/>
              <a:t>.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	</a:t>
            </a:r>
            <a:r>
              <a:rPr lang="en-US" sz="2400" b="1" dirty="0" smtClean="0">
                <a:solidFill>
                  <a:srgbClr val="FF0000"/>
                </a:solidFill>
              </a:rPr>
              <a:t>Product </a:t>
            </a:r>
            <a:r>
              <a:rPr lang="en-US" sz="2400" b="1" dirty="0" smtClean="0">
                <a:solidFill>
                  <a:srgbClr val="FF0000"/>
                </a:solidFill>
              </a:rPr>
              <a:t>markets </a:t>
            </a:r>
            <a:r>
              <a:rPr lang="en-US" sz="2400" b="1" dirty="0" smtClean="0"/>
              <a:t>are markets for </a:t>
            </a:r>
            <a:r>
              <a:rPr lang="en-US" sz="2400" b="1" dirty="0" smtClean="0">
                <a:solidFill>
                  <a:srgbClr val="FF0000"/>
                </a:solidFill>
              </a:rPr>
              <a:t>goods and services </a:t>
            </a:r>
            <a:r>
              <a:rPr lang="en-US" sz="2400" b="1" dirty="0" smtClean="0"/>
              <a:t>in which households buy the goods and services they want from rms.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	</a:t>
            </a:r>
            <a:r>
              <a:rPr lang="en-US" sz="2400" b="1" dirty="0" smtClean="0">
                <a:solidFill>
                  <a:srgbClr val="FF0000"/>
                </a:solidFill>
              </a:rPr>
              <a:t>Factor </a:t>
            </a:r>
            <a:r>
              <a:rPr lang="en-US" sz="2400" b="1" dirty="0" smtClean="0">
                <a:solidFill>
                  <a:srgbClr val="FF0000"/>
                </a:solidFill>
              </a:rPr>
              <a:t>markets</a:t>
            </a:r>
            <a:r>
              <a:rPr lang="en-US" sz="2400" b="1" dirty="0" smtClean="0"/>
              <a:t>, on the other hand, are those in which </a:t>
            </a:r>
            <a:r>
              <a:rPr lang="en-US" sz="2400" b="1" dirty="0" smtClean="0">
                <a:solidFill>
                  <a:srgbClr val="FF0000"/>
                </a:solidFill>
              </a:rPr>
              <a:t>firms </a:t>
            </a:r>
            <a:r>
              <a:rPr lang="en-US" sz="2400" b="1" dirty="0" smtClean="0">
                <a:solidFill>
                  <a:srgbClr val="FF0000"/>
                </a:solidFill>
              </a:rPr>
              <a:t>buy the resources they need – land, </a:t>
            </a:r>
            <a:r>
              <a:rPr lang="en-US" sz="2400" b="1" dirty="0" err="1" smtClean="0">
                <a:solidFill>
                  <a:srgbClr val="FF0000"/>
                </a:solidFill>
              </a:rPr>
              <a:t>labour</a:t>
            </a:r>
            <a:r>
              <a:rPr lang="en-US" sz="2400" b="1" dirty="0" smtClean="0">
                <a:solidFill>
                  <a:srgbClr val="FF0000"/>
                </a:solidFill>
              </a:rPr>
              <a:t>, capital and entrepreneurship</a:t>
            </a:r>
            <a:r>
              <a:rPr lang="en-US" sz="2400" b="1" dirty="0" smtClean="0"/>
              <a:t>- to </a:t>
            </a:r>
            <a:r>
              <a:rPr lang="en-US" sz="2400" b="1" dirty="0" smtClean="0">
                <a:solidFill>
                  <a:srgbClr val="FF0000"/>
                </a:solidFill>
              </a:rPr>
              <a:t>produce goods and services.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While </a:t>
            </a:r>
            <a:r>
              <a:rPr lang="en-US" sz="2400" b="1" dirty="0" smtClean="0"/>
              <a:t>product markets </a:t>
            </a:r>
            <a:r>
              <a:rPr lang="en-US" sz="2400" b="1" dirty="0" smtClean="0">
                <a:solidFill>
                  <a:srgbClr val="FF0000"/>
                </a:solidFill>
              </a:rPr>
              <a:t>allocate goods to consumers</a:t>
            </a:r>
            <a:r>
              <a:rPr lang="en-US" sz="2400" b="1" dirty="0" smtClean="0"/>
              <a:t>, factor markets </a:t>
            </a:r>
            <a:r>
              <a:rPr lang="en-US" sz="2400" b="1" dirty="0" smtClean="0">
                <a:solidFill>
                  <a:srgbClr val="FF0000"/>
                </a:solidFill>
              </a:rPr>
              <a:t>allocate </a:t>
            </a:r>
            <a:r>
              <a:rPr lang="en-US" sz="2400" b="1" dirty="0" smtClean="0">
                <a:solidFill>
                  <a:srgbClr val="FF0000"/>
                </a:solidFill>
              </a:rPr>
              <a:t>productive resources to producers </a:t>
            </a:r>
            <a:r>
              <a:rPr lang="en-US" sz="2400" b="1" dirty="0" smtClean="0"/>
              <a:t>and help ensure that those resources are used </a:t>
            </a:r>
            <a:r>
              <a:rPr lang="en-US" sz="2400" b="1" dirty="0" smtClean="0"/>
              <a:t>efficiently</a:t>
            </a:r>
            <a:r>
              <a:rPr lang="en-US" sz="2400" b="1" dirty="0" smtClean="0"/>
              <a:t>. </a:t>
            </a:r>
            <a:endParaRPr lang="en-US" sz="2400" b="1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86868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	The </a:t>
            </a:r>
            <a:r>
              <a:rPr lang="en-US" sz="2400" b="1" dirty="0" smtClean="0"/>
              <a:t>prices in factor markets are known as </a:t>
            </a:r>
            <a:r>
              <a:rPr lang="en-US" sz="2400" b="1" dirty="0" smtClean="0">
                <a:solidFill>
                  <a:srgbClr val="FF0000"/>
                </a:solidFill>
              </a:rPr>
              <a:t>factor prices</a:t>
            </a:r>
            <a:r>
              <a:rPr lang="en-US" sz="2400" b="1" dirty="0" smtClean="0"/>
              <a:t>.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	</a:t>
            </a:r>
            <a:r>
              <a:rPr lang="en-US" sz="2400" b="1" dirty="0" smtClean="0"/>
              <a:t>In </a:t>
            </a:r>
            <a:r>
              <a:rPr lang="en-US" sz="2400" b="1" dirty="0" smtClean="0"/>
              <a:t>Economics, generally the classification of markets is made on the basis of </a:t>
            </a:r>
            <a:endParaRPr lang="en-US" sz="2400" b="1" dirty="0" smtClean="0"/>
          </a:p>
          <a:p>
            <a:pPr marL="457200" indent="-457200">
              <a:lnSpc>
                <a:spcPct val="150000"/>
              </a:lnSpc>
              <a:buAutoNum type="alphaLcParenBoth"/>
            </a:pPr>
            <a:r>
              <a:rPr lang="en-US" sz="2400" b="1" dirty="0" smtClean="0"/>
              <a:t>Geographical Area</a:t>
            </a:r>
          </a:p>
          <a:p>
            <a:pPr marL="457200" indent="-457200">
              <a:lnSpc>
                <a:spcPct val="150000"/>
              </a:lnSpc>
              <a:buAutoNum type="alphaLcParenBoth"/>
            </a:pPr>
            <a:r>
              <a:rPr lang="en-US" sz="2400" b="1" dirty="0" smtClean="0"/>
              <a:t> Time </a:t>
            </a:r>
          </a:p>
          <a:p>
            <a:pPr marL="457200" indent="-457200">
              <a:lnSpc>
                <a:spcPct val="150000"/>
              </a:lnSpc>
              <a:buAutoNum type="alphaLcParenBoth"/>
            </a:pPr>
            <a:r>
              <a:rPr lang="en-US" sz="2400" b="1" dirty="0" smtClean="0"/>
              <a:t> </a:t>
            </a:r>
            <a:r>
              <a:rPr lang="en-US" sz="2400" b="1" dirty="0" smtClean="0"/>
              <a:t>Nature of transaction </a:t>
            </a:r>
            <a:endParaRPr lang="en-US" sz="2400" b="1" dirty="0" smtClean="0"/>
          </a:p>
          <a:p>
            <a:pPr marL="457200" indent="-457200">
              <a:lnSpc>
                <a:spcPct val="150000"/>
              </a:lnSpc>
              <a:buAutoNum type="alphaLcParenBoth"/>
            </a:pPr>
            <a:r>
              <a:rPr lang="en-US" sz="2400" b="1" dirty="0" smtClean="0"/>
              <a:t> </a:t>
            </a:r>
            <a:r>
              <a:rPr lang="en-US" sz="2400" b="1" dirty="0" smtClean="0"/>
              <a:t>Regulation </a:t>
            </a:r>
            <a:endParaRPr lang="en-US" sz="2400" b="1" dirty="0" smtClean="0"/>
          </a:p>
          <a:p>
            <a:pPr marL="457200" indent="-457200">
              <a:lnSpc>
                <a:spcPct val="150000"/>
              </a:lnSpc>
              <a:buAutoNum type="alphaLcParenBoth"/>
            </a:pPr>
            <a:r>
              <a:rPr lang="en-US" sz="2400" b="1" dirty="0" smtClean="0"/>
              <a:t> </a:t>
            </a:r>
            <a:r>
              <a:rPr lang="en-US" sz="2400" b="1" dirty="0" smtClean="0"/>
              <a:t>Volume of </a:t>
            </a:r>
            <a:r>
              <a:rPr lang="en-US" sz="2400" b="1" dirty="0" smtClean="0"/>
              <a:t>business</a:t>
            </a:r>
          </a:p>
          <a:p>
            <a:pPr marL="457200" indent="-457200">
              <a:lnSpc>
                <a:spcPct val="150000"/>
              </a:lnSpc>
              <a:buAutoNum type="alphaLcParenBoth"/>
            </a:pPr>
            <a:r>
              <a:rPr lang="en-US" sz="2400" b="1" dirty="0" smtClean="0"/>
              <a:t> </a:t>
            </a:r>
            <a:r>
              <a:rPr lang="en-US" sz="2400" b="1" dirty="0" smtClean="0"/>
              <a:t>Type of Competition. 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52400"/>
            <a:ext cx="8534400" cy="6683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On the basis of geographical area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</a:t>
            </a:r>
            <a:r>
              <a:rPr lang="en-US" sz="2400" b="1" dirty="0" smtClean="0"/>
              <a:t>From </a:t>
            </a:r>
            <a:r>
              <a:rPr lang="en-US" sz="2400" b="1" dirty="0" smtClean="0"/>
              <a:t>the marketing perspective, the geographical area in which the product sales should be undertaken has vast implications for the </a:t>
            </a:r>
            <a:r>
              <a:rPr lang="en-US" sz="2400" b="1" dirty="0" smtClean="0"/>
              <a:t>firm</a:t>
            </a:r>
            <a:r>
              <a:rPr lang="en-US" sz="2400" b="1" dirty="0" smtClean="0"/>
              <a:t>. On the basis of geographical area covered, markets are </a:t>
            </a:r>
            <a:r>
              <a:rPr lang="en-US" sz="2400" b="1" dirty="0" smtClean="0"/>
              <a:t>classified </a:t>
            </a:r>
            <a:r>
              <a:rPr lang="en-US" sz="2400" b="1" dirty="0" smtClean="0"/>
              <a:t>into:-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Local </a:t>
            </a:r>
            <a:r>
              <a:rPr lang="en-US" sz="2400" b="1" dirty="0" smtClean="0">
                <a:solidFill>
                  <a:srgbClr val="FF0000"/>
                </a:solidFill>
              </a:rPr>
              <a:t>Markets: </a:t>
            </a:r>
            <a:r>
              <a:rPr lang="en-US" sz="2400" b="1" dirty="0" smtClean="0"/>
              <a:t>When buyers and sellers are limited to a local area or region, the market is called a local market. Generally, </a:t>
            </a:r>
            <a:r>
              <a:rPr lang="en-US" sz="2400" b="1" dirty="0" smtClean="0">
                <a:solidFill>
                  <a:srgbClr val="FF0000"/>
                </a:solidFill>
              </a:rPr>
              <a:t>highly perishable goods and bulky articles, the transport of which over a long distance is uneconomical’ </a:t>
            </a:r>
            <a:r>
              <a:rPr lang="en-US" sz="2400" b="1" dirty="0" smtClean="0"/>
              <a:t>command a local market. In this case, the extent of the market is limited to a particular locality. For example, locally supplied services such as those of </a:t>
            </a:r>
            <a:r>
              <a:rPr lang="en-US" sz="2400" b="1" dirty="0" smtClean="0">
                <a:solidFill>
                  <a:srgbClr val="FF0000"/>
                </a:solidFill>
              </a:rPr>
              <a:t>hair dressers and retailers have a narrow customer base.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52401"/>
            <a:ext cx="8534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Regional Markets: </a:t>
            </a:r>
            <a:r>
              <a:rPr lang="en-US" sz="2400" b="1" dirty="0" smtClean="0"/>
              <a:t>Regional markets </a:t>
            </a:r>
            <a:r>
              <a:rPr lang="en-US" sz="2400" b="1" dirty="0" smtClean="0">
                <a:solidFill>
                  <a:srgbClr val="FF0000"/>
                </a:solidFill>
              </a:rPr>
              <a:t>cover a wider area </a:t>
            </a:r>
            <a:r>
              <a:rPr lang="en-US" sz="2400" b="1" dirty="0" smtClean="0"/>
              <a:t>such as a </a:t>
            </a:r>
            <a:r>
              <a:rPr lang="en-US" sz="2400" b="1" dirty="0" smtClean="0">
                <a:solidFill>
                  <a:srgbClr val="FF0000"/>
                </a:solidFill>
              </a:rPr>
              <a:t>few adjacent cities</a:t>
            </a:r>
            <a:r>
              <a:rPr lang="en-US" sz="2400" b="1" dirty="0" smtClean="0"/>
              <a:t>, </a:t>
            </a:r>
            <a:r>
              <a:rPr lang="en-US" sz="2400" b="1" dirty="0" smtClean="0">
                <a:solidFill>
                  <a:srgbClr val="FF0000"/>
                </a:solidFill>
              </a:rPr>
              <a:t>parts of states</a:t>
            </a:r>
            <a:r>
              <a:rPr lang="en-US" sz="2400" b="1" dirty="0" smtClean="0"/>
              <a:t>, or </a:t>
            </a:r>
            <a:r>
              <a:rPr lang="en-US" sz="2400" b="1" dirty="0" smtClean="0">
                <a:solidFill>
                  <a:srgbClr val="FF0000"/>
                </a:solidFill>
              </a:rPr>
              <a:t>cluster of states. </a:t>
            </a:r>
            <a:r>
              <a:rPr lang="en-US" sz="2400" b="1" dirty="0" smtClean="0"/>
              <a:t>The size of the market is generally large and the </a:t>
            </a:r>
            <a:r>
              <a:rPr lang="en-US" sz="2400" b="1" dirty="0" smtClean="0">
                <a:solidFill>
                  <a:srgbClr val="FF0000"/>
                </a:solidFill>
              </a:rPr>
              <a:t>nature of buyers may vary </a:t>
            </a:r>
            <a:r>
              <a:rPr lang="en-US" sz="2400" b="1" dirty="0" smtClean="0"/>
              <a:t>in their </a:t>
            </a:r>
            <a:r>
              <a:rPr lang="en-US" sz="2400" b="1" dirty="0" smtClean="0">
                <a:solidFill>
                  <a:srgbClr val="FF0000"/>
                </a:solidFill>
              </a:rPr>
              <a:t>demand characteristics</a:t>
            </a:r>
            <a:r>
              <a:rPr lang="en-US" sz="2400" b="1" dirty="0" smtClean="0"/>
              <a:t>.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National </a:t>
            </a:r>
            <a:r>
              <a:rPr lang="en-US" sz="2400" b="1" dirty="0" smtClean="0">
                <a:solidFill>
                  <a:srgbClr val="FF0000"/>
                </a:solidFill>
              </a:rPr>
              <a:t>Markets: </a:t>
            </a:r>
            <a:r>
              <a:rPr lang="en-US" sz="2400" b="1" dirty="0" smtClean="0"/>
              <a:t>When the demand for a commodity or service is </a:t>
            </a:r>
            <a:r>
              <a:rPr lang="en-US" sz="2400" b="1" dirty="0" smtClean="0">
                <a:solidFill>
                  <a:srgbClr val="FF0000"/>
                </a:solidFill>
              </a:rPr>
              <a:t>limited to the national boundaries of a country</a:t>
            </a:r>
            <a:r>
              <a:rPr lang="en-US" sz="2400" b="1" dirty="0" smtClean="0"/>
              <a:t>, we say that the product has a national market. The trade policy of the </a:t>
            </a:r>
            <a:r>
              <a:rPr lang="en-US" sz="2400" b="1" dirty="0" smtClean="0">
                <a:solidFill>
                  <a:srgbClr val="FF0000"/>
                </a:solidFill>
              </a:rPr>
              <a:t>government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may restrict </a:t>
            </a:r>
            <a:r>
              <a:rPr lang="en-US" sz="2400" b="1" dirty="0" smtClean="0"/>
              <a:t>the trading of a commodity to within the country. For example </a:t>
            </a:r>
            <a:r>
              <a:rPr lang="en-US" sz="2400" b="1" dirty="0" smtClean="0">
                <a:solidFill>
                  <a:srgbClr val="FF0000"/>
                </a:solidFill>
              </a:rPr>
              <a:t>Hindi books </a:t>
            </a:r>
            <a:r>
              <a:rPr lang="en-US" sz="2400" b="1" dirty="0" smtClean="0"/>
              <a:t>may have national markets in India, outside India one may not have market for Hindi books. 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686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International markets: </a:t>
            </a:r>
            <a:r>
              <a:rPr lang="en-US" sz="2400" b="1" dirty="0" smtClean="0"/>
              <a:t>A commodity is said to have international market when it is exchanged internationally. Usually, </a:t>
            </a:r>
            <a:r>
              <a:rPr lang="en-US" sz="2400" b="1" dirty="0" smtClean="0">
                <a:solidFill>
                  <a:srgbClr val="FF0000"/>
                </a:solidFill>
              </a:rPr>
              <a:t>high value </a:t>
            </a:r>
            <a:r>
              <a:rPr lang="en-US" sz="2400" b="1" dirty="0" smtClean="0"/>
              <a:t>and </a:t>
            </a:r>
            <a:r>
              <a:rPr lang="en-US" sz="2400" b="1" dirty="0" smtClean="0">
                <a:solidFill>
                  <a:srgbClr val="FF0000"/>
                </a:solidFill>
              </a:rPr>
              <a:t>small bulk commodities </a:t>
            </a:r>
            <a:r>
              <a:rPr lang="en-US" sz="2400" b="1" dirty="0" smtClean="0"/>
              <a:t>are demanded and traded internationally. For example </a:t>
            </a:r>
            <a:r>
              <a:rPr lang="en-US" sz="2400" b="1" dirty="0" smtClean="0">
                <a:solidFill>
                  <a:srgbClr val="FF0000"/>
                </a:solidFill>
              </a:rPr>
              <a:t>Gold and Silver </a:t>
            </a:r>
            <a:r>
              <a:rPr lang="en-US" sz="2400" b="1" dirty="0" smtClean="0"/>
              <a:t>are examples of commodities that have international market.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	</a:t>
            </a:r>
            <a:r>
              <a:rPr lang="en-US" sz="2400" b="1" dirty="0" smtClean="0"/>
              <a:t>The </a:t>
            </a:r>
            <a:r>
              <a:rPr lang="en-US" sz="2400" b="1" dirty="0" smtClean="0"/>
              <a:t>above </a:t>
            </a:r>
            <a:r>
              <a:rPr lang="en-US" sz="2400" b="1" dirty="0" smtClean="0"/>
              <a:t>classification </a:t>
            </a:r>
            <a:r>
              <a:rPr lang="en-US" sz="2400" b="1" dirty="0" smtClean="0"/>
              <a:t>has become more or less outdated as we </a:t>
            </a:r>
            <a:r>
              <a:rPr lang="en-US" sz="2400" b="1" dirty="0" smtClean="0"/>
              <a:t>find </a:t>
            </a:r>
            <a:r>
              <a:rPr lang="en-US" sz="2400" b="1" dirty="0" smtClean="0"/>
              <a:t>that in modern days </a:t>
            </a:r>
            <a:r>
              <a:rPr lang="en-US" sz="2400" b="1" dirty="0" smtClean="0">
                <a:solidFill>
                  <a:srgbClr val="FF0000"/>
                </a:solidFill>
              </a:rPr>
              <a:t>even highly perishable goods have international market.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28601"/>
            <a:ext cx="8839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On the basis of Time </a:t>
            </a:r>
            <a:r>
              <a:rPr lang="en-US" sz="2400" b="1" dirty="0" smtClean="0"/>
              <a:t>Alfred Marshall conceived the ‘Time’ element in markets and on the basis of this, markets are </a:t>
            </a:r>
            <a:r>
              <a:rPr lang="en-US" sz="2400" b="1" dirty="0" smtClean="0"/>
              <a:t>classified </a:t>
            </a:r>
            <a:r>
              <a:rPr lang="en-US" sz="2400" b="1" dirty="0" smtClean="0"/>
              <a:t>into: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Very </a:t>
            </a:r>
            <a:r>
              <a:rPr lang="en-US" sz="2400" b="1" dirty="0" smtClean="0">
                <a:solidFill>
                  <a:srgbClr val="FF0000"/>
                </a:solidFill>
              </a:rPr>
              <a:t>short period market: </a:t>
            </a:r>
            <a:r>
              <a:rPr lang="en-US" sz="2400" b="1" dirty="0" smtClean="0"/>
              <a:t>Market period or very short period refers to a period of time in which </a:t>
            </a:r>
            <a:r>
              <a:rPr lang="en-US" sz="2400" b="1" dirty="0" smtClean="0">
                <a:solidFill>
                  <a:srgbClr val="FF0000"/>
                </a:solidFill>
              </a:rPr>
              <a:t>supply is </a:t>
            </a:r>
            <a:r>
              <a:rPr lang="en-US" sz="2400" b="1" dirty="0" smtClean="0">
                <a:solidFill>
                  <a:srgbClr val="FF0000"/>
                </a:solidFill>
              </a:rPr>
              <a:t>fixed </a:t>
            </a:r>
            <a:r>
              <a:rPr lang="en-US" sz="2400" b="1" dirty="0" smtClean="0">
                <a:solidFill>
                  <a:srgbClr val="FF0000"/>
                </a:solidFill>
              </a:rPr>
              <a:t>and cannot be increased or decreased.</a:t>
            </a:r>
            <a:r>
              <a:rPr lang="en-US" sz="2400" b="1" dirty="0" smtClean="0"/>
              <a:t> Commodities like </a:t>
            </a:r>
            <a:r>
              <a:rPr lang="en-US" sz="2400" b="1" dirty="0" smtClean="0">
                <a:solidFill>
                  <a:srgbClr val="FF0000"/>
                </a:solidFill>
              </a:rPr>
              <a:t>vegetables, </a:t>
            </a:r>
            <a:r>
              <a:rPr lang="en-US" sz="2400" b="1" dirty="0" smtClean="0">
                <a:solidFill>
                  <a:srgbClr val="FF0000"/>
                </a:solidFill>
              </a:rPr>
              <a:t>flower</a:t>
            </a:r>
            <a:r>
              <a:rPr lang="en-US" sz="2400" b="1" dirty="0" smtClean="0">
                <a:solidFill>
                  <a:srgbClr val="FF0000"/>
                </a:solidFill>
              </a:rPr>
              <a:t>, </a:t>
            </a:r>
            <a:r>
              <a:rPr lang="en-US" sz="2400" b="1" dirty="0" smtClean="0">
                <a:solidFill>
                  <a:srgbClr val="FF0000"/>
                </a:solidFill>
              </a:rPr>
              <a:t>fish</a:t>
            </a:r>
            <a:r>
              <a:rPr lang="en-US" sz="2400" b="1" dirty="0" smtClean="0">
                <a:solidFill>
                  <a:srgbClr val="FF0000"/>
                </a:solidFill>
              </a:rPr>
              <a:t>, eggs, fruits, milk, etc., </a:t>
            </a:r>
            <a:r>
              <a:rPr lang="en-US" sz="2400" b="1" dirty="0" smtClean="0"/>
              <a:t>which are </a:t>
            </a:r>
            <a:r>
              <a:rPr lang="en-US" sz="2400" b="1" dirty="0" smtClean="0">
                <a:solidFill>
                  <a:srgbClr val="FF0000"/>
                </a:solidFill>
              </a:rPr>
              <a:t>perishable</a:t>
            </a:r>
            <a:r>
              <a:rPr lang="en-US" sz="2400" b="1" dirty="0" smtClean="0"/>
              <a:t> and the </a:t>
            </a:r>
            <a:r>
              <a:rPr lang="en-US" sz="2400" b="1" dirty="0" smtClean="0">
                <a:solidFill>
                  <a:srgbClr val="FF0000"/>
                </a:solidFill>
              </a:rPr>
              <a:t>supply of which cannot be changed in the very short period </a:t>
            </a:r>
            <a:r>
              <a:rPr lang="en-US" sz="2400" b="1" dirty="0" smtClean="0"/>
              <a:t>come under this category. Since </a:t>
            </a:r>
            <a:r>
              <a:rPr lang="en-US" sz="2400" b="1" dirty="0" smtClean="0">
                <a:solidFill>
                  <a:srgbClr val="FF0000"/>
                </a:solidFill>
              </a:rPr>
              <a:t>supply is </a:t>
            </a:r>
            <a:r>
              <a:rPr lang="en-US" sz="2400" b="1" dirty="0" smtClean="0">
                <a:solidFill>
                  <a:srgbClr val="FF0000"/>
                </a:solidFill>
              </a:rPr>
              <a:t>fixed</a:t>
            </a:r>
            <a:r>
              <a:rPr lang="en-US" sz="2400" b="1" dirty="0" smtClean="0"/>
              <a:t>, </a:t>
            </a:r>
            <a:r>
              <a:rPr lang="en-US" sz="2400" b="1" dirty="0" smtClean="0">
                <a:solidFill>
                  <a:srgbClr val="FF0000"/>
                </a:solidFill>
              </a:rPr>
              <a:t>very short period price </a:t>
            </a:r>
            <a:r>
              <a:rPr lang="en-US" sz="2400" b="1" dirty="0" smtClean="0"/>
              <a:t>is </a:t>
            </a:r>
            <a:r>
              <a:rPr lang="en-US" sz="2400" b="1" dirty="0" smtClean="0">
                <a:solidFill>
                  <a:srgbClr val="FF0000"/>
                </a:solidFill>
              </a:rPr>
              <a:t>dependent on demand</a:t>
            </a:r>
            <a:r>
              <a:rPr lang="en-US" sz="2400" b="1" dirty="0" smtClean="0"/>
              <a:t>. An </a:t>
            </a:r>
            <a:r>
              <a:rPr lang="en-US" sz="2400" b="1" dirty="0" smtClean="0">
                <a:solidFill>
                  <a:srgbClr val="FF0000"/>
                </a:solidFill>
              </a:rPr>
              <a:t>increase in demand </a:t>
            </a:r>
            <a:r>
              <a:rPr lang="en-US" sz="2400" b="1" dirty="0" smtClean="0"/>
              <a:t>will </a:t>
            </a:r>
            <a:r>
              <a:rPr lang="en-US" sz="2400" b="1" dirty="0" smtClean="0">
                <a:solidFill>
                  <a:srgbClr val="FF0000"/>
                </a:solidFill>
              </a:rPr>
              <a:t>raise the prices vice versa</a:t>
            </a:r>
            <a:r>
              <a:rPr lang="en-US" sz="2400" b="1" dirty="0" smtClean="0"/>
              <a:t>. 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0"/>
            <a:ext cx="8686800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Short-period Market: </a:t>
            </a:r>
            <a:r>
              <a:rPr lang="en-US" sz="2400" b="1" dirty="0" smtClean="0"/>
              <a:t>Short period is a period which is </a:t>
            </a:r>
            <a:r>
              <a:rPr lang="en-US" sz="2400" b="1" dirty="0" smtClean="0">
                <a:solidFill>
                  <a:srgbClr val="FF0000"/>
                </a:solidFill>
              </a:rPr>
              <a:t>slightly longer than the very short period</a:t>
            </a:r>
            <a:r>
              <a:rPr lang="en-US" sz="2400" b="1" dirty="0" smtClean="0"/>
              <a:t>. In this period, the </a:t>
            </a:r>
            <a:r>
              <a:rPr lang="en-US" sz="2400" b="1" dirty="0" smtClean="0">
                <a:solidFill>
                  <a:srgbClr val="FF0000"/>
                </a:solidFill>
              </a:rPr>
              <a:t>supply of output may be increased by increasing the employment of variable factors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with the given </a:t>
            </a:r>
            <a:r>
              <a:rPr lang="en-US" sz="2400" b="1" dirty="0" smtClean="0">
                <a:solidFill>
                  <a:srgbClr val="FF0000"/>
                </a:solidFill>
              </a:rPr>
              <a:t>fixed </a:t>
            </a:r>
            <a:r>
              <a:rPr lang="en-US" sz="2400" b="1" dirty="0" smtClean="0">
                <a:solidFill>
                  <a:srgbClr val="FF0000"/>
                </a:solidFill>
              </a:rPr>
              <a:t>factors and state of technology</a:t>
            </a:r>
            <a:r>
              <a:rPr lang="en-US" sz="2400" b="1" dirty="0" smtClean="0"/>
              <a:t>. Since supply can be moderately adjusted, the </a:t>
            </a:r>
            <a:r>
              <a:rPr lang="en-US" sz="2400" b="1" dirty="0" smtClean="0">
                <a:solidFill>
                  <a:srgbClr val="FF0000"/>
                </a:solidFill>
              </a:rPr>
              <a:t>changes </a:t>
            </a:r>
            <a:r>
              <a:rPr lang="en-US" sz="2400" b="1" dirty="0" smtClean="0"/>
              <a:t>in the </a:t>
            </a:r>
            <a:r>
              <a:rPr lang="en-US" sz="2400" b="1" dirty="0" smtClean="0">
                <a:solidFill>
                  <a:srgbClr val="FF0000"/>
                </a:solidFill>
              </a:rPr>
              <a:t>short period prices</a:t>
            </a:r>
            <a:r>
              <a:rPr lang="en-US" sz="2400" b="1" dirty="0" smtClean="0"/>
              <a:t> on account of </a:t>
            </a:r>
            <a:r>
              <a:rPr lang="en-US" sz="2400" b="1" dirty="0" smtClean="0">
                <a:solidFill>
                  <a:srgbClr val="FF0000"/>
                </a:solidFill>
              </a:rPr>
              <a:t>changes in demand </a:t>
            </a:r>
            <a:r>
              <a:rPr lang="en-US" sz="2400" b="1" dirty="0" smtClean="0"/>
              <a:t>are </a:t>
            </a:r>
            <a:r>
              <a:rPr lang="en-US" sz="2400" b="1" dirty="0" smtClean="0">
                <a:solidFill>
                  <a:srgbClr val="FF0000"/>
                </a:solidFill>
              </a:rPr>
              <a:t>less compared to market period.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Long-period </a:t>
            </a:r>
            <a:r>
              <a:rPr lang="en-US" sz="2400" b="1" dirty="0" smtClean="0">
                <a:solidFill>
                  <a:srgbClr val="FF0000"/>
                </a:solidFill>
              </a:rPr>
              <a:t>Market: </a:t>
            </a:r>
            <a:r>
              <a:rPr lang="en-US" sz="2400" b="1" dirty="0" smtClean="0"/>
              <a:t>In the long period, </a:t>
            </a:r>
            <a:r>
              <a:rPr lang="en-US" sz="2400" b="1" dirty="0" smtClean="0">
                <a:solidFill>
                  <a:srgbClr val="FF0000"/>
                </a:solidFill>
              </a:rPr>
              <a:t>all factors become variable </a:t>
            </a:r>
            <a:r>
              <a:rPr lang="en-US" sz="2400" b="1" dirty="0" smtClean="0"/>
              <a:t>and the </a:t>
            </a:r>
            <a:r>
              <a:rPr lang="en-US" sz="2400" b="1" dirty="0" smtClean="0">
                <a:solidFill>
                  <a:srgbClr val="FF0000"/>
                </a:solidFill>
              </a:rPr>
              <a:t>supply of commodities may be changed by altering the scale of production. </a:t>
            </a:r>
            <a:r>
              <a:rPr lang="en-US" sz="2400" b="1" dirty="0" smtClean="0"/>
              <a:t>As such, supply may be fully adjusted to changes in demand conditions. </a:t>
            </a:r>
          </a:p>
          <a:p>
            <a:r>
              <a:rPr lang="en-US" sz="2400" b="1" dirty="0" smtClean="0"/>
              <a:t>	The </a:t>
            </a:r>
            <a:r>
              <a:rPr lang="en-US" sz="2400" b="1" dirty="0" smtClean="0"/>
              <a:t>interaction between </a:t>
            </a:r>
            <a:r>
              <a:rPr lang="en-US" sz="2400" b="1" dirty="0" smtClean="0">
                <a:solidFill>
                  <a:srgbClr val="FF0000"/>
                </a:solidFill>
              </a:rPr>
              <a:t>long run supply and demand </a:t>
            </a:r>
            <a:r>
              <a:rPr lang="en-US" sz="2400" b="1" dirty="0" smtClean="0"/>
              <a:t>determines </a:t>
            </a:r>
            <a:r>
              <a:rPr lang="en-US" sz="2400" b="1" dirty="0" smtClean="0">
                <a:solidFill>
                  <a:srgbClr val="FF0000"/>
                </a:solidFill>
              </a:rPr>
              <a:t>long run equilibrium price </a:t>
            </a:r>
            <a:r>
              <a:rPr lang="en-US" sz="2400" b="1" dirty="0" smtClean="0"/>
              <a:t>or ‘</a:t>
            </a:r>
            <a:r>
              <a:rPr lang="en-US" sz="2400" b="1" dirty="0" smtClean="0">
                <a:solidFill>
                  <a:srgbClr val="FF0000"/>
                </a:solidFill>
              </a:rPr>
              <a:t>normal price</a:t>
            </a:r>
            <a:r>
              <a:rPr lang="en-US" sz="2400" b="1" dirty="0" smtClean="0"/>
              <a:t>’. 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1"/>
            <a:ext cx="86868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Very long-period or secular period </a:t>
            </a:r>
            <a:r>
              <a:rPr lang="en-US" sz="2400" b="1" dirty="0" smtClean="0"/>
              <a:t>is one when secular movements are recorded in certain factors over a period of time. The period is </a:t>
            </a:r>
            <a:r>
              <a:rPr lang="en-US" sz="2400" b="1" dirty="0" smtClean="0">
                <a:solidFill>
                  <a:srgbClr val="FF0000"/>
                </a:solidFill>
              </a:rPr>
              <a:t>very long</a:t>
            </a:r>
            <a:r>
              <a:rPr lang="en-US" sz="2400" b="1" dirty="0" smtClean="0"/>
              <a:t>. The factors include the </a:t>
            </a:r>
            <a:r>
              <a:rPr lang="en-US" sz="2400" b="1" dirty="0" smtClean="0">
                <a:solidFill>
                  <a:srgbClr val="FF0000"/>
                </a:solidFill>
              </a:rPr>
              <a:t>size of the population</a:t>
            </a:r>
            <a:r>
              <a:rPr lang="en-US" sz="2400" b="1" dirty="0" smtClean="0"/>
              <a:t>, </a:t>
            </a:r>
            <a:r>
              <a:rPr lang="en-US" sz="2400" b="1" dirty="0" smtClean="0">
                <a:solidFill>
                  <a:srgbClr val="FF0000"/>
                </a:solidFill>
              </a:rPr>
              <a:t>capital supply, supply of raw materials etc</a:t>
            </a:r>
            <a:r>
              <a:rPr lang="en-US" sz="2400" b="1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On the basis of Nature of Transactions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AutoNum type="alphaLcPeriod"/>
            </a:pPr>
            <a:r>
              <a:rPr lang="en-US" sz="2400" b="1" dirty="0" smtClean="0">
                <a:solidFill>
                  <a:srgbClr val="FF0000"/>
                </a:solidFill>
              </a:rPr>
              <a:t>Spot </a:t>
            </a:r>
            <a:r>
              <a:rPr lang="en-US" sz="2400" b="1" dirty="0" smtClean="0">
                <a:solidFill>
                  <a:srgbClr val="FF0000"/>
                </a:solidFill>
              </a:rPr>
              <a:t>or cash Market: </a:t>
            </a:r>
            <a:r>
              <a:rPr lang="en-US" sz="2400" b="1" dirty="0" smtClean="0"/>
              <a:t>Spot transactions or spot markets refer to those markets where </a:t>
            </a:r>
            <a:r>
              <a:rPr lang="en-US" sz="2400" b="1" dirty="0" smtClean="0">
                <a:solidFill>
                  <a:srgbClr val="FF0000"/>
                </a:solidFill>
              </a:rPr>
              <a:t>goods are exchanged for money payable either immediately or within a short span of time.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AutoNum type="alphaLcPeriod"/>
            </a:pPr>
            <a:r>
              <a:rPr lang="en-US" sz="2400" b="1" dirty="0" smtClean="0">
                <a:solidFill>
                  <a:srgbClr val="FF0000"/>
                </a:solidFill>
              </a:rPr>
              <a:t>Forward </a:t>
            </a:r>
            <a:r>
              <a:rPr lang="en-US" sz="2400" b="1" dirty="0" smtClean="0">
                <a:solidFill>
                  <a:srgbClr val="FF0000"/>
                </a:solidFill>
              </a:rPr>
              <a:t>or Future Market: </a:t>
            </a:r>
            <a:r>
              <a:rPr lang="en-US" sz="2400" b="1" dirty="0" smtClean="0"/>
              <a:t>In this market, transactions involve </a:t>
            </a:r>
            <a:r>
              <a:rPr lang="en-US" sz="2400" b="1" dirty="0" smtClean="0">
                <a:solidFill>
                  <a:srgbClr val="FF0000"/>
                </a:solidFill>
              </a:rPr>
              <a:t>contracts with a promise to pay and deliver goods at some future date.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686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On the basis of Regulation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AutoNum type="alphaLcPeriod"/>
            </a:pPr>
            <a:r>
              <a:rPr lang="en-US" sz="2400" b="1" dirty="0" smtClean="0">
                <a:solidFill>
                  <a:srgbClr val="FF0000"/>
                </a:solidFill>
              </a:rPr>
              <a:t>Regulated </a:t>
            </a:r>
            <a:r>
              <a:rPr lang="en-US" sz="2400" b="1" dirty="0" smtClean="0">
                <a:solidFill>
                  <a:srgbClr val="FF0000"/>
                </a:solidFill>
              </a:rPr>
              <a:t>Market: </a:t>
            </a:r>
            <a:r>
              <a:rPr lang="en-US" sz="2400" b="1" dirty="0" smtClean="0"/>
              <a:t>In this market, transactions are statutorily regulated so as to put an </a:t>
            </a:r>
            <a:r>
              <a:rPr lang="en-US" sz="2400" b="1" dirty="0" smtClean="0">
                <a:solidFill>
                  <a:srgbClr val="FF0000"/>
                </a:solidFill>
              </a:rPr>
              <a:t>end to unfair practices</a:t>
            </a:r>
            <a:r>
              <a:rPr lang="en-US" sz="2400" b="1" dirty="0" smtClean="0"/>
              <a:t>. Such markets may be established for </a:t>
            </a:r>
            <a:r>
              <a:rPr lang="en-US" sz="2400" b="1" dirty="0" smtClean="0"/>
              <a:t>specific </a:t>
            </a:r>
            <a:r>
              <a:rPr lang="en-US" sz="2400" b="1" dirty="0" smtClean="0"/>
              <a:t>products or for a group of products. </a:t>
            </a:r>
            <a:r>
              <a:rPr lang="en-US" sz="2400" b="1" dirty="0" err="1" smtClean="0"/>
              <a:t>Eg</a:t>
            </a:r>
            <a:r>
              <a:rPr lang="en-US" sz="2400" b="1" dirty="0" smtClean="0"/>
              <a:t>. </a:t>
            </a:r>
            <a:r>
              <a:rPr lang="en-US" sz="2400" b="1" dirty="0" smtClean="0">
                <a:solidFill>
                  <a:srgbClr val="FF0000"/>
                </a:solidFill>
              </a:rPr>
              <a:t>Stock exchange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AutoNum type="alphaLcPeriod"/>
            </a:pPr>
            <a:r>
              <a:rPr lang="en-US" sz="2400" b="1" dirty="0" smtClean="0">
                <a:solidFill>
                  <a:srgbClr val="FF0000"/>
                </a:solidFill>
              </a:rPr>
              <a:t>Unregulated </a:t>
            </a:r>
            <a:r>
              <a:rPr lang="en-US" sz="2400" b="1" dirty="0" smtClean="0">
                <a:solidFill>
                  <a:srgbClr val="FF0000"/>
                </a:solidFill>
              </a:rPr>
              <a:t>Market: </a:t>
            </a:r>
            <a:r>
              <a:rPr lang="en-US" sz="2400" b="1" dirty="0" smtClean="0"/>
              <a:t>It is also called a </a:t>
            </a:r>
            <a:r>
              <a:rPr lang="en-US" sz="2400" b="1" dirty="0" smtClean="0">
                <a:solidFill>
                  <a:srgbClr val="FF0000"/>
                </a:solidFill>
              </a:rPr>
              <a:t>free market </a:t>
            </a:r>
            <a:r>
              <a:rPr lang="en-US" sz="2400" b="1" dirty="0" smtClean="0"/>
              <a:t>as there are no stipulations on the transactions. </a:t>
            </a:r>
            <a:endParaRPr lang="en-US" sz="2400" b="1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86106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On the basis of volume of Business 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a. Wholesale Market: </a:t>
            </a:r>
            <a:r>
              <a:rPr lang="en-US" sz="2400" b="1" dirty="0" smtClean="0"/>
              <a:t>The wholesale market is the market where the commodities are </a:t>
            </a:r>
            <a:r>
              <a:rPr lang="en-US" sz="2400" b="1" dirty="0" smtClean="0">
                <a:solidFill>
                  <a:srgbClr val="FF0000"/>
                </a:solidFill>
              </a:rPr>
              <a:t>bought and sold in bulk or large quantities.</a:t>
            </a:r>
            <a:r>
              <a:rPr lang="en-US" sz="2400" b="1" dirty="0" smtClean="0"/>
              <a:t> Transactions generally take place </a:t>
            </a:r>
            <a:r>
              <a:rPr lang="en-US" sz="2400" b="1" dirty="0" smtClean="0">
                <a:solidFill>
                  <a:srgbClr val="FF0000"/>
                </a:solidFill>
              </a:rPr>
              <a:t>between traders</a:t>
            </a:r>
            <a:r>
              <a:rPr lang="en-US" sz="2400" b="1" dirty="0" smtClean="0"/>
              <a:t>. </a:t>
            </a:r>
            <a:endParaRPr lang="en-US" sz="2400" dirty="0" smtClean="0"/>
          </a:p>
          <a:p>
            <a:pPr marL="457200" indent="-457200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b</a:t>
            </a:r>
            <a:r>
              <a:rPr lang="en-US" sz="2400" b="1" dirty="0" smtClean="0">
                <a:solidFill>
                  <a:srgbClr val="FF0000"/>
                </a:solidFill>
              </a:rPr>
              <a:t>. Retail Market: </a:t>
            </a:r>
            <a:r>
              <a:rPr lang="en-US" sz="2400" b="1" dirty="0" smtClean="0"/>
              <a:t>When the commodities are sold in </a:t>
            </a:r>
            <a:r>
              <a:rPr lang="en-US" sz="2400" b="1" dirty="0" smtClean="0">
                <a:solidFill>
                  <a:srgbClr val="FF0000"/>
                </a:solidFill>
              </a:rPr>
              <a:t>small quantities, </a:t>
            </a:r>
            <a:r>
              <a:rPr lang="en-US" sz="2400" b="1" dirty="0" smtClean="0"/>
              <a:t>it is called retail market. This is the market for </a:t>
            </a:r>
            <a:r>
              <a:rPr lang="en-US" sz="2400" b="1" dirty="0" smtClean="0">
                <a:solidFill>
                  <a:srgbClr val="FF0000"/>
                </a:solidFill>
              </a:rPr>
              <a:t>ultimate consumers</a:t>
            </a:r>
            <a:r>
              <a:rPr lang="en-US" sz="2400" b="1" dirty="0" smtClean="0"/>
              <a:t>. </a:t>
            </a:r>
            <a:endParaRPr lang="en-US" sz="2400" b="1" dirty="0" smtClean="0"/>
          </a:p>
          <a:p>
            <a:pPr marL="457200" indent="-457200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On </a:t>
            </a:r>
            <a:r>
              <a:rPr lang="en-US" sz="2400" b="1" dirty="0" smtClean="0">
                <a:solidFill>
                  <a:srgbClr val="FF0000"/>
                </a:solidFill>
              </a:rPr>
              <a:t>the basis of Competition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en-US" sz="2400" b="1" dirty="0" smtClean="0"/>
              <a:t>Based </a:t>
            </a:r>
            <a:r>
              <a:rPr lang="en-US" sz="2400" b="1" dirty="0" smtClean="0"/>
              <a:t>on the type of competition markets are </a:t>
            </a:r>
            <a:r>
              <a:rPr lang="en-US" sz="2400" b="1" dirty="0" smtClean="0"/>
              <a:t>classified </a:t>
            </a:r>
            <a:r>
              <a:rPr lang="en-US" sz="2400" b="1" dirty="0" smtClean="0"/>
              <a:t>into </a:t>
            </a:r>
            <a:endParaRPr lang="en-US" sz="2400" b="1" dirty="0" smtClean="0"/>
          </a:p>
          <a:p>
            <a:pPr marL="457200" indent="-457200">
              <a:lnSpc>
                <a:spcPct val="150000"/>
              </a:lnSpc>
              <a:buAutoNum type="alphaLcParenR"/>
            </a:pPr>
            <a:r>
              <a:rPr lang="en-US" sz="2400" b="1" dirty="0" smtClean="0">
                <a:solidFill>
                  <a:srgbClr val="FF0000"/>
                </a:solidFill>
              </a:rPr>
              <a:t>perfectly </a:t>
            </a:r>
            <a:r>
              <a:rPr lang="en-US" sz="2400" b="1" dirty="0" smtClean="0">
                <a:solidFill>
                  <a:srgbClr val="FF0000"/>
                </a:solidFill>
              </a:rPr>
              <a:t>competitive </a:t>
            </a:r>
            <a:r>
              <a:rPr lang="en-US" sz="2400" b="1" dirty="0" smtClean="0"/>
              <a:t>market and </a:t>
            </a:r>
            <a:endParaRPr lang="en-US" sz="2400" b="1" dirty="0" smtClean="0"/>
          </a:p>
          <a:p>
            <a:pPr marL="457200" indent="-457200">
              <a:lnSpc>
                <a:spcPct val="150000"/>
              </a:lnSpc>
              <a:buAutoNum type="alphaLcParenR"/>
            </a:pPr>
            <a:r>
              <a:rPr lang="en-US" sz="2400" b="1" dirty="0" smtClean="0">
                <a:solidFill>
                  <a:srgbClr val="FF0000"/>
                </a:solidFill>
              </a:rPr>
              <a:t>imperfectly </a:t>
            </a:r>
            <a:r>
              <a:rPr lang="en-US" sz="2400" b="1" dirty="0" smtClean="0">
                <a:solidFill>
                  <a:srgbClr val="FF0000"/>
                </a:solidFill>
              </a:rPr>
              <a:t>competitive </a:t>
            </a:r>
            <a:r>
              <a:rPr lang="en-US" sz="2400" b="1" dirty="0" smtClean="0"/>
              <a:t>market. 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0"/>
            <a:ext cx="86868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TYPES OF MARKET </a:t>
            </a:r>
            <a:r>
              <a:rPr lang="en-US" sz="2400" b="1" dirty="0" smtClean="0">
                <a:solidFill>
                  <a:srgbClr val="FF0000"/>
                </a:solidFill>
              </a:rPr>
              <a:t>STRUCTURES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Perfect </a:t>
            </a:r>
            <a:r>
              <a:rPr lang="en-US" sz="2400" b="1" dirty="0" smtClean="0">
                <a:solidFill>
                  <a:srgbClr val="FF0000"/>
                </a:solidFill>
              </a:rPr>
              <a:t>Competition: </a:t>
            </a:r>
            <a:r>
              <a:rPr lang="en-US" sz="2400" b="1" dirty="0" smtClean="0"/>
              <a:t>Perfect competition is </a:t>
            </a:r>
            <a:r>
              <a:rPr lang="en-US" sz="2400" b="1" dirty="0" err="1" smtClean="0"/>
              <a:t>characterised</a:t>
            </a:r>
            <a:r>
              <a:rPr lang="en-US" sz="2400" b="1" dirty="0" smtClean="0"/>
              <a:t> by </a:t>
            </a:r>
            <a:r>
              <a:rPr lang="en-US" sz="2400" b="1" dirty="0" smtClean="0">
                <a:solidFill>
                  <a:srgbClr val="FF0000"/>
                </a:solidFill>
              </a:rPr>
              <a:t>many sellers</a:t>
            </a:r>
            <a:r>
              <a:rPr lang="en-US" sz="2400" b="1" dirty="0" smtClean="0"/>
              <a:t> selling </a:t>
            </a:r>
            <a:r>
              <a:rPr lang="en-US" sz="2400" b="1" dirty="0" smtClean="0">
                <a:solidFill>
                  <a:srgbClr val="FF0000"/>
                </a:solidFill>
              </a:rPr>
              <a:t>identical products </a:t>
            </a:r>
            <a:r>
              <a:rPr lang="en-US" sz="2400" b="1" dirty="0" smtClean="0"/>
              <a:t>to</a:t>
            </a:r>
            <a:r>
              <a:rPr lang="en-US" sz="2400" b="1" dirty="0" smtClean="0">
                <a:solidFill>
                  <a:srgbClr val="FF0000"/>
                </a:solidFill>
              </a:rPr>
              <a:t> many buyers</a:t>
            </a:r>
            <a:r>
              <a:rPr lang="en-US" sz="2400" b="1" dirty="0" smtClean="0"/>
              <a:t>.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Monopolistic </a:t>
            </a:r>
            <a:r>
              <a:rPr lang="en-US" sz="2400" b="1" dirty="0" smtClean="0">
                <a:solidFill>
                  <a:srgbClr val="FF0000"/>
                </a:solidFill>
              </a:rPr>
              <a:t>Competition: </a:t>
            </a:r>
            <a:r>
              <a:rPr lang="en-US" sz="2400" b="1" dirty="0" smtClean="0"/>
              <a:t>It </a:t>
            </a:r>
            <a:r>
              <a:rPr lang="en-US" sz="2400" b="1" dirty="0" smtClean="0"/>
              <a:t>differs </a:t>
            </a:r>
            <a:r>
              <a:rPr lang="en-US" sz="2400" b="1" dirty="0" smtClean="0"/>
              <a:t>in only one respect, namely, there are </a:t>
            </a:r>
            <a:r>
              <a:rPr lang="en-US" sz="2400" b="1" dirty="0" smtClean="0">
                <a:solidFill>
                  <a:srgbClr val="FF0000"/>
                </a:solidFill>
              </a:rPr>
              <a:t>many sellers </a:t>
            </a:r>
            <a:r>
              <a:rPr lang="en-US" sz="2400" b="1" dirty="0" smtClean="0"/>
              <a:t>offering </a:t>
            </a:r>
            <a:r>
              <a:rPr lang="en-US" sz="2400" b="1" dirty="0" smtClean="0">
                <a:solidFill>
                  <a:srgbClr val="FF0000"/>
                </a:solidFill>
              </a:rPr>
              <a:t>differentiated </a:t>
            </a:r>
            <a:r>
              <a:rPr lang="en-US" sz="2400" b="1" dirty="0" smtClean="0">
                <a:solidFill>
                  <a:srgbClr val="FF0000"/>
                </a:solidFill>
              </a:rPr>
              <a:t>products </a:t>
            </a:r>
            <a:r>
              <a:rPr lang="en-US" sz="2400" b="1" dirty="0" smtClean="0"/>
              <a:t>to many buyers.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Monopoly</a:t>
            </a:r>
            <a:r>
              <a:rPr lang="en-US" sz="2400" b="1" dirty="0" smtClean="0">
                <a:solidFill>
                  <a:srgbClr val="FF0000"/>
                </a:solidFill>
              </a:rPr>
              <a:t>: </a:t>
            </a:r>
            <a:r>
              <a:rPr lang="en-US" sz="2400" b="1" dirty="0" smtClean="0"/>
              <a:t>It is a situation where there is a </a:t>
            </a:r>
            <a:r>
              <a:rPr lang="en-US" sz="2400" b="1" dirty="0" smtClean="0">
                <a:solidFill>
                  <a:srgbClr val="FF0000"/>
                </a:solidFill>
              </a:rPr>
              <a:t>single seller </a:t>
            </a:r>
            <a:r>
              <a:rPr lang="en-US" sz="2400" b="1" dirty="0" smtClean="0"/>
              <a:t>producing for </a:t>
            </a:r>
            <a:r>
              <a:rPr lang="en-US" sz="2400" b="1" dirty="0" smtClean="0">
                <a:solidFill>
                  <a:srgbClr val="FF0000"/>
                </a:solidFill>
              </a:rPr>
              <a:t>many buyers</a:t>
            </a:r>
            <a:r>
              <a:rPr lang="en-US" sz="2400" b="1" dirty="0" smtClean="0"/>
              <a:t>. Its product is necessarily extremely </a:t>
            </a:r>
            <a:r>
              <a:rPr lang="en-US" sz="2400" b="1" dirty="0" smtClean="0"/>
              <a:t>differentiated </a:t>
            </a:r>
            <a:r>
              <a:rPr lang="en-US" sz="2400" b="1" dirty="0" smtClean="0"/>
              <a:t>since there are </a:t>
            </a:r>
            <a:r>
              <a:rPr lang="en-US" sz="2400" b="1" dirty="0" smtClean="0">
                <a:solidFill>
                  <a:srgbClr val="FF0000"/>
                </a:solidFill>
              </a:rPr>
              <a:t>no competing sellers </a:t>
            </a:r>
            <a:r>
              <a:rPr lang="en-US" sz="2400" b="1" dirty="0" smtClean="0"/>
              <a:t>producing products which are close substitutes. 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Oligopoly</a:t>
            </a:r>
            <a:r>
              <a:rPr lang="en-US" sz="2400" b="1" dirty="0" smtClean="0">
                <a:solidFill>
                  <a:srgbClr val="FF0000"/>
                </a:solidFill>
              </a:rPr>
              <a:t>: </a:t>
            </a:r>
            <a:r>
              <a:rPr lang="en-US" sz="2400" b="1" dirty="0" smtClean="0"/>
              <a:t>There are a </a:t>
            </a:r>
            <a:r>
              <a:rPr lang="en-US" sz="2400" b="1" dirty="0" smtClean="0">
                <a:solidFill>
                  <a:srgbClr val="FF0000"/>
                </a:solidFill>
              </a:rPr>
              <a:t>few sellers </a:t>
            </a:r>
            <a:r>
              <a:rPr lang="en-US" sz="2400" b="1" dirty="0" smtClean="0"/>
              <a:t>selling competing products to </a:t>
            </a:r>
            <a:r>
              <a:rPr lang="en-US" sz="2400" b="1" dirty="0" smtClean="0">
                <a:solidFill>
                  <a:srgbClr val="FF0000"/>
                </a:solidFill>
              </a:rPr>
              <a:t>many buyers</a:t>
            </a:r>
            <a:r>
              <a:rPr lang="en-US" sz="2400" b="1" dirty="0" smtClean="0"/>
              <a:t>. 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1"/>
            <a:ext cx="8686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Table 1 - Distinguishing Features of Major Types of Markets 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lum bright="-69000" contrast="63000"/>
          </a:blip>
          <a:srcRect/>
          <a:stretch>
            <a:fillRect/>
          </a:stretch>
        </p:blipFill>
        <p:spPr bwMode="auto">
          <a:xfrm>
            <a:off x="228600" y="990600"/>
            <a:ext cx="8763000" cy="2819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759</Words>
  <Application>Microsoft Office PowerPoint</Application>
  <PresentationFormat>On-screen Show (4:3)</PresentationFormat>
  <Paragraphs>54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sony</dc:creator>
  <cp:lastModifiedBy>sony</cp:lastModifiedBy>
  <cp:revision>9</cp:revision>
  <dcterms:created xsi:type="dcterms:W3CDTF">2006-08-16T00:00:00Z</dcterms:created>
  <dcterms:modified xsi:type="dcterms:W3CDTF">2024-02-11T17:18:11Z</dcterms:modified>
</cp:coreProperties>
</file>