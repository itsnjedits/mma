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82" r:id="rId20"/>
    <p:sldId id="283" r:id="rId21"/>
    <p:sldId id="278" r:id="rId22"/>
    <p:sldId id="279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7926A-E1D1-4214-8057-1544B172BBD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7D263-3FFD-45BE-A972-78C98A604E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07D263-3FFD-45BE-A972-78C98A604E7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1"/>
            <a:ext cx="8458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SUPPLY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In a market economy, </a:t>
            </a:r>
            <a:r>
              <a:rPr lang="en-US" sz="2400" b="1" dirty="0" smtClean="0">
                <a:solidFill>
                  <a:srgbClr val="FF0000"/>
                </a:solidFill>
              </a:rPr>
              <a:t>sellers for products and services </a:t>
            </a:r>
            <a:r>
              <a:rPr lang="en-US" sz="2400" b="1" dirty="0" smtClean="0"/>
              <a:t>constitute the supply side.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As the term ‘</a:t>
            </a:r>
            <a:r>
              <a:rPr lang="en-US" sz="2400" b="1" dirty="0" smtClean="0">
                <a:solidFill>
                  <a:srgbClr val="FF0000"/>
                </a:solidFill>
              </a:rPr>
              <a:t>demand</a:t>
            </a:r>
            <a:r>
              <a:rPr lang="en-US" sz="2400" b="1" dirty="0" smtClean="0"/>
              <a:t>’ refers to the </a:t>
            </a:r>
            <a:r>
              <a:rPr lang="en-US" sz="2400" b="1" dirty="0" smtClean="0">
                <a:solidFill>
                  <a:srgbClr val="FF0000"/>
                </a:solidFill>
              </a:rPr>
              <a:t>quantity of a good or service</a:t>
            </a:r>
            <a:r>
              <a:rPr lang="en-US" sz="2400" b="1" dirty="0" smtClean="0"/>
              <a:t> that the </a:t>
            </a:r>
            <a:r>
              <a:rPr lang="en-US" sz="2400" b="1" dirty="0" smtClean="0">
                <a:solidFill>
                  <a:srgbClr val="FF0000"/>
                </a:solidFill>
              </a:rPr>
              <a:t>consumers</a:t>
            </a:r>
            <a:r>
              <a:rPr lang="en-US" sz="2400" b="1" dirty="0" smtClean="0"/>
              <a:t> are willing and able to purchase at </a:t>
            </a:r>
            <a:r>
              <a:rPr lang="en-US" sz="2400" b="1" dirty="0" smtClean="0">
                <a:solidFill>
                  <a:srgbClr val="FF0000"/>
                </a:solidFill>
              </a:rPr>
              <a:t>various prices </a:t>
            </a:r>
            <a:r>
              <a:rPr lang="en-US" sz="2400" b="1" dirty="0" smtClean="0"/>
              <a:t>during a </a:t>
            </a:r>
            <a:r>
              <a:rPr lang="en-US" sz="2400" b="1" dirty="0" smtClean="0">
                <a:solidFill>
                  <a:srgbClr val="FF0000"/>
                </a:solidFill>
              </a:rPr>
              <a:t>given period of time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 term ‘</a:t>
            </a:r>
            <a:r>
              <a:rPr lang="en-US" sz="2400" b="1" dirty="0" smtClean="0">
                <a:solidFill>
                  <a:srgbClr val="FF0000"/>
                </a:solidFill>
              </a:rPr>
              <a:t>supply</a:t>
            </a:r>
            <a:r>
              <a:rPr lang="en-US" sz="2400" b="1" dirty="0" smtClean="0"/>
              <a:t>’ refers to the amount of a good or service that the producers are willing and able to offer to the market at </a:t>
            </a:r>
            <a:r>
              <a:rPr lang="en-US" sz="2400" b="1" dirty="0" smtClean="0">
                <a:solidFill>
                  <a:srgbClr val="FF0000"/>
                </a:solidFill>
              </a:rPr>
              <a:t>various prices </a:t>
            </a:r>
            <a:r>
              <a:rPr lang="en-US" sz="2400" b="1" dirty="0" smtClean="0"/>
              <a:t>during a </a:t>
            </a:r>
            <a:r>
              <a:rPr lang="en-US" sz="2400" b="1" dirty="0" smtClean="0">
                <a:solidFill>
                  <a:srgbClr val="FF0000"/>
                </a:solidFill>
              </a:rPr>
              <a:t>given period of time</a:t>
            </a:r>
            <a:r>
              <a:rPr lang="en-US" sz="2400" b="1" dirty="0" smtClean="0"/>
              <a:t>. 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8534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Two important points apply to supply: 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Supply refers to what a firm offer for sale in the market, </a:t>
            </a:r>
            <a:r>
              <a:rPr lang="en-US" sz="2400" b="1" dirty="0" smtClean="0">
                <a:solidFill>
                  <a:srgbClr val="FF0000"/>
                </a:solidFill>
              </a:rPr>
              <a:t>not necessarily </a:t>
            </a:r>
            <a:r>
              <a:rPr lang="en-US" sz="2400" b="1" dirty="0" smtClean="0"/>
              <a:t>to what they succeed in selling. What is offered may not get sold. 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Supply is a flow. The quantity supplied is ‘</a:t>
            </a:r>
            <a:r>
              <a:rPr lang="en-US" sz="2400" b="1" dirty="0" smtClean="0">
                <a:solidFill>
                  <a:srgbClr val="FF0000"/>
                </a:solidFill>
              </a:rPr>
              <a:t>so much’ per unit of time, per day, per week, or per year.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1"/>
            <a:ext cx="853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DETERMINANTS OF SUPPLY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Although </a:t>
            </a:r>
            <a:r>
              <a:rPr lang="en-US" sz="2400" b="1" dirty="0" smtClean="0">
                <a:solidFill>
                  <a:srgbClr val="FF0000"/>
                </a:solidFill>
              </a:rPr>
              <a:t>price</a:t>
            </a:r>
            <a:r>
              <a:rPr lang="en-US" sz="2400" b="1" dirty="0" smtClean="0"/>
              <a:t> is an important consideration in determining the </a:t>
            </a:r>
            <a:r>
              <a:rPr lang="en-US" sz="2400" b="1" dirty="0" smtClean="0">
                <a:solidFill>
                  <a:srgbClr val="FF0000"/>
                </a:solidFill>
              </a:rPr>
              <a:t>willingness and desire </a:t>
            </a:r>
            <a:r>
              <a:rPr lang="en-US" sz="2400" b="1" dirty="0" smtClean="0"/>
              <a:t>to part with commodities, there are </a:t>
            </a:r>
            <a:r>
              <a:rPr lang="en-US" sz="2400" b="1" dirty="0" smtClean="0">
                <a:solidFill>
                  <a:srgbClr val="FF0000"/>
                </a:solidFill>
              </a:rPr>
              <a:t>many other factors </a:t>
            </a:r>
            <a:r>
              <a:rPr lang="en-US" sz="2400" b="1" dirty="0" smtClean="0"/>
              <a:t>which determine the supply of a product or a service. These are discussed below: 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>
                <a:solidFill>
                  <a:srgbClr val="FF0000"/>
                </a:solidFill>
              </a:rPr>
              <a:t>Price of the good</a:t>
            </a:r>
            <a:r>
              <a:rPr lang="en-US" sz="2400" b="1" dirty="0" smtClean="0"/>
              <a:t>: Other things being equal, the </a:t>
            </a:r>
            <a:r>
              <a:rPr lang="en-US" sz="2400" b="1" dirty="0" smtClean="0">
                <a:solidFill>
                  <a:srgbClr val="FF0000"/>
                </a:solidFill>
              </a:rPr>
              <a:t>higher</a:t>
            </a:r>
            <a:r>
              <a:rPr lang="en-US" sz="2400" b="1" dirty="0" smtClean="0"/>
              <a:t> the </a:t>
            </a:r>
            <a:r>
              <a:rPr lang="en-US" sz="2400" b="1" dirty="0" smtClean="0">
                <a:solidFill>
                  <a:srgbClr val="FF0000"/>
                </a:solidFill>
              </a:rPr>
              <a:t>relative price </a:t>
            </a:r>
            <a:r>
              <a:rPr lang="en-US" sz="2400" b="1" dirty="0" smtClean="0"/>
              <a:t>of a good the </a:t>
            </a:r>
            <a:r>
              <a:rPr lang="en-US" sz="2400" b="1" dirty="0" smtClean="0">
                <a:solidFill>
                  <a:srgbClr val="FF0000"/>
                </a:solidFill>
              </a:rPr>
              <a:t>greater the quantity </a:t>
            </a:r>
            <a:r>
              <a:rPr lang="en-US" sz="2400" b="1" dirty="0" smtClean="0"/>
              <a:t>of it that will be </a:t>
            </a:r>
            <a:r>
              <a:rPr lang="en-US" sz="2400" b="1" dirty="0" smtClean="0">
                <a:solidFill>
                  <a:srgbClr val="FF0000"/>
                </a:solidFill>
              </a:rPr>
              <a:t>supplied</a:t>
            </a:r>
            <a:r>
              <a:rPr lang="en-US" sz="2400" b="1" dirty="0" smtClean="0"/>
              <a:t>. This is because goods and services are produced by the firm in order to earn profits and, profits rise if the price of its product rises.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1"/>
            <a:ext cx="8458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(ii)  Prices of related goods: </a:t>
            </a:r>
          </a:p>
          <a:p>
            <a:pPr marL="514350" indent="-51435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       </a:t>
            </a:r>
            <a:r>
              <a:rPr lang="en-US" sz="2400" b="1" dirty="0" smtClean="0"/>
              <a:t>If the prices of </a:t>
            </a:r>
            <a:r>
              <a:rPr lang="en-US" sz="2400" b="1" dirty="0" smtClean="0">
                <a:solidFill>
                  <a:srgbClr val="FF0000"/>
                </a:solidFill>
              </a:rPr>
              <a:t>other goods rise</a:t>
            </a:r>
            <a:r>
              <a:rPr lang="en-US" sz="2400" b="1" dirty="0" smtClean="0"/>
              <a:t>, they </a:t>
            </a:r>
            <a:r>
              <a:rPr lang="en-US" sz="2400" b="1" dirty="0" smtClean="0">
                <a:solidFill>
                  <a:srgbClr val="FF0000"/>
                </a:solidFill>
              </a:rPr>
              <a:t>become relatively more profitable to the firm </a:t>
            </a:r>
            <a:r>
              <a:rPr lang="en-US" sz="2400" b="1" dirty="0" smtClean="0"/>
              <a:t>to produce and sell than the good in question. </a:t>
            </a:r>
          </a:p>
          <a:p>
            <a:pPr marL="514350" indent="-514350">
              <a:lnSpc>
                <a:spcPct val="150000"/>
              </a:lnSpc>
            </a:pPr>
            <a:r>
              <a:rPr lang="en-US" sz="2400" b="1" dirty="0" smtClean="0"/>
              <a:t>	It implies that, if the price of Y rises, the quantity supplied of X will fall. </a:t>
            </a:r>
          </a:p>
          <a:p>
            <a:pPr marL="514350" indent="-514350">
              <a:lnSpc>
                <a:spcPct val="150000"/>
              </a:lnSpc>
            </a:pPr>
            <a:r>
              <a:rPr lang="en-US" sz="2400" b="1" dirty="0" smtClean="0"/>
              <a:t>	For example, if price of wheat rises, the farmers may shift their land to wheat production away from corn and soya beans.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3820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(iii) Prices of factors of production: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Cost of production is a significant factor that affects supply. A </a:t>
            </a:r>
            <a:r>
              <a:rPr lang="en-US" sz="2400" b="1" dirty="0" smtClean="0">
                <a:solidFill>
                  <a:srgbClr val="FF0000"/>
                </a:solidFill>
              </a:rPr>
              <a:t>rise in the price of a particular factor of production </a:t>
            </a:r>
            <a:r>
              <a:rPr lang="en-US" sz="2400" b="1" dirty="0" smtClean="0"/>
              <a:t>will cause an increase in the cost of making those goods that use a great deal of that factor than in the costs of producing those that use relatively small amount of the factor.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For example, a rise in the </a:t>
            </a:r>
            <a:r>
              <a:rPr lang="en-US" sz="2400" b="1" dirty="0" smtClean="0">
                <a:solidFill>
                  <a:srgbClr val="FF0000"/>
                </a:solidFill>
              </a:rPr>
              <a:t>cost of land</a:t>
            </a:r>
            <a:r>
              <a:rPr lang="en-US" sz="2400" b="1" dirty="0" smtClean="0"/>
              <a:t> will have a large effect on the cost of </a:t>
            </a:r>
            <a:r>
              <a:rPr lang="en-US" sz="2400" b="1" dirty="0" smtClean="0">
                <a:solidFill>
                  <a:srgbClr val="FF0000"/>
                </a:solidFill>
              </a:rPr>
              <a:t>producing wheat </a:t>
            </a:r>
            <a:r>
              <a:rPr lang="en-US" sz="2400" b="1" dirty="0" smtClean="0"/>
              <a:t>and a </a:t>
            </a:r>
            <a:r>
              <a:rPr lang="en-US" sz="2400" b="1" dirty="0" smtClean="0">
                <a:solidFill>
                  <a:srgbClr val="FF0000"/>
                </a:solidFill>
              </a:rPr>
              <a:t>very small </a:t>
            </a:r>
            <a:r>
              <a:rPr lang="en-US" sz="2400" b="1" dirty="0" smtClean="0"/>
              <a:t>effect on the cost of </a:t>
            </a:r>
            <a:r>
              <a:rPr lang="en-US" sz="2400" b="1" dirty="0" smtClean="0">
                <a:solidFill>
                  <a:srgbClr val="FF0000"/>
                </a:solidFill>
              </a:rPr>
              <a:t>producing automobiles</a:t>
            </a:r>
            <a:r>
              <a:rPr lang="en-US" sz="2400" b="1" dirty="0" smtClean="0"/>
              <a:t>. </a:t>
            </a:r>
          </a:p>
          <a:p>
            <a:r>
              <a:rPr lang="en-US" sz="2400" b="1" dirty="0" smtClean="0"/>
              <a:t>	Thus, a change in the price of one factor of production will cause </a:t>
            </a:r>
            <a:r>
              <a:rPr lang="en-US" sz="2400" b="1" dirty="0" smtClean="0">
                <a:solidFill>
                  <a:srgbClr val="FF0000"/>
                </a:solidFill>
              </a:rPr>
              <a:t>changes in the relative profitability of different lines </a:t>
            </a:r>
            <a:r>
              <a:rPr lang="en-US" sz="2400" b="1" dirty="0" smtClean="0"/>
              <a:t>of production and will </a:t>
            </a:r>
            <a:r>
              <a:rPr lang="en-US" sz="2400" b="1" dirty="0" smtClean="0">
                <a:solidFill>
                  <a:srgbClr val="FF0000"/>
                </a:solidFill>
              </a:rPr>
              <a:t>cause producers to shift </a:t>
            </a:r>
            <a:r>
              <a:rPr lang="en-US" sz="2400" b="1" dirty="0" smtClean="0"/>
              <a:t>from one line to another and thus </a:t>
            </a:r>
            <a:r>
              <a:rPr lang="en-US" sz="2400" b="1" dirty="0" smtClean="0">
                <a:solidFill>
                  <a:srgbClr val="FF0000"/>
                </a:solidFill>
              </a:rPr>
              <a:t>supplies of different commodities will change.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686800" cy="557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(iv) State of technology: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The supply of a particular product depends upon the state of technology also.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 </a:t>
            </a:r>
            <a:r>
              <a:rPr lang="en-US" sz="2400" b="1" dirty="0" smtClean="0">
                <a:solidFill>
                  <a:srgbClr val="FF0000"/>
                </a:solidFill>
              </a:rPr>
              <a:t>Inventions and innovations </a:t>
            </a:r>
            <a:r>
              <a:rPr lang="en-US" sz="2400" b="1" dirty="0" smtClean="0"/>
              <a:t>tend to make it possible to </a:t>
            </a:r>
            <a:r>
              <a:rPr lang="en-US" sz="2400" b="1" dirty="0" smtClean="0">
                <a:solidFill>
                  <a:srgbClr val="FF0000"/>
                </a:solidFill>
              </a:rPr>
              <a:t>produce more or better goods </a:t>
            </a:r>
            <a:r>
              <a:rPr lang="en-US" sz="2400" b="1" dirty="0" smtClean="0"/>
              <a:t>with the </a:t>
            </a:r>
            <a:r>
              <a:rPr lang="en-US" sz="2400" b="1" dirty="0" smtClean="0">
                <a:solidFill>
                  <a:srgbClr val="FF0000"/>
                </a:solidFill>
              </a:rPr>
              <a:t>same resources</a:t>
            </a:r>
            <a:r>
              <a:rPr lang="en-US" sz="2400" b="1" dirty="0" smtClean="0"/>
              <a:t>, and thus they </a:t>
            </a:r>
            <a:r>
              <a:rPr lang="en-US" sz="2400" b="1" dirty="0" smtClean="0">
                <a:solidFill>
                  <a:srgbClr val="FF0000"/>
                </a:solidFill>
              </a:rPr>
              <a:t>tend to increase the quantity </a:t>
            </a:r>
            <a:r>
              <a:rPr lang="en-US" sz="2400" b="1" dirty="0" smtClean="0"/>
              <a:t>supplied of some products and to </a:t>
            </a:r>
            <a:r>
              <a:rPr lang="en-US" sz="2400" b="1" dirty="0" smtClean="0">
                <a:solidFill>
                  <a:srgbClr val="FF0000"/>
                </a:solidFill>
              </a:rPr>
              <a:t>reduce the quantity supplied of products that are displaced.</a:t>
            </a:r>
            <a:r>
              <a:rPr lang="en-US" sz="2400" b="1" dirty="0" smtClean="0"/>
              <a:t> 	Availability of </a:t>
            </a:r>
            <a:r>
              <a:rPr lang="en-US" sz="2400" b="1" dirty="0" smtClean="0">
                <a:solidFill>
                  <a:srgbClr val="FF0000"/>
                </a:solidFill>
              </a:rPr>
              <a:t>spare production capacity </a:t>
            </a:r>
            <a:r>
              <a:rPr lang="en-US" sz="2400" b="1" dirty="0" smtClean="0"/>
              <a:t>and the </a:t>
            </a:r>
            <a:r>
              <a:rPr lang="en-US" sz="2400" b="1" dirty="0" smtClean="0">
                <a:solidFill>
                  <a:srgbClr val="FF0000"/>
                </a:solidFill>
              </a:rPr>
              <a:t>ease with which factor substitution can be made and the cost of such substitution also determine supply.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1"/>
            <a:ext cx="85344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(v) Government Policy: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The production of a good may be subject to the imposition of commodity </a:t>
            </a:r>
            <a:r>
              <a:rPr lang="en-US" sz="2400" b="1" dirty="0" smtClean="0">
                <a:solidFill>
                  <a:srgbClr val="FF0000"/>
                </a:solidFill>
              </a:rPr>
              <a:t>taxes</a:t>
            </a:r>
            <a:r>
              <a:rPr lang="en-US" sz="2400" b="1" dirty="0" smtClean="0"/>
              <a:t> such as </a:t>
            </a:r>
            <a:r>
              <a:rPr lang="en-US" sz="2400" b="1" dirty="0" smtClean="0">
                <a:solidFill>
                  <a:srgbClr val="FF0000"/>
                </a:solidFill>
              </a:rPr>
              <a:t>excise duty, sales tax and import duties. </a:t>
            </a:r>
            <a:r>
              <a:rPr lang="en-US" sz="2400" b="1" dirty="0" smtClean="0"/>
              <a:t>These </a:t>
            </a:r>
            <a:r>
              <a:rPr lang="en-US" sz="2400" b="1" dirty="0" smtClean="0">
                <a:solidFill>
                  <a:srgbClr val="FF0000"/>
                </a:solidFill>
              </a:rPr>
              <a:t>raise the cost of production </a:t>
            </a:r>
            <a:r>
              <a:rPr lang="en-US" sz="2400" b="1" dirty="0" smtClean="0"/>
              <a:t>and so the </a:t>
            </a:r>
            <a:r>
              <a:rPr lang="en-US" sz="2400" b="1" dirty="0" smtClean="0">
                <a:solidFill>
                  <a:srgbClr val="FF0000"/>
                </a:solidFill>
              </a:rPr>
              <a:t>quantity supplied </a:t>
            </a:r>
            <a:r>
              <a:rPr lang="en-US" sz="2400" b="1" dirty="0" smtClean="0"/>
              <a:t>of a good would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Subsidies</a:t>
            </a:r>
            <a:r>
              <a:rPr lang="en-US" sz="2400" b="1" dirty="0" smtClean="0"/>
              <a:t>, on the other hand, </a:t>
            </a:r>
            <a:r>
              <a:rPr lang="en-US" sz="2400" b="1" dirty="0" smtClean="0">
                <a:solidFill>
                  <a:srgbClr val="FF0000"/>
                </a:solidFill>
              </a:rPr>
              <a:t>reduce the cost of production</a:t>
            </a:r>
            <a:r>
              <a:rPr lang="en-US" sz="2400" b="1" dirty="0" smtClean="0"/>
              <a:t> and thus provide an incentive to the firm to </a:t>
            </a:r>
            <a:r>
              <a:rPr lang="en-US" sz="2400" b="1" dirty="0" smtClean="0">
                <a:solidFill>
                  <a:srgbClr val="FF0000"/>
                </a:solidFill>
              </a:rPr>
              <a:t>increase supply.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When government imposes restrictions such as import quota on inputs, rationing of input supply etc, production tends to fall. 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80772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(vi) Nature of competition and size of industry: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Under </a:t>
            </a:r>
            <a:r>
              <a:rPr lang="en-US" sz="2400" b="1" dirty="0" smtClean="0">
                <a:solidFill>
                  <a:srgbClr val="FF0000"/>
                </a:solidFill>
              </a:rPr>
              <a:t>competitive </a:t>
            </a:r>
            <a:r>
              <a:rPr lang="en-US" sz="2400" b="1" dirty="0" smtClean="0"/>
              <a:t>conditions, </a:t>
            </a:r>
            <a:r>
              <a:rPr lang="en-US" sz="2400" b="1" dirty="0" smtClean="0">
                <a:solidFill>
                  <a:srgbClr val="FF0000"/>
                </a:solidFill>
              </a:rPr>
              <a:t>supply will be more </a:t>
            </a:r>
            <a:r>
              <a:rPr lang="en-US" sz="2400" b="1" dirty="0" smtClean="0"/>
              <a:t>than that under monopolized conditions. If there are large </a:t>
            </a:r>
            <a:r>
              <a:rPr lang="en-US" sz="2400" b="1" dirty="0" smtClean="0">
                <a:solidFill>
                  <a:srgbClr val="FF0000"/>
                </a:solidFill>
              </a:rPr>
              <a:t>number of firms </a:t>
            </a:r>
            <a:r>
              <a:rPr lang="en-US" sz="2400" b="1" dirty="0" smtClean="0"/>
              <a:t>in the market, supply will be </a:t>
            </a:r>
            <a:r>
              <a:rPr lang="en-US" sz="2400" b="1" dirty="0" smtClean="0">
                <a:solidFill>
                  <a:srgbClr val="FF0000"/>
                </a:solidFill>
              </a:rPr>
              <a:t>more.</a:t>
            </a:r>
            <a:r>
              <a:rPr lang="en-US" sz="2400" b="1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Besides, entry of </a:t>
            </a:r>
            <a:r>
              <a:rPr lang="en-US" sz="2400" b="1" dirty="0" smtClean="0">
                <a:solidFill>
                  <a:srgbClr val="FF0000"/>
                </a:solidFill>
              </a:rPr>
              <a:t>new firms</a:t>
            </a:r>
            <a:r>
              <a:rPr lang="en-US" sz="2400" b="1" dirty="0" smtClean="0"/>
              <a:t>, either domestic or foreign, causes the </a:t>
            </a:r>
            <a:r>
              <a:rPr lang="en-US" sz="2400" b="1" dirty="0" smtClean="0">
                <a:solidFill>
                  <a:srgbClr val="FF0000"/>
                </a:solidFill>
              </a:rPr>
              <a:t>industry supply curve </a:t>
            </a:r>
            <a:r>
              <a:rPr lang="en-US" sz="2400" b="1" dirty="0" smtClean="0"/>
              <a:t>to </a:t>
            </a:r>
            <a:r>
              <a:rPr lang="en-US" sz="2400" b="1" dirty="0" smtClean="0">
                <a:solidFill>
                  <a:srgbClr val="FF0000"/>
                </a:solidFill>
              </a:rPr>
              <a:t>shift rightwards.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Other Factors: </a:t>
            </a:r>
            <a:r>
              <a:rPr lang="en-US" sz="2400" b="1" dirty="0" smtClean="0"/>
              <a:t>The quantity supplied of a good also depends upon government’s </a:t>
            </a:r>
            <a:r>
              <a:rPr lang="en-US" sz="2400" b="1" dirty="0" smtClean="0">
                <a:solidFill>
                  <a:srgbClr val="FF0000"/>
                </a:solidFill>
              </a:rPr>
              <a:t>industrial and foreign policies, goals of the firm, infrastructural facilities,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natural factors </a:t>
            </a:r>
            <a:r>
              <a:rPr lang="en-US" sz="2400" b="1" dirty="0" smtClean="0"/>
              <a:t>such as </a:t>
            </a:r>
            <a:r>
              <a:rPr lang="en-US" sz="2400" b="1" dirty="0" smtClean="0">
                <a:solidFill>
                  <a:srgbClr val="FF0000"/>
                </a:solidFill>
              </a:rPr>
              <a:t>weather, floods, earthquake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man-made factors </a:t>
            </a:r>
            <a:r>
              <a:rPr lang="en-US" sz="2400" b="1" dirty="0" smtClean="0"/>
              <a:t>such as </a:t>
            </a:r>
            <a:r>
              <a:rPr lang="en-US" sz="2400" b="1" dirty="0" smtClean="0">
                <a:solidFill>
                  <a:srgbClr val="FF0000"/>
                </a:solidFill>
              </a:rPr>
              <a:t>war,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 strikes, communal riots etc</a:t>
            </a:r>
            <a:r>
              <a:rPr lang="en-US" sz="2400" b="1" dirty="0" smtClean="0"/>
              <a:t>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4581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LAW OF SUPPLY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Other things remaining constant, the </a:t>
            </a:r>
            <a:r>
              <a:rPr lang="en-US" sz="2400" b="1" dirty="0" smtClean="0">
                <a:solidFill>
                  <a:srgbClr val="FF0000"/>
                </a:solidFill>
              </a:rPr>
              <a:t>quantity </a:t>
            </a:r>
            <a:r>
              <a:rPr lang="en-US" sz="2400" b="1" dirty="0" smtClean="0"/>
              <a:t>of a good produced and offered for sale will increase as the </a:t>
            </a:r>
            <a:r>
              <a:rPr lang="en-US" sz="2400" b="1" dirty="0" smtClean="0">
                <a:solidFill>
                  <a:srgbClr val="FF0000"/>
                </a:solidFill>
              </a:rPr>
              <a:t>price of the good rises</a:t>
            </a:r>
            <a:r>
              <a:rPr lang="en-US" sz="2400" b="1" dirty="0" smtClean="0"/>
              <a:t> and decrease as the price falls. This law is based upon common sense, </a:t>
            </a:r>
            <a:r>
              <a:rPr lang="en-US" sz="2400" b="1" dirty="0" smtClean="0">
                <a:solidFill>
                  <a:srgbClr val="FF0000"/>
                </a:solidFill>
              </a:rPr>
              <a:t>because 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higher the price </a:t>
            </a:r>
            <a:r>
              <a:rPr lang="en-US" sz="2400" b="1" dirty="0" smtClean="0"/>
              <a:t>of the good, the </a:t>
            </a:r>
            <a:r>
              <a:rPr lang="en-US" sz="2400" b="1" dirty="0" smtClean="0">
                <a:solidFill>
                  <a:srgbClr val="FF0000"/>
                </a:solidFill>
              </a:rPr>
              <a:t>greater the profits </a:t>
            </a:r>
            <a:r>
              <a:rPr lang="en-US" sz="2400" b="1" dirty="0" smtClean="0"/>
              <a:t>that can be earned and thus greater the incentives to produce the good and offer it for sale.  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38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	The law of supply can be explained through a </a:t>
            </a:r>
            <a:r>
              <a:rPr lang="en-US" sz="2400" b="1" dirty="0" smtClean="0">
                <a:solidFill>
                  <a:srgbClr val="FF0000"/>
                </a:solidFill>
              </a:rPr>
              <a:t>supply schedule and a supply curve. </a:t>
            </a:r>
            <a:r>
              <a:rPr lang="en-US" sz="2400" b="1" dirty="0" smtClean="0"/>
              <a:t>A supply schedule is the tabular presentation of the law of supply. 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Table 9 : Supply Schedule of Good ‘X’</a:t>
            </a:r>
            <a:r>
              <a:rPr lang="en-US" sz="2400" b="1" dirty="0" smtClean="0"/>
              <a:t>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743200"/>
          <a:ext cx="6172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Price (Rs) (per kg)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Quantity supplied (kg) </a:t>
                      </a:r>
                      <a:endParaRPr lang="en-US" dirty="0"/>
                    </a:p>
                  </a:txBody>
                  <a:tcPr/>
                </a:tc>
              </a:tr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</a:tr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</a:tr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</a:tr>
              <a:tr h="197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38000" contrast="64000"/>
          </a:blip>
          <a:srcRect/>
          <a:stretch>
            <a:fillRect/>
          </a:stretch>
        </p:blipFill>
        <p:spPr bwMode="auto">
          <a:xfrm>
            <a:off x="1295400" y="533400"/>
            <a:ext cx="7315199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28600"/>
            <a:ext cx="8229600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	The </a:t>
            </a:r>
            <a:r>
              <a:rPr lang="en-US" sz="2400" b="1" dirty="0" smtClean="0">
                <a:solidFill>
                  <a:srgbClr val="FF0000"/>
                </a:solidFill>
              </a:rPr>
              <a:t>market supply</a:t>
            </a:r>
            <a:r>
              <a:rPr lang="en-US" sz="2400" b="1" dirty="0" smtClean="0"/>
              <a:t>, like market demand, is the sum of supplies of a commodity made by all individual firms or their supply agencies.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 market supply is </a:t>
            </a:r>
            <a:r>
              <a:rPr lang="en-US" sz="2400" b="1" dirty="0" smtClean="0">
                <a:solidFill>
                  <a:srgbClr val="FF0000"/>
                </a:solidFill>
              </a:rPr>
              <a:t>governed by the law of supply</a:t>
            </a:r>
            <a:r>
              <a:rPr lang="en-US" sz="2400" b="1" dirty="0" smtClean="0"/>
              <a:t>. The </a:t>
            </a:r>
            <a:r>
              <a:rPr lang="en-US" sz="2400" b="1" dirty="0" smtClean="0">
                <a:solidFill>
                  <a:srgbClr val="FF0000"/>
                </a:solidFill>
              </a:rPr>
              <a:t>market supply curve </a:t>
            </a:r>
            <a:r>
              <a:rPr lang="en-US" sz="2400" b="1" dirty="0" smtClean="0"/>
              <a:t>for ‘X’ can be obtained </a:t>
            </a:r>
            <a:r>
              <a:rPr lang="en-US" sz="2400" b="1" dirty="0" smtClean="0">
                <a:solidFill>
                  <a:srgbClr val="FF0000"/>
                </a:solidFill>
              </a:rPr>
              <a:t>by adding horizontally </a:t>
            </a:r>
            <a:r>
              <a:rPr lang="en-US" sz="2400" b="1" dirty="0" smtClean="0"/>
              <a:t>the supply curves of </a:t>
            </a:r>
            <a:r>
              <a:rPr lang="en-US" sz="2400" b="1" dirty="0" smtClean="0">
                <a:solidFill>
                  <a:srgbClr val="FF0000"/>
                </a:solidFill>
              </a:rPr>
              <a:t>various firms</a:t>
            </a:r>
            <a:r>
              <a:rPr lang="en-US" sz="2400" b="1" dirty="0" smtClean="0"/>
              <a:t>. 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868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ELASTICITY OF SUPPLY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 The elasticity of supply is defined as the </a:t>
            </a:r>
            <a:r>
              <a:rPr lang="en-US" sz="2400" b="1" dirty="0" smtClean="0">
                <a:solidFill>
                  <a:srgbClr val="FF0000"/>
                </a:solidFill>
              </a:rPr>
              <a:t>responsiveness of the quantity supplied of a good to a change in its price</a:t>
            </a:r>
            <a:r>
              <a:rPr lang="en-US" sz="2400" b="1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Elasticity of supply is measured by dividing the percentage change in quantity supplied of a good by the percentage change in its price i.e., </a:t>
            </a:r>
          </a:p>
          <a:p>
            <a:r>
              <a:rPr lang="en-US" sz="2400" b="1" dirty="0" smtClean="0"/>
              <a:t>       Percentage change in quantity supplied </a:t>
            </a:r>
          </a:p>
          <a:p>
            <a:r>
              <a:rPr lang="en-US" sz="2400" b="1" dirty="0" err="1" smtClean="0"/>
              <a:t>Ei</a:t>
            </a:r>
            <a:r>
              <a:rPr lang="en-US" sz="2400" b="1" dirty="0" smtClean="0"/>
              <a:t> = -------------------------------------------------------</a:t>
            </a:r>
          </a:p>
          <a:p>
            <a:r>
              <a:rPr lang="en-US" sz="2400" b="1" dirty="0" smtClean="0"/>
              <a:t>              Percentage change in Price</a:t>
            </a:r>
          </a:p>
          <a:p>
            <a:endParaRPr lang="en-US" sz="2400" b="1" dirty="0" smtClean="0"/>
          </a:p>
          <a:p>
            <a:r>
              <a:rPr lang="en-US" sz="2400" dirty="0" smtClean="0"/>
              <a:t>	</a:t>
            </a:r>
            <a:r>
              <a:rPr lang="en-US" sz="2400" b="1" dirty="0" smtClean="0"/>
              <a:t>Change in quantity supplied /quantity supplied </a:t>
            </a:r>
          </a:p>
          <a:p>
            <a:r>
              <a:rPr lang="en-US" sz="2400" b="1" dirty="0" smtClean="0"/>
              <a:t>     =  -------------------------------------------------------------------</a:t>
            </a:r>
          </a:p>
          <a:p>
            <a:r>
              <a:rPr lang="en-US" sz="2400" b="1" dirty="0" smtClean="0"/>
              <a:t>	Change in price /price 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Type of Supply Elasticity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990600"/>
            <a:ext cx="838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i</a:t>
            </a:r>
            <a:r>
              <a:rPr lang="en-US" sz="2400" b="1" dirty="0" smtClean="0">
                <a:solidFill>
                  <a:srgbClr val="FF0000"/>
                </a:solidFill>
              </a:rPr>
              <a:t>) Perfectly inelastic supply: </a:t>
            </a:r>
            <a:r>
              <a:rPr lang="en-US" sz="2400" b="1" dirty="0" smtClean="0"/>
              <a:t>If as a result of a </a:t>
            </a:r>
            <a:r>
              <a:rPr lang="en-US" sz="2400" b="1" dirty="0" smtClean="0">
                <a:solidFill>
                  <a:srgbClr val="FF0000"/>
                </a:solidFill>
              </a:rPr>
              <a:t>change in price</a:t>
            </a:r>
            <a:r>
              <a:rPr lang="en-US" sz="2400" b="1" dirty="0" smtClean="0"/>
              <a:t>, the quantity </a:t>
            </a:r>
            <a:r>
              <a:rPr lang="en-US" sz="2400" b="1" dirty="0" smtClean="0">
                <a:solidFill>
                  <a:srgbClr val="FF0000"/>
                </a:solidFill>
              </a:rPr>
              <a:t>supplied</a:t>
            </a:r>
            <a:r>
              <a:rPr lang="en-US" sz="2400" b="1" dirty="0" smtClean="0"/>
              <a:t> of a good remains </a:t>
            </a:r>
            <a:r>
              <a:rPr lang="en-US" sz="2400" b="1" dirty="0" smtClean="0">
                <a:solidFill>
                  <a:srgbClr val="FF0000"/>
                </a:solidFill>
              </a:rPr>
              <a:t>unchanged,</a:t>
            </a:r>
            <a:r>
              <a:rPr lang="en-US" sz="2400" b="1" dirty="0" smtClean="0"/>
              <a:t> we say that the elasticity of supply is </a:t>
            </a:r>
            <a:r>
              <a:rPr lang="en-US" sz="2400" b="1" dirty="0" smtClean="0">
                <a:solidFill>
                  <a:srgbClr val="FF0000"/>
                </a:solidFill>
              </a:rPr>
              <a:t>zero or</a:t>
            </a:r>
            <a:r>
              <a:rPr lang="en-US" sz="2400" b="1" dirty="0" smtClean="0"/>
              <a:t> the good has perfectly inelastic supply. The vertical supply curve in Figure 22 shows that irrespective of price change, the quantity supplied remains unchanged. 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31000" contrast="44000"/>
          </a:blip>
          <a:srcRect/>
          <a:stretch>
            <a:fillRect/>
          </a:stretch>
        </p:blipFill>
        <p:spPr bwMode="auto">
          <a:xfrm>
            <a:off x="1905000" y="3124200"/>
            <a:ext cx="4648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(ii) Relatively less-elastic supply: </a:t>
            </a:r>
            <a:r>
              <a:rPr lang="en-US" sz="2400" b="1" dirty="0" smtClean="0"/>
              <a:t>If as a result of a change in the price of a good its </a:t>
            </a:r>
            <a:r>
              <a:rPr lang="en-US" sz="2400" b="1" dirty="0" smtClean="0">
                <a:solidFill>
                  <a:srgbClr val="FF0000"/>
                </a:solidFill>
              </a:rPr>
              <a:t>supply changes less than proportionately</a:t>
            </a:r>
            <a:r>
              <a:rPr lang="en-US" sz="2400" b="1" dirty="0" smtClean="0"/>
              <a:t>, we say that the supply of the good is relatively less elastic or elasticity of supply is less than one. Figure 23 shows that the relative change in the quantity supplied (</a:t>
            </a:r>
            <a:r>
              <a:rPr lang="en-US" sz="2400" b="1" dirty="0" err="1" smtClean="0"/>
              <a:t>Δq</a:t>
            </a:r>
            <a:r>
              <a:rPr lang="en-US" sz="2400" b="1" dirty="0" smtClean="0"/>
              <a:t>) is less than the relative change in the price (</a:t>
            </a:r>
            <a:r>
              <a:rPr lang="en-US" sz="2400" b="1" dirty="0" err="1" smtClean="0"/>
              <a:t>Δp</a:t>
            </a:r>
            <a:r>
              <a:rPr lang="en-US" sz="2400" b="1" dirty="0" smtClean="0"/>
              <a:t>). 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lum bright="-43000" contrast="47000"/>
          </a:blip>
          <a:srcRect/>
          <a:stretch>
            <a:fillRect/>
          </a:stretch>
        </p:blipFill>
        <p:spPr bwMode="auto">
          <a:xfrm>
            <a:off x="838200" y="3124200"/>
            <a:ext cx="6857999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(iii) Relatively greater-elastic supply: </a:t>
            </a:r>
            <a:r>
              <a:rPr lang="en-US" sz="2400" b="1" dirty="0" smtClean="0"/>
              <a:t>If elasticity of supply is greater than one i.e., when the quantity supplied of a good changes substantially in response to a small change in the price of the good we say that supply is relatively elastic. Figure 24, shows that the relative change in the quantity supplied (</a:t>
            </a:r>
            <a:r>
              <a:rPr lang="en-US" sz="2400" b="1" dirty="0" err="1" smtClean="0"/>
              <a:t>Δq</a:t>
            </a:r>
            <a:r>
              <a:rPr lang="en-US" sz="2400" b="1" dirty="0" smtClean="0"/>
              <a:t>) is greater than the relative change in the price 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lum bright="-38000" contrast="63000"/>
          </a:blip>
          <a:srcRect/>
          <a:stretch>
            <a:fillRect/>
          </a:stretch>
        </p:blipFill>
        <p:spPr bwMode="auto">
          <a:xfrm>
            <a:off x="1447800" y="2743200"/>
            <a:ext cx="6477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861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(iv) Unit-elastic: </a:t>
            </a:r>
            <a:r>
              <a:rPr lang="en-US" sz="2400" b="1" dirty="0" smtClean="0"/>
              <a:t>If the relative change in the quantity supplied is exactly equal to the relative change in the price, the supply is said to be unitary elastic. Here the </a:t>
            </a:r>
            <a:r>
              <a:rPr lang="en-US" sz="2400" b="1" dirty="0" err="1" smtClean="0"/>
              <a:t>coffiecient</a:t>
            </a:r>
            <a:r>
              <a:rPr lang="en-US" sz="2400" b="1" dirty="0" smtClean="0"/>
              <a:t> of elasticity of supply is equal to one. In Figure 25, the relative change in the quantity supplied (</a:t>
            </a:r>
            <a:r>
              <a:rPr lang="en-US" sz="2400" b="1" dirty="0" err="1" smtClean="0"/>
              <a:t>Δq</a:t>
            </a:r>
            <a:r>
              <a:rPr lang="en-US" sz="2400" b="1" dirty="0" smtClean="0"/>
              <a:t>) is equal to the relative change in the price (</a:t>
            </a:r>
            <a:r>
              <a:rPr lang="en-US" sz="2400" b="1" dirty="0" err="1" smtClean="0"/>
              <a:t>Δp</a:t>
            </a:r>
            <a:r>
              <a:rPr lang="en-US" sz="2400" b="1" dirty="0" smtClean="0"/>
              <a:t>). 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lum bright="-49000" contrast="73000"/>
          </a:blip>
          <a:srcRect/>
          <a:stretch>
            <a:fillRect/>
          </a:stretch>
        </p:blipFill>
        <p:spPr bwMode="auto">
          <a:xfrm>
            <a:off x="1219200" y="2514600"/>
            <a:ext cx="69342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861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(v) Perfectly elastic supply: </a:t>
            </a:r>
            <a:r>
              <a:rPr lang="en-US" sz="2400" b="1" dirty="0" smtClean="0"/>
              <a:t>Elasticity of supply said to be infinite when </a:t>
            </a:r>
            <a:r>
              <a:rPr lang="en-US" sz="2400" b="1" dirty="0" smtClean="0">
                <a:solidFill>
                  <a:srgbClr val="FF0000"/>
                </a:solidFill>
              </a:rPr>
              <a:t>nothing is supplied at a lower price</a:t>
            </a:r>
            <a:r>
              <a:rPr lang="en-US" sz="2400" b="1" dirty="0" smtClean="0"/>
              <a:t>, but a small increase in price causes supply to rise from zero to an infinitely large amount indicating that </a:t>
            </a:r>
            <a:r>
              <a:rPr lang="en-US" sz="2400" b="1" dirty="0" smtClean="0">
                <a:solidFill>
                  <a:srgbClr val="FF0000"/>
                </a:solidFill>
              </a:rPr>
              <a:t>producers will supply any quantity demanded at that price. 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 bright="-65000" contrast="89000"/>
          </a:blip>
          <a:srcRect/>
          <a:stretch>
            <a:fillRect/>
          </a:stretch>
        </p:blipFill>
        <p:spPr bwMode="auto">
          <a:xfrm>
            <a:off x="1066800" y="2266950"/>
            <a:ext cx="70104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0"/>
            <a:ext cx="8534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Measurement of supply-elasticity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 elasticity of supply can be considered with reference to a </a:t>
            </a:r>
            <a:r>
              <a:rPr lang="en-US" sz="2400" b="1" dirty="0" smtClean="0">
                <a:solidFill>
                  <a:srgbClr val="FF0000"/>
                </a:solidFill>
              </a:rPr>
              <a:t>given point </a:t>
            </a:r>
            <a:r>
              <a:rPr lang="en-US" sz="2400" b="1" dirty="0" smtClean="0"/>
              <a:t>on the supply curve </a:t>
            </a:r>
            <a:r>
              <a:rPr lang="en-US" sz="2400" b="1" dirty="0" smtClean="0">
                <a:solidFill>
                  <a:srgbClr val="FF0000"/>
                </a:solidFill>
              </a:rPr>
              <a:t>or between two points </a:t>
            </a:r>
            <a:r>
              <a:rPr lang="en-US" sz="2400" b="1" dirty="0" smtClean="0"/>
              <a:t>on the supply curve.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 When elasticity is measured at a </a:t>
            </a:r>
            <a:r>
              <a:rPr lang="en-US" sz="2400" b="1" dirty="0" smtClean="0">
                <a:solidFill>
                  <a:srgbClr val="FF0000"/>
                </a:solidFill>
              </a:rPr>
              <a:t>given point </a:t>
            </a:r>
            <a:r>
              <a:rPr lang="en-US" sz="2400" b="1" dirty="0" smtClean="0"/>
              <a:t>on the supply curve, it is called </a:t>
            </a:r>
            <a:r>
              <a:rPr lang="en-US" sz="2400" b="1" dirty="0" smtClean="0">
                <a:solidFill>
                  <a:srgbClr val="FF0000"/>
                </a:solidFill>
              </a:rPr>
              <a:t>point elasticity</a:t>
            </a:r>
            <a:r>
              <a:rPr lang="en-US" sz="2400" b="1" dirty="0" smtClean="0"/>
              <a:t>. Just as in demand, point-elasticity of supply can be measured with the help of the following formula: </a:t>
            </a:r>
          </a:p>
          <a:p>
            <a:r>
              <a:rPr lang="en-US" sz="2400" b="1" dirty="0" smtClean="0"/>
              <a:t>       </a:t>
            </a:r>
            <a:r>
              <a:rPr lang="en-US" sz="2400" b="1" dirty="0" err="1" smtClean="0"/>
              <a:t>dq</a:t>
            </a:r>
            <a:r>
              <a:rPr lang="en-US" sz="2400" b="1" dirty="0" smtClean="0"/>
              <a:t>          p</a:t>
            </a:r>
          </a:p>
          <a:p>
            <a:r>
              <a:rPr lang="en-US" sz="2400" b="1" dirty="0" smtClean="0"/>
              <a:t>Es= ----   × -----</a:t>
            </a:r>
          </a:p>
          <a:p>
            <a:r>
              <a:rPr lang="en-US" sz="2400" b="1" dirty="0" smtClean="0"/>
              <a:t>        </a:t>
            </a:r>
            <a:r>
              <a:rPr lang="en-US" sz="2400" b="1" dirty="0" err="1" smtClean="0"/>
              <a:t>dp</a:t>
            </a:r>
            <a:r>
              <a:rPr lang="en-US" sz="2400" b="1" dirty="0" smtClean="0"/>
              <a:t>         q</a:t>
            </a:r>
          </a:p>
          <a:p>
            <a:r>
              <a:rPr lang="en-US" sz="2400" b="1" dirty="0" smtClean="0"/>
              <a:t>Where </a:t>
            </a:r>
            <a:r>
              <a:rPr lang="en-US" sz="2400" b="1" dirty="0" err="1" smtClean="0"/>
              <a:t>dq</a:t>
            </a:r>
            <a:r>
              <a:rPr lang="en-US" sz="2400" b="1" dirty="0" smtClean="0"/>
              <a:t> /</a:t>
            </a:r>
            <a:r>
              <a:rPr lang="en-US" sz="2400" b="1" dirty="0" err="1" smtClean="0"/>
              <a:t>dp</a:t>
            </a:r>
            <a:r>
              <a:rPr lang="en-US" sz="2400" b="1" dirty="0" smtClean="0"/>
              <a:t> is differentiation of the supply function with respect to price and p and q refer to price and quantity respectively.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4800"/>
            <a:ext cx="8305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Arc-Elasticity: </a:t>
            </a:r>
          </a:p>
          <a:p>
            <a:r>
              <a:rPr lang="en-US" sz="2400" b="1" dirty="0" smtClean="0"/>
              <a:t>	Arc-elasticity i.e. elasticity of supply between </a:t>
            </a:r>
            <a:r>
              <a:rPr lang="en-US" sz="2400" b="1" dirty="0" smtClean="0">
                <a:solidFill>
                  <a:srgbClr val="FF0000"/>
                </a:solidFill>
              </a:rPr>
              <a:t>two prices </a:t>
            </a:r>
            <a:r>
              <a:rPr lang="en-US" sz="2400" b="1" dirty="0" smtClean="0"/>
              <a:t>can be found out with the help of the following formula: </a:t>
            </a:r>
          </a:p>
          <a:p>
            <a:r>
              <a:rPr lang="en-US" sz="2400" b="1" dirty="0" smtClean="0"/>
              <a:t>                              </a:t>
            </a:r>
          </a:p>
          <a:p>
            <a:r>
              <a:rPr lang="en-US" sz="2400" b="1" dirty="0" smtClean="0"/>
              <a:t>		            q1 – q2          p1 - p2 </a:t>
            </a:r>
          </a:p>
          <a:p>
            <a:r>
              <a:rPr lang="en-US" sz="2400" b="1" dirty="0" smtClean="0"/>
              <a:t>		    </a:t>
            </a:r>
            <a:r>
              <a:rPr lang="en-US" sz="2400" b="1" dirty="0" err="1" smtClean="0"/>
              <a:t>Ep</a:t>
            </a:r>
            <a:r>
              <a:rPr lang="en-US" sz="2400" b="1" dirty="0" smtClean="0"/>
              <a:t> = </a:t>
            </a:r>
            <a:r>
              <a:rPr lang="en-US" sz="2400" b="1" dirty="0" smtClean="0"/>
              <a:t>-----------/------------</a:t>
            </a:r>
            <a:endParaRPr lang="en-US" sz="2400" b="1" dirty="0" smtClean="0"/>
          </a:p>
          <a:p>
            <a:r>
              <a:rPr lang="en-US" sz="2400" b="1" dirty="0" smtClean="0"/>
              <a:t>		             q1 + q2        p1 + </a:t>
            </a:r>
            <a:r>
              <a:rPr lang="en-US" sz="2400" b="1" dirty="0" smtClean="0"/>
              <a:t>p2</a:t>
            </a:r>
          </a:p>
          <a:p>
            <a:r>
              <a:rPr lang="en-US" sz="2400" b="1" dirty="0" smtClean="0"/>
              <a:t>	</a:t>
            </a:r>
            <a:r>
              <a:rPr lang="en-US" sz="2400" b="1" dirty="0" smtClean="0"/>
              <a:t>			</a:t>
            </a:r>
            <a:r>
              <a:rPr lang="en-US" sz="2400" b="1" dirty="0" smtClean="0"/>
              <a:t>OR</a:t>
            </a:r>
            <a:endParaRPr lang="en-US" sz="2400" b="1" dirty="0" smtClean="0"/>
          </a:p>
          <a:p>
            <a:r>
              <a:rPr lang="en-US" sz="2400" b="1" dirty="0" smtClean="0"/>
              <a:t>        		             </a:t>
            </a:r>
            <a:r>
              <a:rPr lang="en-US" sz="2400" b="1" dirty="0" smtClean="0"/>
              <a:t>q1 – q2      </a:t>
            </a:r>
            <a:r>
              <a:rPr lang="en-US" sz="2400" b="1" dirty="0" smtClean="0"/>
              <a:t>  </a:t>
            </a:r>
            <a:r>
              <a:rPr lang="en-US" sz="2400" b="1" dirty="0" smtClean="0"/>
              <a:t>p1 + p2</a:t>
            </a:r>
          </a:p>
          <a:p>
            <a:r>
              <a:rPr lang="en-US" sz="2400" b="1" dirty="0" smtClean="0"/>
              <a:t>		    </a:t>
            </a:r>
            <a:r>
              <a:rPr lang="en-US" sz="2400" b="1" dirty="0" err="1" smtClean="0"/>
              <a:t>Ep</a:t>
            </a:r>
            <a:r>
              <a:rPr lang="en-US" sz="2400" b="1" dirty="0" smtClean="0"/>
              <a:t> = ----------- ×  ------------</a:t>
            </a:r>
          </a:p>
          <a:p>
            <a:r>
              <a:rPr lang="en-US" sz="2400" b="1" dirty="0" smtClean="0"/>
              <a:t>		             q1 + q2      </a:t>
            </a:r>
            <a:r>
              <a:rPr lang="en-US" sz="2400" b="1" dirty="0" smtClean="0"/>
              <a:t>  </a:t>
            </a:r>
            <a:r>
              <a:rPr lang="en-US" sz="2400" b="1" dirty="0" smtClean="0"/>
              <a:t>p1 - p2   </a:t>
            </a:r>
          </a:p>
          <a:p>
            <a:pPr>
              <a:lnSpc>
                <a:spcPct val="150000"/>
              </a:lnSpc>
            </a:pPr>
            <a:endParaRPr lang="en-US" sz="2400" b="1" dirty="0" smtClean="0"/>
          </a:p>
          <a:p>
            <a:pPr>
              <a:lnSpc>
                <a:spcPct val="150000"/>
              </a:lnSpc>
            </a:pPr>
            <a:endParaRPr lang="en-US" sz="2400" b="1" dirty="0" smtClean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Equilibrium Price </a:t>
            </a:r>
          </a:p>
          <a:p>
            <a:r>
              <a:rPr lang="en-US" sz="2400" b="1" dirty="0" smtClean="0"/>
              <a:t>	Equilibrium refers to a market situation where </a:t>
            </a:r>
            <a:r>
              <a:rPr lang="en-US" sz="2400" b="1" dirty="0" smtClean="0">
                <a:solidFill>
                  <a:srgbClr val="FF0000"/>
                </a:solidFill>
              </a:rPr>
              <a:t>quantity demanded is equal to quantity supplied.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intersection</a:t>
            </a:r>
            <a:r>
              <a:rPr lang="en-US" sz="2400" b="1" dirty="0" smtClean="0"/>
              <a:t> of demand and supply determines the equilibrium price. At this price the </a:t>
            </a:r>
            <a:r>
              <a:rPr lang="en-US" sz="2400" b="1" dirty="0" smtClean="0">
                <a:solidFill>
                  <a:srgbClr val="FF0000"/>
                </a:solidFill>
              </a:rPr>
              <a:t>amount that the buyers want to buy is equal to the amount that sellers want to sell. </a:t>
            </a:r>
          </a:p>
          <a:p>
            <a:r>
              <a:rPr lang="en-US" sz="2400" b="1" dirty="0" smtClean="0"/>
              <a:t>	Only at the equilibrium price, both the buyers and sellers are satisfied. </a:t>
            </a:r>
          </a:p>
          <a:p>
            <a:r>
              <a:rPr lang="en-US" sz="2400" b="1" dirty="0" smtClean="0"/>
              <a:t>	Equilibrium price is also called </a:t>
            </a:r>
            <a:r>
              <a:rPr lang="en-US" sz="2400" b="1" dirty="0" smtClean="0">
                <a:solidFill>
                  <a:srgbClr val="FF0000"/>
                </a:solidFill>
              </a:rPr>
              <a:t>market clearing price. </a:t>
            </a:r>
            <a:r>
              <a:rPr lang="en-US" sz="2400" b="1" dirty="0" smtClean="0"/>
              <a:t>The determination of market price is the central theme of micro economic analysis. Hence, micro-economic theory is also called </a:t>
            </a:r>
            <a:r>
              <a:rPr lang="en-US" sz="2400" b="1" dirty="0" smtClean="0">
                <a:solidFill>
                  <a:srgbClr val="FF0000"/>
                </a:solidFill>
              </a:rPr>
              <a:t>price theory.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lum bright="-52000" contrast="71000"/>
          </a:blip>
          <a:srcRect/>
          <a:stretch>
            <a:fillRect/>
          </a:stretch>
        </p:blipFill>
        <p:spPr bwMode="auto">
          <a:xfrm>
            <a:off x="457200" y="1143000"/>
            <a:ext cx="8382000" cy="382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33400" y="5334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The following table explains the equilibrium price </a:t>
            </a:r>
            <a:endParaRPr lang="en-US" sz="24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lum bright="-48000" contrast="82000"/>
          </a:blip>
          <a:srcRect/>
          <a:stretch>
            <a:fillRect/>
          </a:stretch>
        </p:blipFill>
        <p:spPr bwMode="auto">
          <a:xfrm>
            <a:off x="1295400" y="1752600"/>
            <a:ext cx="6477000" cy="341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7200" y="3048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The equilibrium price is determined by the intersection between demand and supply. It is also called the market equilibrium. 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536</Words>
  <Application>Microsoft Office PowerPoint</Application>
  <PresentationFormat>On-screen Show (4:3)</PresentationFormat>
  <Paragraphs>90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sony</cp:lastModifiedBy>
  <cp:revision>15</cp:revision>
  <dcterms:created xsi:type="dcterms:W3CDTF">2006-08-16T00:00:00Z</dcterms:created>
  <dcterms:modified xsi:type="dcterms:W3CDTF">2024-02-11T14:57:37Z</dcterms:modified>
</cp:coreProperties>
</file>