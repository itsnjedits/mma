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82" r:id="rId22"/>
    <p:sldId id="276" r:id="rId23"/>
    <p:sldId id="277" r:id="rId24"/>
    <p:sldId id="278" r:id="rId25"/>
    <p:sldId id="279" r:id="rId26"/>
    <p:sldId id="280" r:id="rId27"/>
    <p:sldId id="281" r:id="rId28"/>
    <p:sldId id="283" r:id="rId29"/>
    <p:sldId id="284" r:id="rId30"/>
    <p:sldId id="285" r:id="rId3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2/11/2024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2/11/2024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2/11/2024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2/11/2024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381000" y="457200"/>
            <a:ext cx="8534400" cy="5632311"/>
          </a:xfrm>
          <a:prstGeom prst="rect">
            <a:avLst/>
          </a:prstGeom>
        </p:spPr>
        <p:txBody>
          <a:bodyPr wrap="square">
            <a:spAutoFit/>
          </a:bodyPr>
          <a:lstStyle/>
          <a:p>
            <a:pPr>
              <a:lnSpc>
                <a:spcPct val="150000"/>
              </a:lnSpc>
            </a:pPr>
            <a:r>
              <a:rPr lang="en-US" sz="2400" b="1" dirty="0" smtClean="0">
                <a:solidFill>
                  <a:srgbClr val="FF0000"/>
                </a:solidFill>
              </a:rPr>
              <a:t>Law Of Demand</a:t>
            </a:r>
          </a:p>
          <a:p>
            <a:pPr>
              <a:lnSpc>
                <a:spcPct val="150000"/>
              </a:lnSpc>
            </a:pPr>
            <a:r>
              <a:rPr lang="en-US" sz="2400" b="1" dirty="0" smtClean="0"/>
              <a:t>	According to the law of demand, </a:t>
            </a:r>
            <a:r>
              <a:rPr lang="en-US" sz="2400" b="1" dirty="0" smtClean="0">
                <a:solidFill>
                  <a:srgbClr val="FF0000"/>
                </a:solidFill>
              </a:rPr>
              <a:t>other things being equal</a:t>
            </a:r>
            <a:r>
              <a:rPr lang="en-US" sz="2400" b="1" dirty="0" smtClean="0"/>
              <a:t>, if the </a:t>
            </a:r>
            <a:r>
              <a:rPr lang="en-US" sz="2400" b="1" dirty="0" smtClean="0">
                <a:solidFill>
                  <a:srgbClr val="FF0000"/>
                </a:solidFill>
              </a:rPr>
              <a:t>price of a commodity falls</a:t>
            </a:r>
            <a:r>
              <a:rPr lang="en-US" sz="2400" b="1" dirty="0" smtClean="0"/>
              <a:t>, the </a:t>
            </a:r>
            <a:r>
              <a:rPr lang="en-US" sz="2400" b="1" dirty="0" smtClean="0">
                <a:solidFill>
                  <a:srgbClr val="FF0000"/>
                </a:solidFill>
              </a:rPr>
              <a:t>quantity demanded of it will rise </a:t>
            </a:r>
            <a:r>
              <a:rPr lang="en-US" sz="2400" b="1" dirty="0" smtClean="0"/>
              <a:t>and if the price of a commodity rises, its quantity demanded will decline. </a:t>
            </a:r>
          </a:p>
          <a:p>
            <a:pPr>
              <a:lnSpc>
                <a:spcPct val="150000"/>
              </a:lnSpc>
            </a:pPr>
            <a:r>
              <a:rPr lang="en-US" sz="2400" dirty="0" smtClean="0"/>
              <a:t>	</a:t>
            </a:r>
            <a:r>
              <a:rPr lang="en-US" sz="2400" b="1" dirty="0" smtClean="0"/>
              <a:t>The Law of Demand may be illustrated with the help of a </a:t>
            </a:r>
            <a:r>
              <a:rPr lang="en-US" sz="2400" b="1" dirty="0" smtClean="0">
                <a:solidFill>
                  <a:srgbClr val="FF0000"/>
                </a:solidFill>
              </a:rPr>
              <a:t>demand schedule </a:t>
            </a:r>
            <a:r>
              <a:rPr lang="en-US" sz="2400" b="1" dirty="0" smtClean="0"/>
              <a:t>and a </a:t>
            </a:r>
            <a:r>
              <a:rPr lang="en-US" sz="2400" b="1" dirty="0" smtClean="0">
                <a:solidFill>
                  <a:srgbClr val="FF0000"/>
                </a:solidFill>
              </a:rPr>
              <a:t>demand curve</a:t>
            </a:r>
            <a:r>
              <a:rPr lang="en-US" sz="2400" b="1" dirty="0" smtClean="0"/>
              <a:t>.</a:t>
            </a:r>
          </a:p>
          <a:p>
            <a:pPr>
              <a:lnSpc>
                <a:spcPct val="150000"/>
              </a:lnSpc>
            </a:pPr>
            <a:r>
              <a:rPr lang="en-US" sz="2400" b="1" dirty="0" smtClean="0"/>
              <a:t>	 Demand Schedule A demand schedule is a table which presents the </a:t>
            </a:r>
            <a:r>
              <a:rPr lang="en-US" sz="2400" b="1" dirty="0" smtClean="0">
                <a:solidFill>
                  <a:srgbClr val="FF0000"/>
                </a:solidFill>
              </a:rPr>
              <a:t>different prices of a good </a:t>
            </a:r>
            <a:r>
              <a:rPr lang="en-US" sz="2400" b="1" dirty="0" smtClean="0"/>
              <a:t>and the </a:t>
            </a:r>
            <a:r>
              <a:rPr lang="en-US" sz="2400" b="1" dirty="0" smtClean="0">
                <a:solidFill>
                  <a:srgbClr val="FF0000"/>
                </a:solidFill>
              </a:rPr>
              <a:t>corresponding quantity demanded per unit of time.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304800"/>
            <a:ext cx="8534400" cy="461665"/>
          </a:xfrm>
          <a:prstGeom prst="rect">
            <a:avLst/>
          </a:prstGeom>
        </p:spPr>
        <p:txBody>
          <a:bodyPr wrap="square">
            <a:spAutoFit/>
          </a:bodyPr>
          <a:lstStyle/>
          <a:p>
            <a:pPr algn="ctr"/>
            <a:r>
              <a:rPr lang="en-US" sz="2400" b="1" dirty="0" smtClean="0">
                <a:solidFill>
                  <a:srgbClr val="FF0000"/>
                </a:solidFill>
              </a:rPr>
              <a:t>Demand schedule of an individual consumer </a:t>
            </a:r>
            <a:endParaRPr lang="en-US" sz="2400" dirty="0">
              <a:solidFill>
                <a:srgbClr val="FF0000"/>
              </a:solidFill>
            </a:endParaRPr>
          </a:p>
        </p:txBody>
      </p:sp>
      <p:sp>
        <p:nvSpPr>
          <p:cNvPr id="3" name="Rectangle 2"/>
          <p:cNvSpPr/>
          <p:nvPr/>
        </p:nvSpPr>
        <p:spPr>
          <a:xfrm>
            <a:off x="152400" y="381000"/>
            <a:ext cx="8763000" cy="369332"/>
          </a:xfrm>
          <a:prstGeom prst="rect">
            <a:avLst/>
          </a:prstGeom>
        </p:spPr>
        <p:txBody>
          <a:bodyPr wrap="square">
            <a:spAutoFit/>
          </a:bodyPr>
          <a:lstStyle/>
          <a:p>
            <a:r>
              <a:rPr lang="en-US" b="1" dirty="0" smtClean="0"/>
              <a:t> </a:t>
            </a:r>
            <a:endParaRPr lang="en-US" dirty="0"/>
          </a:p>
        </p:txBody>
      </p:sp>
      <p:graphicFrame>
        <p:nvGraphicFramePr>
          <p:cNvPr id="5" name="Table 4"/>
          <p:cNvGraphicFramePr>
            <a:graphicFrameLocks noGrp="1"/>
          </p:cNvGraphicFramePr>
          <p:nvPr/>
        </p:nvGraphicFramePr>
        <p:xfrm>
          <a:off x="1981201" y="1066800"/>
          <a:ext cx="5029199" cy="2468880"/>
        </p:xfrm>
        <a:graphic>
          <a:graphicData uri="http://schemas.openxmlformats.org/drawingml/2006/table">
            <a:tbl>
              <a:tblPr firstRow="1" bandRow="1">
                <a:tableStyleId>{5C22544A-7EE6-4342-B048-85BDC9FD1C3A}</a:tableStyleId>
              </a:tblPr>
              <a:tblGrid>
                <a:gridCol w="1275008"/>
                <a:gridCol w="1700011"/>
                <a:gridCol w="2054180"/>
              </a:tblGrid>
              <a:tr h="563880">
                <a:tc>
                  <a:txBody>
                    <a:bodyPr/>
                    <a:lstStyle/>
                    <a:p>
                      <a:endParaRPr lang="en-US" dirty="0"/>
                    </a:p>
                  </a:txBody>
                  <a:tcPr/>
                </a:tc>
                <a:tc>
                  <a:txBody>
                    <a:bodyPr/>
                    <a:lstStyle/>
                    <a:p>
                      <a:pPr algn="ctr"/>
                      <a:r>
                        <a:rPr lang="en-US" sz="1800" b="1" kern="1200" baseline="0" dirty="0" smtClean="0">
                          <a:solidFill>
                            <a:schemeClr val="lt1"/>
                          </a:solidFill>
                          <a:latin typeface="+mn-lt"/>
                          <a:ea typeface="+mn-ea"/>
                          <a:cs typeface="+mn-cs"/>
                        </a:rPr>
                        <a:t>Price</a:t>
                      </a:r>
                    </a:p>
                    <a:p>
                      <a:pPr algn="ctr"/>
                      <a:r>
                        <a:rPr lang="en-US" sz="1800" b="1" kern="1200" baseline="0" dirty="0" smtClean="0">
                          <a:solidFill>
                            <a:schemeClr val="lt1"/>
                          </a:solidFill>
                          <a:latin typeface="+mn-lt"/>
                          <a:ea typeface="+mn-ea"/>
                          <a:cs typeface="+mn-cs"/>
                        </a:rPr>
                        <a:t> (in Rupees) </a:t>
                      </a:r>
                      <a:endParaRPr lang="en-US" dirty="0"/>
                    </a:p>
                  </a:txBody>
                  <a:tcPr/>
                </a:tc>
                <a:tc>
                  <a:txBody>
                    <a:bodyPr/>
                    <a:lstStyle/>
                    <a:p>
                      <a:pPr algn="ctr"/>
                      <a:r>
                        <a:rPr lang="en-US" sz="1800" b="1" kern="1200" baseline="0" dirty="0" smtClean="0">
                          <a:solidFill>
                            <a:schemeClr val="lt1"/>
                          </a:solidFill>
                          <a:latin typeface="+mn-lt"/>
                          <a:ea typeface="+mn-ea"/>
                          <a:cs typeface="+mn-cs"/>
                        </a:rPr>
                        <a:t>Quantity demanded (Units) </a:t>
                      </a:r>
                      <a:endParaRPr lang="en-US" dirty="0"/>
                    </a:p>
                  </a:txBody>
                  <a:tcPr/>
                </a:tc>
              </a:tr>
              <a:tr h="304800">
                <a:tc>
                  <a:txBody>
                    <a:bodyPr/>
                    <a:lstStyle/>
                    <a:p>
                      <a:pPr algn="ctr"/>
                      <a:r>
                        <a:rPr lang="en-US" dirty="0" smtClean="0"/>
                        <a:t>A</a:t>
                      </a:r>
                      <a:endParaRPr lang="en-US" dirty="0"/>
                    </a:p>
                  </a:txBody>
                  <a:tcPr/>
                </a:tc>
                <a:tc>
                  <a:txBody>
                    <a:bodyPr/>
                    <a:lstStyle/>
                    <a:p>
                      <a:pPr algn="ctr"/>
                      <a:r>
                        <a:rPr lang="en-US" dirty="0" smtClean="0"/>
                        <a:t>5</a:t>
                      </a:r>
                      <a:endParaRPr lang="en-US" dirty="0"/>
                    </a:p>
                  </a:txBody>
                  <a:tcPr/>
                </a:tc>
                <a:tc>
                  <a:txBody>
                    <a:bodyPr/>
                    <a:lstStyle/>
                    <a:p>
                      <a:pPr algn="ctr"/>
                      <a:r>
                        <a:rPr lang="en-US" dirty="0" smtClean="0"/>
                        <a:t>10</a:t>
                      </a:r>
                      <a:endParaRPr lang="en-US" dirty="0"/>
                    </a:p>
                  </a:txBody>
                  <a:tcPr/>
                </a:tc>
              </a:tr>
              <a:tr h="320040">
                <a:tc>
                  <a:txBody>
                    <a:bodyPr/>
                    <a:lstStyle/>
                    <a:p>
                      <a:pPr algn="ctr"/>
                      <a:r>
                        <a:rPr lang="en-US" dirty="0" smtClean="0"/>
                        <a:t>B</a:t>
                      </a:r>
                      <a:endParaRPr lang="en-US" dirty="0"/>
                    </a:p>
                  </a:txBody>
                  <a:tcPr/>
                </a:tc>
                <a:tc>
                  <a:txBody>
                    <a:bodyPr/>
                    <a:lstStyle/>
                    <a:p>
                      <a:pPr algn="ctr"/>
                      <a:r>
                        <a:rPr lang="en-US" dirty="0" smtClean="0"/>
                        <a:t>4</a:t>
                      </a:r>
                      <a:endParaRPr lang="en-US" dirty="0"/>
                    </a:p>
                  </a:txBody>
                  <a:tcPr/>
                </a:tc>
                <a:tc>
                  <a:txBody>
                    <a:bodyPr/>
                    <a:lstStyle/>
                    <a:p>
                      <a:pPr algn="ctr"/>
                      <a:r>
                        <a:rPr lang="en-US" dirty="0" smtClean="0"/>
                        <a:t>15</a:t>
                      </a:r>
                      <a:endParaRPr lang="en-US" dirty="0"/>
                    </a:p>
                  </a:txBody>
                  <a:tcPr/>
                </a:tc>
              </a:tr>
              <a:tr h="259080">
                <a:tc>
                  <a:txBody>
                    <a:bodyPr/>
                    <a:lstStyle/>
                    <a:p>
                      <a:pPr algn="ctr"/>
                      <a:r>
                        <a:rPr lang="en-US" dirty="0" smtClean="0"/>
                        <a:t>C</a:t>
                      </a:r>
                      <a:endParaRPr lang="en-US" dirty="0"/>
                    </a:p>
                  </a:txBody>
                  <a:tcPr/>
                </a:tc>
                <a:tc>
                  <a:txBody>
                    <a:bodyPr/>
                    <a:lstStyle/>
                    <a:p>
                      <a:pPr algn="ctr"/>
                      <a:r>
                        <a:rPr lang="en-US" dirty="0" smtClean="0"/>
                        <a:t>3</a:t>
                      </a:r>
                      <a:endParaRPr lang="en-US" dirty="0"/>
                    </a:p>
                  </a:txBody>
                  <a:tcPr/>
                </a:tc>
                <a:tc>
                  <a:txBody>
                    <a:bodyPr/>
                    <a:lstStyle/>
                    <a:p>
                      <a:pPr algn="ctr"/>
                      <a:r>
                        <a:rPr lang="en-US" dirty="0" smtClean="0"/>
                        <a:t>20</a:t>
                      </a:r>
                      <a:endParaRPr lang="en-US" dirty="0"/>
                    </a:p>
                  </a:txBody>
                  <a:tcPr/>
                </a:tc>
              </a:tr>
              <a:tr h="274320">
                <a:tc>
                  <a:txBody>
                    <a:bodyPr/>
                    <a:lstStyle/>
                    <a:p>
                      <a:pPr algn="ctr"/>
                      <a:r>
                        <a:rPr lang="en-US" dirty="0" smtClean="0"/>
                        <a:t>D</a:t>
                      </a:r>
                      <a:endParaRPr lang="en-US" dirty="0"/>
                    </a:p>
                  </a:txBody>
                  <a:tcPr/>
                </a:tc>
                <a:tc>
                  <a:txBody>
                    <a:bodyPr/>
                    <a:lstStyle/>
                    <a:p>
                      <a:pPr algn="ctr"/>
                      <a:r>
                        <a:rPr lang="en-US" dirty="0" smtClean="0"/>
                        <a:t>2</a:t>
                      </a:r>
                      <a:endParaRPr lang="en-US" dirty="0"/>
                    </a:p>
                  </a:txBody>
                  <a:tcPr/>
                </a:tc>
                <a:tc>
                  <a:txBody>
                    <a:bodyPr/>
                    <a:lstStyle/>
                    <a:p>
                      <a:pPr algn="ctr"/>
                      <a:r>
                        <a:rPr lang="en-US" dirty="0" smtClean="0"/>
                        <a:t>35</a:t>
                      </a:r>
                      <a:endParaRPr lang="en-US" dirty="0"/>
                    </a:p>
                  </a:txBody>
                  <a:tcPr/>
                </a:tc>
              </a:tr>
              <a:tr h="365760">
                <a:tc>
                  <a:txBody>
                    <a:bodyPr/>
                    <a:lstStyle/>
                    <a:p>
                      <a:pPr algn="ctr"/>
                      <a:r>
                        <a:rPr lang="en-US" dirty="0" smtClean="0"/>
                        <a:t>E</a:t>
                      </a:r>
                      <a:endParaRPr lang="en-US" dirty="0"/>
                    </a:p>
                  </a:txBody>
                  <a:tcPr/>
                </a:tc>
                <a:tc>
                  <a:txBody>
                    <a:bodyPr/>
                    <a:lstStyle/>
                    <a:p>
                      <a:pPr algn="ctr"/>
                      <a:r>
                        <a:rPr lang="en-US" dirty="0" smtClean="0"/>
                        <a:t>1</a:t>
                      </a:r>
                      <a:endParaRPr lang="en-US" dirty="0"/>
                    </a:p>
                  </a:txBody>
                  <a:tcPr/>
                </a:tc>
                <a:tc>
                  <a:txBody>
                    <a:bodyPr/>
                    <a:lstStyle/>
                    <a:p>
                      <a:pPr algn="ctr"/>
                      <a:r>
                        <a:rPr lang="en-US" dirty="0" smtClean="0"/>
                        <a:t>60</a:t>
                      </a:r>
                      <a:endParaRPr lang="en-US" dirty="0"/>
                    </a:p>
                  </a:txBody>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457200"/>
            <a:ext cx="8610600" cy="1697068"/>
          </a:xfrm>
          <a:prstGeom prst="rect">
            <a:avLst/>
          </a:prstGeom>
        </p:spPr>
        <p:txBody>
          <a:bodyPr wrap="square">
            <a:spAutoFit/>
          </a:bodyPr>
          <a:lstStyle/>
          <a:p>
            <a:pPr>
              <a:lnSpc>
                <a:spcPct val="150000"/>
              </a:lnSpc>
            </a:pPr>
            <a:r>
              <a:rPr lang="en-US" sz="2400" b="1" dirty="0" smtClean="0">
                <a:solidFill>
                  <a:srgbClr val="FF0000"/>
                </a:solidFill>
              </a:rPr>
              <a:t>Demand Curve:</a:t>
            </a:r>
          </a:p>
          <a:p>
            <a:pPr>
              <a:lnSpc>
                <a:spcPct val="150000"/>
              </a:lnSpc>
            </a:pPr>
            <a:r>
              <a:rPr lang="en-US" sz="2400" b="1" dirty="0" smtClean="0"/>
              <a:t> A demand curve is a graphical presentation of the demand schedule. It is obtained by plotting a demand schedule. </a:t>
            </a:r>
            <a:endParaRPr lang="en-US" sz="2400" dirty="0"/>
          </a:p>
        </p:txBody>
      </p:sp>
      <p:pic>
        <p:nvPicPr>
          <p:cNvPr id="1026" name="Picture 2"/>
          <p:cNvPicPr>
            <a:picLocks noChangeAspect="1" noChangeArrowheads="1"/>
          </p:cNvPicPr>
          <p:nvPr/>
        </p:nvPicPr>
        <p:blipFill>
          <a:blip r:embed="rId2">
            <a:lum contrast="100000"/>
          </a:blip>
          <a:srcRect/>
          <a:stretch>
            <a:fillRect/>
          </a:stretch>
        </p:blipFill>
        <p:spPr bwMode="auto">
          <a:xfrm>
            <a:off x="1371600" y="2514600"/>
            <a:ext cx="6781800" cy="3505200"/>
          </a:xfrm>
          <a:prstGeom prst="rect">
            <a:avLst/>
          </a:prstGeom>
          <a:noFill/>
          <a:ln w="9525">
            <a:noFill/>
            <a:miter lim="800000"/>
            <a:headEnd/>
            <a:tailEnd/>
          </a:ln>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304800"/>
            <a:ext cx="8458200" cy="5078313"/>
          </a:xfrm>
          <a:prstGeom prst="rect">
            <a:avLst/>
          </a:prstGeom>
        </p:spPr>
        <p:txBody>
          <a:bodyPr wrap="square">
            <a:spAutoFit/>
          </a:bodyPr>
          <a:lstStyle/>
          <a:p>
            <a:pPr>
              <a:lnSpc>
                <a:spcPct val="150000"/>
              </a:lnSpc>
            </a:pPr>
            <a:r>
              <a:rPr lang="en-US" sz="2400" b="1" dirty="0" smtClean="0">
                <a:solidFill>
                  <a:srgbClr val="FF0000"/>
                </a:solidFill>
              </a:rPr>
              <a:t>Market Demand Schedule</a:t>
            </a:r>
          </a:p>
          <a:p>
            <a:pPr>
              <a:lnSpc>
                <a:spcPct val="150000"/>
              </a:lnSpc>
            </a:pPr>
            <a:r>
              <a:rPr lang="en-US" sz="2400" b="1" dirty="0" smtClean="0"/>
              <a:t> 	Market demand is defined as the </a:t>
            </a:r>
            <a:r>
              <a:rPr lang="en-US" sz="2400" b="1" dirty="0" smtClean="0">
                <a:solidFill>
                  <a:srgbClr val="FF0000"/>
                </a:solidFill>
              </a:rPr>
              <a:t>sum of individual demands</a:t>
            </a:r>
            <a:r>
              <a:rPr lang="en-US" sz="2400" b="1" dirty="0" smtClean="0"/>
              <a:t> for </a:t>
            </a:r>
            <a:r>
              <a:rPr lang="en-US" sz="2400" b="1" dirty="0" smtClean="0">
                <a:solidFill>
                  <a:srgbClr val="FF0000"/>
                </a:solidFill>
              </a:rPr>
              <a:t>a product at a price per unit of time</a:t>
            </a:r>
            <a:r>
              <a:rPr lang="en-US" sz="2400" b="1" dirty="0" smtClean="0"/>
              <a:t>. In other words, it is the </a:t>
            </a:r>
            <a:r>
              <a:rPr lang="en-US" sz="2400" b="1" dirty="0" smtClean="0">
                <a:solidFill>
                  <a:srgbClr val="FF0000"/>
                </a:solidFill>
              </a:rPr>
              <a:t>total quantity </a:t>
            </a:r>
            <a:r>
              <a:rPr lang="en-US" sz="2400" b="1" dirty="0" smtClean="0"/>
              <a:t>that all consumers of a commodity are willing to buy per unit of time at a given price, </a:t>
            </a:r>
            <a:r>
              <a:rPr lang="en-US" sz="2400" b="1" dirty="0" smtClean="0">
                <a:solidFill>
                  <a:srgbClr val="FF0000"/>
                </a:solidFill>
              </a:rPr>
              <a:t>all other things remaining constant. 		</a:t>
            </a:r>
          </a:p>
          <a:p>
            <a:pPr>
              <a:lnSpc>
                <a:spcPct val="150000"/>
              </a:lnSpc>
            </a:pPr>
            <a:r>
              <a:rPr lang="en-US" sz="2400" b="1" dirty="0" smtClean="0"/>
              <a:t>	When we add up the various quantities demanded by different consumers in the market, we can obtain the market demand schedule. </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lum bright="-61000" contrast="16000"/>
          </a:blip>
          <a:srcRect/>
          <a:stretch>
            <a:fillRect/>
          </a:stretch>
        </p:blipFill>
        <p:spPr bwMode="auto">
          <a:xfrm>
            <a:off x="304800" y="1828800"/>
            <a:ext cx="8686800" cy="2209800"/>
          </a:xfrm>
          <a:prstGeom prst="rect">
            <a:avLst/>
          </a:prstGeom>
          <a:noFill/>
          <a:ln w="9525">
            <a:noFill/>
            <a:miter lim="800000"/>
            <a:headEnd/>
            <a:tailEnd/>
          </a:ln>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228600"/>
            <a:ext cx="8534400" cy="1697068"/>
          </a:xfrm>
          <a:prstGeom prst="rect">
            <a:avLst/>
          </a:prstGeom>
        </p:spPr>
        <p:txBody>
          <a:bodyPr wrap="square">
            <a:spAutoFit/>
          </a:bodyPr>
          <a:lstStyle/>
          <a:p>
            <a:pPr>
              <a:lnSpc>
                <a:spcPct val="150000"/>
              </a:lnSpc>
            </a:pPr>
            <a:r>
              <a:rPr lang="en-US" sz="2400" b="1" dirty="0" smtClean="0">
                <a:solidFill>
                  <a:srgbClr val="FF0000"/>
                </a:solidFill>
              </a:rPr>
              <a:t>Market Demand Curve: </a:t>
            </a:r>
          </a:p>
          <a:p>
            <a:pPr>
              <a:lnSpc>
                <a:spcPct val="150000"/>
              </a:lnSpc>
            </a:pPr>
            <a:r>
              <a:rPr lang="en-US" sz="2400" b="1" dirty="0" smtClean="0"/>
              <a:t>	If we plot the market demand schedule on a graph, we get the market demand curve. </a:t>
            </a:r>
            <a:endParaRPr lang="en-US" sz="2400" dirty="0"/>
          </a:p>
        </p:txBody>
      </p:sp>
      <p:pic>
        <p:nvPicPr>
          <p:cNvPr id="3074" name="Picture 2"/>
          <p:cNvPicPr>
            <a:picLocks noChangeAspect="1" noChangeArrowheads="1"/>
          </p:cNvPicPr>
          <p:nvPr/>
        </p:nvPicPr>
        <p:blipFill>
          <a:blip r:embed="rId2">
            <a:lum bright="-44000" contrast="-33000"/>
          </a:blip>
          <a:srcRect/>
          <a:stretch>
            <a:fillRect/>
          </a:stretch>
        </p:blipFill>
        <p:spPr bwMode="auto">
          <a:xfrm>
            <a:off x="914400" y="2381250"/>
            <a:ext cx="7696200" cy="4019550"/>
          </a:xfrm>
          <a:prstGeom prst="rect">
            <a:avLst/>
          </a:prstGeom>
          <a:noFill/>
          <a:ln w="9525">
            <a:noFill/>
            <a:miter lim="800000"/>
            <a:headEnd/>
            <a:tailEnd/>
          </a:ln>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228600"/>
            <a:ext cx="8762999" cy="6186309"/>
          </a:xfrm>
          <a:prstGeom prst="rect">
            <a:avLst/>
          </a:prstGeom>
        </p:spPr>
        <p:txBody>
          <a:bodyPr wrap="square">
            <a:spAutoFit/>
          </a:bodyPr>
          <a:lstStyle/>
          <a:p>
            <a:pPr>
              <a:lnSpc>
                <a:spcPct val="150000"/>
              </a:lnSpc>
            </a:pPr>
            <a:r>
              <a:rPr lang="en-US" sz="2400" b="1" dirty="0" smtClean="0">
                <a:solidFill>
                  <a:srgbClr val="FF0000"/>
                </a:solidFill>
              </a:rPr>
              <a:t>Elasticity Of Demand</a:t>
            </a:r>
          </a:p>
          <a:p>
            <a:pPr>
              <a:lnSpc>
                <a:spcPct val="150000"/>
              </a:lnSpc>
            </a:pPr>
            <a:r>
              <a:rPr lang="en-US" sz="2400" b="1" dirty="0" smtClean="0"/>
              <a:t>	Elasticity of demand is defined as the responsiveness of the quantity demanded of a good to changes in one of the variables on which demand depends.</a:t>
            </a:r>
          </a:p>
          <a:p>
            <a:pPr>
              <a:lnSpc>
                <a:spcPct val="150000"/>
              </a:lnSpc>
            </a:pPr>
            <a:r>
              <a:rPr lang="en-US" sz="2400" b="1" dirty="0" smtClean="0"/>
              <a:t>	 More precisely, </a:t>
            </a:r>
            <a:r>
              <a:rPr lang="en-US" sz="2400" b="1" dirty="0" smtClean="0">
                <a:solidFill>
                  <a:srgbClr val="FF0000"/>
                </a:solidFill>
              </a:rPr>
              <a:t>elasticity of demand is the percentage change in quantity demanded divided by the percentage change in one of the variables on which demand depends. </a:t>
            </a:r>
          </a:p>
          <a:p>
            <a:pPr>
              <a:lnSpc>
                <a:spcPct val="150000"/>
              </a:lnSpc>
            </a:pPr>
            <a:r>
              <a:rPr lang="en-US" sz="2400" b="1" dirty="0" smtClean="0"/>
              <a:t>	These </a:t>
            </a:r>
            <a:r>
              <a:rPr lang="en-US" sz="2400" b="1" dirty="0" smtClean="0">
                <a:solidFill>
                  <a:srgbClr val="FF0000"/>
                </a:solidFill>
              </a:rPr>
              <a:t>variables</a:t>
            </a:r>
            <a:r>
              <a:rPr lang="en-US" sz="2400" b="1" dirty="0" smtClean="0"/>
              <a:t> are </a:t>
            </a:r>
            <a:r>
              <a:rPr lang="en-US" sz="2400" b="1" dirty="0" smtClean="0">
                <a:solidFill>
                  <a:srgbClr val="FF0000"/>
                </a:solidFill>
              </a:rPr>
              <a:t>price of the commodity</a:t>
            </a:r>
            <a:r>
              <a:rPr lang="en-US" sz="2400" b="1" dirty="0" smtClean="0"/>
              <a:t>, </a:t>
            </a:r>
            <a:r>
              <a:rPr lang="en-US" sz="2400" b="1" dirty="0" smtClean="0">
                <a:solidFill>
                  <a:srgbClr val="FF0000"/>
                </a:solidFill>
              </a:rPr>
              <a:t>prices of the related commodities</a:t>
            </a:r>
            <a:r>
              <a:rPr lang="en-US" sz="2400" b="1" dirty="0" smtClean="0"/>
              <a:t>, </a:t>
            </a:r>
            <a:r>
              <a:rPr lang="en-US" sz="2400" b="1" dirty="0" smtClean="0">
                <a:solidFill>
                  <a:srgbClr val="FF0000"/>
                </a:solidFill>
              </a:rPr>
              <a:t>income of the consumers </a:t>
            </a:r>
            <a:r>
              <a:rPr lang="en-US" sz="2400" b="1" dirty="0" smtClean="0"/>
              <a:t>and </a:t>
            </a:r>
            <a:r>
              <a:rPr lang="en-US" sz="2400" b="1" dirty="0" smtClean="0">
                <a:solidFill>
                  <a:srgbClr val="FF0000"/>
                </a:solidFill>
              </a:rPr>
              <a:t>other </a:t>
            </a:r>
            <a:r>
              <a:rPr lang="en-US" sz="2400" b="1" dirty="0" smtClean="0"/>
              <a:t>factors on which demand depends. </a:t>
            </a:r>
          </a:p>
          <a:p>
            <a:pPr>
              <a:lnSpc>
                <a:spcPct val="150000"/>
              </a:lnSpc>
            </a:pPr>
            <a:r>
              <a:rPr lang="en-US" sz="2400" b="1" dirty="0" smtClean="0"/>
              <a:t>	</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228600"/>
            <a:ext cx="8839200" cy="3970318"/>
          </a:xfrm>
          <a:prstGeom prst="rect">
            <a:avLst/>
          </a:prstGeom>
        </p:spPr>
        <p:txBody>
          <a:bodyPr wrap="square">
            <a:spAutoFit/>
          </a:bodyPr>
          <a:lstStyle/>
          <a:p>
            <a:pPr>
              <a:lnSpc>
                <a:spcPct val="150000"/>
              </a:lnSpc>
            </a:pPr>
            <a:r>
              <a:rPr lang="en-US" sz="2400" b="1" dirty="0" smtClean="0"/>
              <a:t>	Thus, we have </a:t>
            </a:r>
            <a:r>
              <a:rPr lang="en-US" sz="2400" b="1" dirty="0" smtClean="0">
                <a:solidFill>
                  <a:srgbClr val="FF0000"/>
                </a:solidFill>
              </a:rPr>
              <a:t>price elasticity</a:t>
            </a:r>
            <a:r>
              <a:rPr lang="en-US" sz="2400" b="1" dirty="0" smtClean="0"/>
              <a:t>, </a:t>
            </a:r>
            <a:r>
              <a:rPr lang="en-US" sz="2400" b="1" dirty="0" smtClean="0">
                <a:solidFill>
                  <a:srgbClr val="FF0000"/>
                </a:solidFill>
              </a:rPr>
              <a:t>cross elasticity</a:t>
            </a:r>
            <a:r>
              <a:rPr lang="en-US" sz="2400" b="1" dirty="0" smtClean="0"/>
              <a:t>, </a:t>
            </a:r>
            <a:r>
              <a:rPr lang="en-US" sz="2400" b="1" dirty="0" smtClean="0">
                <a:solidFill>
                  <a:srgbClr val="FF0000"/>
                </a:solidFill>
              </a:rPr>
              <a:t>income</a:t>
            </a:r>
            <a:r>
              <a:rPr lang="en-US" sz="2400" b="1" dirty="0" smtClean="0"/>
              <a:t> </a:t>
            </a:r>
            <a:r>
              <a:rPr lang="en-US" sz="2400" b="1" dirty="0" smtClean="0">
                <a:solidFill>
                  <a:srgbClr val="FF0000"/>
                </a:solidFill>
              </a:rPr>
              <a:t>elasticity</a:t>
            </a:r>
            <a:r>
              <a:rPr lang="en-US" sz="2400" b="1" dirty="0" smtClean="0"/>
              <a:t>, </a:t>
            </a:r>
            <a:r>
              <a:rPr lang="en-US" sz="2400" b="1" dirty="0" smtClean="0">
                <a:solidFill>
                  <a:srgbClr val="FF0000"/>
                </a:solidFill>
              </a:rPr>
              <a:t>advertisement elasticity </a:t>
            </a:r>
            <a:r>
              <a:rPr lang="en-US" sz="2400" b="1" dirty="0" smtClean="0"/>
              <a:t>and </a:t>
            </a:r>
            <a:r>
              <a:rPr lang="en-US" sz="2400" b="1" dirty="0" smtClean="0">
                <a:solidFill>
                  <a:srgbClr val="FF0000"/>
                </a:solidFill>
              </a:rPr>
              <a:t>elasticity of substitution</a:t>
            </a:r>
            <a:r>
              <a:rPr lang="en-US" sz="2400" b="1" dirty="0" smtClean="0"/>
              <a:t>. </a:t>
            </a:r>
          </a:p>
          <a:p>
            <a:pPr>
              <a:lnSpc>
                <a:spcPct val="150000"/>
              </a:lnSpc>
            </a:pPr>
            <a:r>
              <a:rPr lang="en-US" sz="2400" b="1" dirty="0" smtClean="0"/>
              <a:t>	It is to be noted that when we talk of elasticity of demand, unless and until otherwise mentioned, we talk of </a:t>
            </a:r>
            <a:r>
              <a:rPr lang="en-US" sz="2400" b="1" dirty="0" smtClean="0">
                <a:solidFill>
                  <a:srgbClr val="FF0000"/>
                </a:solidFill>
              </a:rPr>
              <a:t>price elasticity of demand.</a:t>
            </a:r>
          </a:p>
          <a:p>
            <a:pPr>
              <a:lnSpc>
                <a:spcPct val="150000"/>
              </a:lnSpc>
            </a:pPr>
            <a:r>
              <a:rPr lang="en-US" sz="2400" b="1" dirty="0" smtClean="0"/>
              <a:t>	 In other words, it is price elasticity of demand which is usually referred to as elasticity of demand. </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52400"/>
            <a:ext cx="8458200" cy="3970318"/>
          </a:xfrm>
          <a:prstGeom prst="rect">
            <a:avLst/>
          </a:prstGeom>
        </p:spPr>
        <p:txBody>
          <a:bodyPr wrap="square">
            <a:spAutoFit/>
          </a:bodyPr>
          <a:lstStyle/>
          <a:p>
            <a:pPr>
              <a:lnSpc>
                <a:spcPct val="150000"/>
              </a:lnSpc>
            </a:pPr>
            <a:r>
              <a:rPr lang="en-US" sz="2400" b="1" dirty="0" smtClean="0">
                <a:solidFill>
                  <a:srgbClr val="FF0000"/>
                </a:solidFill>
              </a:rPr>
              <a:t>Price Elasticity </a:t>
            </a:r>
          </a:p>
          <a:p>
            <a:pPr>
              <a:lnSpc>
                <a:spcPct val="150000"/>
              </a:lnSpc>
            </a:pPr>
            <a:r>
              <a:rPr lang="en-US" sz="2400" b="1" dirty="0" smtClean="0"/>
              <a:t>	Price elasticity of demand expresses the response of quantity demanded of a good to a change in its price, given the consumer’s income, his tastes and prices of all other goods. </a:t>
            </a:r>
          </a:p>
          <a:p>
            <a:pPr>
              <a:lnSpc>
                <a:spcPct val="150000"/>
              </a:lnSpc>
            </a:pPr>
            <a:r>
              <a:rPr lang="en-US" sz="2400" b="1" dirty="0" smtClean="0"/>
              <a:t>	In other words, it is measured as the percentage change in quantity demanded divided by the percentage change in price, other things remaining equal. That is, </a:t>
            </a:r>
            <a:endParaRPr lang="en-US" sz="2400" b="1" dirty="0"/>
          </a:p>
        </p:txBody>
      </p:sp>
      <p:pic>
        <p:nvPicPr>
          <p:cNvPr id="4098" name="Picture 2"/>
          <p:cNvPicPr>
            <a:picLocks noChangeAspect="1" noChangeArrowheads="1"/>
          </p:cNvPicPr>
          <p:nvPr/>
        </p:nvPicPr>
        <p:blipFill>
          <a:blip r:embed="rId2">
            <a:lum bright="-26000"/>
          </a:blip>
          <a:srcRect/>
          <a:stretch>
            <a:fillRect/>
          </a:stretch>
        </p:blipFill>
        <p:spPr bwMode="auto">
          <a:xfrm>
            <a:off x="1524000" y="4343400"/>
            <a:ext cx="6324600" cy="1371600"/>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04800" y="533400"/>
            <a:ext cx="8686800" cy="2554545"/>
          </a:xfrm>
          <a:prstGeom prst="rect">
            <a:avLst/>
          </a:prstGeom>
        </p:spPr>
        <p:txBody>
          <a:bodyPr wrap="square">
            <a:spAutoFit/>
          </a:bodyPr>
          <a:lstStyle/>
          <a:p>
            <a:r>
              <a:rPr lang="it-IT" sz="2000" b="1" dirty="0" smtClean="0"/>
              <a:t>         Change in Quantity</a:t>
            </a:r>
          </a:p>
          <a:p>
            <a:r>
              <a:rPr lang="it-IT" sz="2000" b="1" dirty="0" smtClean="0"/>
              <a:t>         -------------------------- X100 </a:t>
            </a:r>
          </a:p>
          <a:p>
            <a:r>
              <a:rPr lang="it-IT" sz="2000" b="1" dirty="0" smtClean="0"/>
              <a:t>         Original Quantity 		        Change in Quantity 	  Original Price                                   </a:t>
            </a:r>
          </a:p>
          <a:p>
            <a:r>
              <a:rPr lang="it-IT" sz="2000" b="1" dirty="0" smtClean="0"/>
              <a:t>Ep = -----------------------------------    OR    --------------------------- X ---------------------</a:t>
            </a:r>
          </a:p>
          <a:p>
            <a:r>
              <a:rPr lang="it-IT" sz="2000" b="1" dirty="0" smtClean="0"/>
              <a:t>             Change in Price		          Original Quantity 	 Change in Price</a:t>
            </a:r>
          </a:p>
          <a:p>
            <a:r>
              <a:rPr lang="it-IT" sz="2000" b="1" dirty="0" smtClean="0"/>
              <a:t>           ----------------------X100 </a:t>
            </a:r>
          </a:p>
          <a:p>
            <a:r>
              <a:rPr lang="it-IT" sz="2000" b="1" dirty="0" smtClean="0"/>
              <a:t>             Original Price </a:t>
            </a:r>
          </a:p>
          <a:p>
            <a:endParaRPr lang="en-US" sz="2000" b="1"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228601"/>
            <a:ext cx="8763000" cy="461665"/>
          </a:xfrm>
          <a:prstGeom prst="rect">
            <a:avLst/>
          </a:prstGeom>
        </p:spPr>
        <p:txBody>
          <a:bodyPr wrap="square">
            <a:spAutoFit/>
          </a:bodyPr>
          <a:lstStyle/>
          <a:p>
            <a:pPr algn="ctr"/>
            <a:r>
              <a:rPr lang="en-US" sz="2400" b="1" dirty="0" smtClean="0">
                <a:solidFill>
                  <a:srgbClr val="FF0000"/>
                </a:solidFill>
              </a:rPr>
              <a:t>Elasticity measures, meaning and nomenclature </a:t>
            </a:r>
            <a:endParaRPr lang="en-US" sz="2400" dirty="0">
              <a:solidFill>
                <a:srgbClr val="FF0000"/>
              </a:solidFill>
            </a:endParaRPr>
          </a:p>
        </p:txBody>
      </p:sp>
      <p:pic>
        <p:nvPicPr>
          <p:cNvPr id="5122" name="Picture 2"/>
          <p:cNvPicPr>
            <a:picLocks noChangeAspect="1" noChangeArrowheads="1"/>
          </p:cNvPicPr>
          <p:nvPr/>
        </p:nvPicPr>
        <p:blipFill>
          <a:blip r:embed="rId2">
            <a:lum bright="-51000"/>
          </a:blip>
          <a:srcRect/>
          <a:stretch>
            <a:fillRect/>
          </a:stretch>
        </p:blipFill>
        <p:spPr bwMode="auto">
          <a:xfrm>
            <a:off x="228600" y="990601"/>
            <a:ext cx="8763000" cy="3733799"/>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lum bright="-61000" contrast="53000"/>
          </a:blip>
          <a:srcRect/>
          <a:stretch>
            <a:fillRect/>
          </a:stretch>
        </p:blipFill>
        <p:spPr bwMode="auto">
          <a:xfrm>
            <a:off x="188193" y="381000"/>
            <a:ext cx="8651008" cy="5014913"/>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52400"/>
            <a:ext cx="8534400" cy="7294305"/>
          </a:xfrm>
          <a:prstGeom prst="rect">
            <a:avLst/>
          </a:prstGeom>
        </p:spPr>
        <p:txBody>
          <a:bodyPr wrap="square">
            <a:spAutoFit/>
          </a:bodyPr>
          <a:lstStyle/>
          <a:p>
            <a:pPr>
              <a:lnSpc>
                <a:spcPct val="150000"/>
              </a:lnSpc>
            </a:pPr>
            <a:r>
              <a:rPr lang="en-US" sz="2400" b="1" dirty="0" smtClean="0">
                <a:solidFill>
                  <a:srgbClr val="FF0000"/>
                </a:solidFill>
              </a:rPr>
              <a:t>Point elasticity:</a:t>
            </a:r>
          </a:p>
          <a:p>
            <a:pPr>
              <a:lnSpc>
                <a:spcPct val="150000"/>
              </a:lnSpc>
            </a:pPr>
            <a:r>
              <a:rPr lang="en-US" sz="2400" b="1" dirty="0" smtClean="0">
                <a:solidFill>
                  <a:srgbClr val="FF0000"/>
                </a:solidFill>
              </a:rPr>
              <a:t>	 </a:t>
            </a:r>
            <a:r>
              <a:rPr lang="en-US" sz="2400" b="1" dirty="0" smtClean="0"/>
              <a:t>In point elasticity, we measure elasticity at a given point on a demand curve. The concept of point elasticity is used for measuring price elasticity where the change in price is infinitesimal. </a:t>
            </a:r>
          </a:p>
          <a:p>
            <a:pPr>
              <a:lnSpc>
                <a:spcPct val="150000"/>
              </a:lnSpc>
            </a:pPr>
            <a:r>
              <a:rPr lang="en-US" sz="2400" b="1" dirty="0" smtClean="0"/>
              <a:t>	Point elasticity makes use of derivative rather than finite changes in price and quantity. </a:t>
            </a:r>
          </a:p>
          <a:p>
            <a:pPr>
              <a:lnSpc>
                <a:spcPct val="150000"/>
              </a:lnSpc>
            </a:pPr>
            <a:r>
              <a:rPr lang="en-US" sz="2400" b="1" dirty="0" smtClean="0"/>
              <a:t>	It may be defined as: </a:t>
            </a:r>
          </a:p>
          <a:p>
            <a:pPr lvl="1"/>
            <a:r>
              <a:rPr lang="en-US" sz="2400" b="1" dirty="0" smtClean="0"/>
              <a:t>	          -</a:t>
            </a:r>
            <a:r>
              <a:rPr lang="en-US" sz="2400" b="1" dirty="0" err="1" smtClean="0"/>
              <a:t>dq</a:t>
            </a:r>
            <a:r>
              <a:rPr lang="en-US" sz="2400" b="1" dirty="0" smtClean="0"/>
              <a:t>	p</a:t>
            </a:r>
          </a:p>
          <a:p>
            <a:r>
              <a:rPr lang="en-US" sz="2400" b="1" dirty="0" smtClean="0"/>
              <a:t>	</a:t>
            </a:r>
            <a:r>
              <a:rPr lang="en-US" sz="2400" b="1" dirty="0" err="1" smtClean="0"/>
              <a:t>Ep</a:t>
            </a:r>
            <a:r>
              <a:rPr lang="en-US" sz="2400" b="1" dirty="0" smtClean="0"/>
              <a:t> = ------ - × -------</a:t>
            </a:r>
          </a:p>
          <a:p>
            <a:r>
              <a:rPr lang="en-US" sz="2400" b="1" dirty="0" smtClean="0"/>
              <a:t>	           </a:t>
            </a:r>
            <a:r>
              <a:rPr lang="en-US" sz="2400" b="1" dirty="0" err="1" smtClean="0"/>
              <a:t>dp</a:t>
            </a:r>
            <a:r>
              <a:rPr lang="en-US" sz="2400" b="1" dirty="0" smtClean="0"/>
              <a:t>	q</a:t>
            </a:r>
          </a:p>
          <a:p>
            <a:r>
              <a:rPr lang="en-US" sz="2400" b="1" dirty="0" smtClean="0"/>
              <a:t>where </a:t>
            </a:r>
            <a:r>
              <a:rPr lang="en-US" sz="2400" b="1" dirty="0" err="1" smtClean="0"/>
              <a:t>dq</a:t>
            </a:r>
            <a:r>
              <a:rPr lang="en-US" sz="2400" b="1" dirty="0" smtClean="0"/>
              <a:t> /</a:t>
            </a:r>
            <a:r>
              <a:rPr lang="en-US" sz="2400" b="1" dirty="0" err="1" smtClean="0"/>
              <a:t>dp</a:t>
            </a:r>
            <a:r>
              <a:rPr lang="en-US" sz="2400" b="1" dirty="0" smtClean="0"/>
              <a:t> is the derivative of quantity with respect to price at a point on the demand curve, and p and q are the price and quantity at that point. </a:t>
            </a:r>
          </a:p>
          <a:p>
            <a:pPr>
              <a:lnSpc>
                <a:spcPct val="150000"/>
              </a:lnSpc>
            </a:pPr>
            <a:r>
              <a:rPr lang="en-US" sz="2400" b="1" dirty="0" smtClean="0"/>
              <a:t>	. 	</a:t>
            </a:r>
            <a:endParaRPr lang="en-US" sz="2400" b="1"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228600"/>
            <a:ext cx="8534400" cy="3970318"/>
          </a:xfrm>
          <a:prstGeom prst="rect">
            <a:avLst/>
          </a:prstGeom>
        </p:spPr>
        <p:txBody>
          <a:bodyPr wrap="square">
            <a:spAutoFit/>
          </a:bodyPr>
          <a:lstStyle/>
          <a:p>
            <a:pPr>
              <a:lnSpc>
                <a:spcPct val="150000"/>
              </a:lnSpc>
            </a:pPr>
            <a:r>
              <a:rPr lang="en-US" sz="2400" b="1" dirty="0" smtClean="0"/>
              <a:t>	Point elasticity is, therefore, the product of price quantity ratio at a particular point on the demand curve and the reciprocal of the slope of the demand line.</a:t>
            </a:r>
          </a:p>
          <a:p>
            <a:pPr>
              <a:lnSpc>
                <a:spcPct val="150000"/>
              </a:lnSpc>
            </a:pPr>
            <a:r>
              <a:rPr lang="en-US" sz="2400" b="1" dirty="0" smtClean="0"/>
              <a:t>	</a:t>
            </a:r>
          </a:p>
          <a:p>
            <a:endParaRPr lang="en-US" sz="2400" b="1" dirty="0" smtClean="0"/>
          </a:p>
          <a:p>
            <a:endParaRPr lang="en-US" sz="2400" b="1" dirty="0" smtClean="0"/>
          </a:p>
          <a:p>
            <a:r>
              <a:rPr lang="en-US" sz="2400" b="1" dirty="0" smtClean="0"/>
              <a:t> </a:t>
            </a:r>
            <a:endParaRPr lang="en-US" sz="2400" dirty="0" smtClean="0"/>
          </a:p>
          <a:p>
            <a:pPr>
              <a:lnSpc>
                <a:spcPct val="150000"/>
              </a:lnSpc>
            </a:pP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noChangeArrowheads="1"/>
          </p:cNvPicPr>
          <p:nvPr/>
        </p:nvPicPr>
        <p:blipFill>
          <a:blip r:embed="rId2">
            <a:lum bright="-60000" contrast="66000"/>
          </a:blip>
          <a:srcRect/>
          <a:stretch>
            <a:fillRect/>
          </a:stretch>
        </p:blipFill>
        <p:spPr bwMode="auto">
          <a:xfrm>
            <a:off x="533400" y="3124200"/>
            <a:ext cx="8001000" cy="3429000"/>
          </a:xfrm>
          <a:prstGeom prst="rect">
            <a:avLst/>
          </a:prstGeom>
          <a:noFill/>
          <a:ln w="9525">
            <a:noFill/>
            <a:miter lim="800000"/>
            <a:headEnd/>
            <a:tailEnd/>
          </a:ln>
          <a:effectLst/>
        </p:spPr>
      </p:pic>
      <p:sp>
        <p:nvSpPr>
          <p:cNvPr id="4" name="Rectangle 3"/>
          <p:cNvSpPr/>
          <p:nvPr/>
        </p:nvSpPr>
        <p:spPr>
          <a:xfrm>
            <a:off x="457200" y="152400"/>
            <a:ext cx="8305800" cy="2862322"/>
          </a:xfrm>
          <a:prstGeom prst="rect">
            <a:avLst/>
          </a:prstGeom>
        </p:spPr>
        <p:txBody>
          <a:bodyPr wrap="square">
            <a:spAutoFit/>
          </a:bodyPr>
          <a:lstStyle/>
          <a:p>
            <a:pPr>
              <a:lnSpc>
                <a:spcPct val="150000"/>
              </a:lnSpc>
            </a:pPr>
            <a:r>
              <a:rPr lang="en-US" sz="2400" b="1" dirty="0" smtClean="0"/>
              <a:t>Thus elasticity is different at different points on the same demand curve. Given a straight line demand curve </a:t>
            </a:r>
            <a:r>
              <a:rPr lang="en-US" sz="2400" b="1" dirty="0" err="1" smtClean="0"/>
              <a:t>tT</a:t>
            </a:r>
            <a:r>
              <a:rPr lang="en-US" sz="2400" b="1" dirty="0" smtClean="0"/>
              <a:t>, point elasticity at any point say R can be found by using the formula </a:t>
            </a:r>
          </a:p>
          <a:p>
            <a:r>
              <a:rPr lang="en-US" sz="2400" b="1" dirty="0" smtClean="0"/>
              <a:t>	 RT   	lower segment</a:t>
            </a:r>
          </a:p>
          <a:p>
            <a:r>
              <a:rPr lang="en-US" sz="2400" b="1" dirty="0" smtClean="0"/>
              <a:t>	----- = --------------------</a:t>
            </a:r>
          </a:p>
          <a:p>
            <a:r>
              <a:rPr lang="en-US" sz="2400" b="1" dirty="0" smtClean="0"/>
              <a:t>	 </a:t>
            </a:r>
            <a:r>
              <a:rPr lang="en-US" sz="2400" b="1" dirty="0" err="1" smtClean="0"/>
              <a:t>Rt</a:t>
            </a:r>
            <a:r>
              <a:rPr lang="en-US" sz="2400" b="1" dirty="0" smtClean="0"/>
              <a:t> 	upper segment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304801"/>
            <a:ext cx="8382000" cy="4154984"/>
          </a:xfrm>
          <a:prstGeom prst="rect">
            <a:avLst/>
          </a:prstGeom>
        </p:spPr>
        <p:txBody>
          <a:bodyPr wrap="square">
            <a:spAutoFit/>
          </a:bodyPr>
          <a:lstStyle/>
          <a:p>
            <a:r>
              <a:rPr lang="en-US" sz="2400" b="1" dirty="0" smtClean="0"/>
              <a:t>Using the above formula we can get elasticity at various points on the demand curve. </a:t>
            </a:r>
          </a:p>
          <a:p>
            <a:endParaRPr lang="en-US" sz="2400" b="1" dirty="0" smtClean="0"/>
          </a:p>
          <a:p>
            <a:endParaRPr lang="en-US" sz="2400" b="1" dirty="0" smtClean="0"/>
          </a:p>
          <a:p>
            <a:endParaRPr lang="en-US" sz="2400" b="1" dirty="0" smtClean="0"/>
          </a:p>
          <a:p>
            <a:endParaRPr lang="en-US" sz="2400" b="1" dirty="0" smtClean="0"/>
          </a:p>
          <a:p>
            <a:endParaRPr lang="en-US" sz="2400" b="1" dirty="0" smtClean="0"/>
          </a:p>
          <a:p>
            <a:endParaRPr lang="en-US" sz="2400" b="1" dirty="0" smtClean="0"/>
          </a:p>
          <a:p>
            <a:endParaRPr lang="en-US" sz="2400" b="1" dirty="0" smtClean="0"/>
          </a:p>
          <a:p>
            <a:endParaRPr lang="en-US" sz="2400" b="1" dirty="0" smtClean="0"/>
          </a:p>
          <a:p>
            <a:endParaRPr lang="en-US" sz="2400" b="1" dirty="0"/>
          </a:p>
        </p:txBody>
      </p:sp>
      <p:pic>
        <p:nvPicPr>
          <p:cNvPr id="3074" name="Picture 2"/>
          <p:cNvPicPr>
            <a:picLocks noChangeAspect="1" noChangeArrowheads="1"/>
          </p:cNvPicPr>
          <p:nvPr/>
        </p:nvPicPr>
        <p:blipFill>
          <a:blip r:embed="rId2">
            <a:lum bright="-59000" contrast="74000"/>
          </a:blip>
          <a:srcRect/>
          <a:stretch>
            <a:fillRect/>
          </a:stretch>
        </p:blipFill>
        <p:spPr bwMode="auto">
          <a:xfrm>
            <a:off x="838201" y="1143000"/>
            <a:ext cx="7239000" cy="4419600"/>
          </a:xfrm>
          <a:prstGeom prst="rect">
            <a:avLst/>
          </a:prstGeom>
          <a:noFill/>
          <a:ln w="9525">
            <a:noFill/>
            <a:miter lim="800000"/>
            <a:headEnd/>
            <a:tailEnd/>
          </a:ln>
          <a:effectLst/>
        </p:spPr>
      </p:pic>
      <p:sp>
        <p:nvSpPr>
          <p:cNvPr id="4" name="Rectangle 3"/>
          <p:cNvSpPr/>
          <p:nvPr/>
        </p:nvSpPr>
        <p:spPr>
          <a:xfrm>
            <a:off x="304800" y="5601057"/>
            <a:ext cx="8610600" cy="1200329"/>
          </a:xfrm>
          <a:prstGeom prst="rect">
            <a:avLst/>
          </a:prstGeom>
        </p:spPr>
        <p:txBody>
          <a:bodyPr wrap="square">
            <a:spAutoFit/>
          </a:bodyPr>
          <a:lstStyle/>
          <a:p>
            <a:r>
              <a:rPr lang="en-US" sz="2400" b="1" dirty="0" smtClean="0"/>
              <a:t>Thus, we see that as we move from T towards t, elasticity goes on increasing. At the mid-point it is equal to one, at point t it is infinity and at T it is zero. </a:t>
            </a:r>
            <a:endParaRPr lang="en-US" sz="2400" b="1"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304801"/>
            <a:ext cx="8534400" cy="6001643"/>
          </a:xfrm>
          <a:prstGeom prst="rect">
            <a:avLst/>
          </a:prstGeom>
        </p:spPr>
        <p:txBody>
          <a:bodyPr wrap="square">
            <a:spAutoFit/>
          </a:bodyPr>
          <a:lstStyle/>
          <a:p>
            <a:r>
              <a:rPr lang="en-US" sz="2400" b="1" dirty="0" smtClean="0">
                <a:solidFill>
                  <a:srgbClr val="FF0000"/>
                </a:solidFill>
              </a:rPr>
              <a:t>Arc-elasticity: </a:t>
            </a:r>
          </a:p>
          <a:p>
            <a:r>
              <a:rPr lang="en-US" sz="2400" b="1" dirty="0" smtClean="0">
                <a:solidFill>
                  <a:srgbClr val="FF0000"/>
                </a:solidFill>
              </a:rPr>
              <a:t>	</a:t>
            </a:r>
            <a:r>
              <a:rPr lang="en-US" sz="2400" b="1" dirty="0" smtClean="0"/>
              <a:t>When the price change is somewhat larger or when price elasticity is to be found between two prices [or two points on the demand curve say, A and B in figure 7], the question arises which price and quantity should be taken as base. This is because </a:t>
            </a:r>
            <a:r>
              <a:rPr lang="en-US" sz="2400" b="1" dirty="0" err="1" smtClean="0"/>
              <a:t>elasticities</a:t>
            </a:r>
            <a:r>
              <a:rPr lang="en-US" sz="2400" b="1" dirty="0" smtClean="0"/>
              <a:t> found by using original price and quantity figures as base will be different from the one derived by using new price and quantity figures. Therefore, in order to avoid confusion, generally mid-point method is used i.e. the averages of the two prices and quantities are taken as (i.e. original and new) base. The arc elasticity can be found out by using the formula:</a:t>
            </a:r>
          </a:p>
          <a:p>
            <a:r>
              <a:rPr lang="en-US" sz="2400" b="1" dirty="0" smtClean="0"/>
              <a:t> 		             q1 – q2       p1 + p2</a:t>
            </a:r>
          </a:p>
          <a:p>
            <a:r>
              <a:rPr lang="en-US" sz="2400" b="1" dirty="0" smtClean="0"/>
              <a:t>		    </a:t>
            </a:r>
            <a:r>
              <a:rPr lang="en-US" sz="2400" b="1" dirty="0" err="1" smtClean="0"/>
              <a:t>Ep</a:t>
            </a:r>
            <a:r>
              <a:rPr lang="en-US" sz="2400" b="1" dirty="0" smtClean="0"/>
              <a:t> = ----------- ×  ------------</a:t>
            </a:r>
          </a:p>
          <a:p>
            <a:r>
              <a:rPr lang="en-US" sz="2400" b="1" dirty="0" smtClean="0"/>
              <a:t>		             q1 + q2       p1 - p2   </a:t>
            </a:r>
          </a:p>
          <a:p>
            <a:r>
              <a:rPr lang="en-US" sz="2400" b="1" dirty="0" smtClean="0"/>
              <a:t>where p1, q1 are the original price and quantity and p2, q2 are the new ones. </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lum bright="-23000" contrast="53000"/>
          </a:blip>
          <a:srcRect/>
          <a:stretch>
            <a:fillRect/>
          </a:stretch>
        </p:blipFill>
        <p:spPr bwMode="auto">
          <a:xfrm>
            <a:off x="2057400" y="533400"/>
            <a:ext cx="4800600" cy="3886200"/>
          </a:xfrm>
          <a:prstGeom prst="rect">
            <a:avLst/>
          </a:prstGeom>
          <a:noFill/>
          <a:ln w="9525">
            <a:noFill/>
            <a:miter lim="800000"/>
            <a:headEnd/>
            <a:tailEnd/>
          </a:ln>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304800"/>
            <a:ext cx="8610600" cy="9694962"/>
          </a:xfrm>
          <a:prstGeom prst="rect">
            <a:avLst/>
          </a:prstGeom>
          <a:ln>
            <a:solidFill>
              <a:schemeClr val="accent1"/>
            </a:solidFill>
          </a:ln>
        </p:spPr>
        <p:txBody>
          <a:bodyPr wrap="square">
            <a:spAutoFit/>
          </a:bodyPr>
          <a:lstStyle/>
          <a:p>
            <a:r>
              <a:rPr lang="en-US" sz="2400" b="1" dirty="0" smtClean="0">
                <a:solidFill>
                  <a:srgbClr val="FF0000"/>
                </a:solidFill>
              </a:rPr>
              <a:t>Income Elasticity of Demand :</a:t>
            </a:r>
          </a:p>
          <a:p>
            <a:r>
              <a:rPr lang="en-US" sz="2400" b="1" dirty="0" smtClean="0"/>
              <a:t>	Income elasticity of demand is the degree of responsiveness of quantity demanded of a good to changes in the income of consumers. In symbolic form</a:t>
            </a:r>
          </a:p>
          <a:p>
            <a:r>
              <a:rPr lang="en-US" sz="2400" dirty="0" smtClean="0"/>
              <a:t>       Percentage change in demand</a:t>
            </a:r>
          </a:p>
          <a:p>
            <a:r>
              <a:rPr lang="en-US" sz="2400" dirty="0" err="1" smtClean="0"/>
              <a:t>Ei</a:t>
            </a:r>
            <a:r>
              <a:rPr lang="en-US" sz="2400" dirty="0" smtClean="0"/>
              <a:t> = -----------------------------------------</a:t>
            </a:r>
          </a:p>
          <a:p>
            <a:r>
              <a:rPr lang="en-US" sz="2400" dirty="0" smtClean="0"/>
              <a:t>       Percentage change in income </a:t>
            </a:r>
            <a:r>
              <a:rPr lang="en-US" sz="2400" b="1" dirty="0" smtClean="0"/>
              <a:t> </a:t>
            </a:r>
          </a:p>
          <a:p>
            <a:r>
              <a:rPr lang="en-US" sz="2400" b="1" dirty="0" smtClean="0"/>
              <a:t>         </a:t>
            </a:r>
            <a:r>
              <a:rPr lang="el-GR" sz="2400" dirty="0" smtClean="0"/>
              <a:t>Δ</a:t>
            </a:r>
            <a:r>
              <a:rPr lang="en-US" sz="2400" b="1" dirty="0" smtClean="0"/>
              <a:t>Q        </a:t>
            </a:r>
            <a:r>
              <a:rPr lang="el-GR" sz="2400" dirty="0" smtClean="0"/>
              <a:t>Δ </a:t>
            </a:r>
            <a:r>
              <a:rPr lang="en-US" sz="2400" b="1" dirty="0" smtClean="0"/>
              <a:t>Y</a:t>
            </a:r>
          </a:p>
          <a:p>
            <a:r>
              <a:rPr lang="en-US" sz="2400" dirty="0" err="1" smtClean="0"/>
              <a:t>Ei</a:t>
            </a:r>
            <a:r>
              <a:rPr lang="en-US" sz="2400" dirty="0" smtClean="0"/>
              <a:t> = ------  ÷  -------</a:t>
            </a:r>
          </a:p>
          <a:p>
            <a:r>
              <a:rPr lang="en-US" sz="2400" dirty="0" smtClean="0"/>
              <a:t>          Q	            </a:t>
            </a:r>
            <a:r>
              <a:rPr lang="en-US" sz="2400" b="1" dirty="0" smtClean="0"/>
              <a:t>Y</a:t>
            </a:r>
          </a:p>
          <a:p>
            <a:r>
              <a:rPr lang="en-US" sz="2400" b="1" dirty="0" smtClean="0"/>
              <a:t>         </a:t>
            </a:r>
            <a:r>
              <a:rPr lang="el-GR" sz="2400" dirty="0" smtClean="0"/>
              <a:t>Δ</a:t>
            </a:r>
            <a:r>
              <a:rPr lang="en-US" sz="2400" b="1" dirty="0" smtClean="0"/>
              <a:t>Q           Y</a:t>
            </a:r>
          </a:p>
          <a:p>
            <a:r>
              <a:rPr lang="en-US" sz="2400" dirty="0" smtClean="0"/>
              <a:t>    = ------  X  -------</a:t>
            </a:r>
          </a:p>
          <a:p>
            <a:r>
              <a:rPr lang="en-US" sz="2400" dirty="0" smtClean="0"/>
              <a:t>          Q	           </a:t>
            </a:r>
            <a:r>
              <a:rPr lang="el-GR" sz="2400" dirty="0" smtClean="0"/>
              <a:t>Δ</a:t>
            </a:r>
            <a:r>
              <a:rPr lang="en-US" sz="2400" b="1" dirty="0" smtClean="0"/>
              <a:t> Y</a:t>
            </a:r>
          </a:p>
          <a:p>
            <a:r>
              <a:rPr lang="en-US" sz="2400" b="1" dirty="0" smtClean="0"/>
              <a:t>        </a:t>
            </a:r>
            <a:r>
              <a:rPr lang="el-GR" sz="2400" dirty="0" smtClean="0"/>
              <a:t> Δ</a:t>
            </a:r>
            <a:r>
              <a:rPr lang="en-US" sz="2400" b="1" dirty="0" smtClean="0"/>
              <a:t>Q           Y</a:t>
            </a:r>
          </a:p>
          <a:p>
            <a:r>
              <a:rPr lang="en-US" sz="2400" dirty="0" smtClean="0"/>
              <a:t>    = ------  X  -------</a:t>
            </a:r>
          </a:p>
          <a:p>
            <a:r>
              <a:rPr lang="en-US" sz="2400" dirty="0" smtClean="0"/>
              <a:t>        </a:t>
            </a:r>
            <a:r>
              <a:rPr lang="el-GR" sz="2400" dirty="0" smtClean="0"/>
              <a:t>Δ</a:t>
            </a:r>
            <a:r>
              <a:rPr lang="en-US" sz="2400" b="1" dirty="0" smtClean="0"/>
              <a:t> Y           </a:t>
            </a:r>
            <a:r>
              <a:rPr lang="en-US" sz="2400" dirty="0" smtClean="0"/>
              <a:t>Q	</a:t>
            </a:r>
            <a:endParaRPr lang="en-US" sz="2400" b="1" dirty="0" smtClean="0"/>
          </a:p>
          <a:p>
            <a:endParaRPr lang="en-US" sz="2400" b="1" dirty="0" smtClean="0"/>
          </a:p>
          <a:p>
            <a:r>
              <a:rPr lang="en-US" sz="2400" b="1" dirty="0" smtClean="0"/>
              <a:t>    </a:t>
            </a:r>
            <a:endParaRPr lang="en-US" sz="2400" dirty="0" smtClean="0"/>
          </a:p>
          <a:p>
            <a:endParaRPr lang="en-US" sz="2400" dirty="0" smtClean="0"/>
          </a:p>
          <a:p>
            <a:endParaRPr lang="en-US" sz="2400" b="1" dirty="0" smtClean="0"/>
          </a:p>
          <a:p>
            <a:endParaRPr lang="en-US" sz="2400" b="1" dirty="0" smtClean="0"/>
          </a:p>
          <a:p>
            <a:endParaRPr lang="en-US" sz="2400" b="1" dirty="0" smtClean="0"/>
          </a:p>
          <a:p>
            <a:endParaRPr lang="en-US" sz="2400" b="1" dirty="0" smtClean="0"/>
          </a:p>
          <a:p>
            <a:endParaRPr lang="en-US" sz="2400" b="1" dirty="0" smtClean="0"/>
          </a:p>
          <a:p>
            <a:endParaRPr lang="en-US" sz="2400" b="1" dirty="0" smtClean="0"/>
          </a:p>
          <a:p>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304800"/>
            <a:ext cx="8610600" cy="5262979"/>
          </a:xfrm>
          <a:prstGeom prst="rect">
            <a:avLst/>
          </a:prstGeom>
        </p:spPr>
        <p:txBody>
          <a:bodyPr wrap="square">
            <a:spAutoFit/>
          </a:bodyPr>
          <a:lstStyle/>
          <a:p>
            <a:r>
              <a:rPr lang="en-US" sz="2400" b="1" dirty="0" err="1" smtClean="0"/>
              <a:t>Ei</a:t>
            </a:r>
            <a:r>
              <a:rPr lang="en-US" sz="2400" b="1" dirty="0" smtClean="0"/>
              <a:t> = Income elasticity of demand </a:t>
            </a:r>
          </a:p>
          <a:p>
            <a:r>
              <a:rPr lang="el-GR" sz="2400" b="1" dirty="0" smtClean="0"/>
              <a:t>Δ </a:t>
            </a:r>
            <a:r>
              <a:rPr lang="en-US" sz="2400" b="1" dirty="0" smtClean="0"/>
              <a:t>Q = Change in demand </a:t>
            </a:r>
          </a:p>
          <a:p>
            <a:r>
              <a:rPr lang="en-US" sz="2400" b="1" dirty="0" smtClean="0"/>
              <a:t>Q = Original demand </a:t>
            </a:r>
          </a:p>
          <a:p>
            <a:r>
              <a:rPr lang="en-US" sz="2400" b="1" dirty="0" smtClean="0"/>
              <a:t>Y = Original money income </a:t>
            </a:r>
          </a:p>
          <a:p>
            <a:r>
              <a:rPr lang="el-GR" sz="2400" b="1" dirty="0" smtClean="0"/>
              <a:t>Δ </a:t>
            </a:r>
            <a:r>
              <a:rPr lang="en-US" sz="2400" b="1" dirty="0" smtClean="0"/>
              <a:t>Y = Change in money income </a:t>
            </a:r>
          </a:p>
          <a:p>
            <a:pPr marL="457200" indent="-457200">
              <a:buAutoNum type="arabicPeriod"/>
            </a:pPr>
            <a:r>
              <a:rPr lang="en-US" sz="2400" b="1" dirty="0" smtClean="0"/>
              <a:t>If the proportion of income spent on a good remains the same as income increases, then income elasticity for the good is equal to one. </a:t>
            </a:r>
          </a:p>
          <a:p>
            <a:pPr marL="457200" indent="-457200">
              <a:buAutoNum type="arabicPeriod"/>
            </a:pPr>
            <a:r>
              <a:rPr lang="en-US" sz="2400" b="1" dirty="0" smtClean="0"/>
              <a:t>If the proportion of income spent on a good increase as income increases, then the income elasticity for the good is greater than one. </a:t>
            </a:r>
          </a:p>
          <a:p>
            <a:pPr marL="457200" indent="-457200">
              <a:buAutoNum type="arabicPeriod"/>
            </a:pPr>
            <a:r>
              <a:rPr lang="en-US" sz="2400" b="1" dirty="0" smtClean="0"/>
              <a:t>If the proportion of income spent on a good decrease as income rises, then income elasticity for the good is less than one. </a:t>
            </a:r>
            <a:endParaRPr lang="en-US" sz="2400" b="1"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609600"/>
            <a:ext cx="8534400" cy="3359061"/>
          </a:xfrm>
          <a:prstGeom prst="rect">
            <a:avLst/>
          </a:prstGeom>
        </p:spPr>
        <p:txBody>
          <a:bodyPr wrap="square">
            <a:spAutoFit/>
          </a:bodyPr>
          <a:lstStyle/>
          <a:p>
            <a:pPr>
              <a:lnSpc>
                <a:spcPct val="150000"/>
              </a:lnSpc>
            </a:pPr>
            <a:r>
              <a:rPr lang="en-US" sz="2400" b="1" dirty="0" smtClean="0"/>
              <a:t>	Knowledge of income elasticity of demand is very useful for a business firm in estimating future demand for its products. 	Knowledge of income elasticity of demand helps firms predict the outcome of a business cycle on its market demand. 	This enables the firm to carry out appropriate production planning and management. </a:t>
            </a:r>
            <a:endParaRPr lang="en-US" sz="2400" b="1"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612845"/>
            <a:ext cx="8686800" cy="5262979"/>
          </a:xfrm>
          <a:prstGeom prst="rect">
            <a:avLst/>
          </a:prstGeom>
        </p:spPr>
        <p:txBody>
          <a:bodyPr wrap="square">
            <a:spAutoFit/>
          </a:bodyPr>
          <a:lstStyle/>
          <a:p>
            <a:r>
              <a:rPr lang="en-US" sz="2400" b="1" dirty="0" smtClean="0">
                <a:solidFill>
                  <a:srgbClr val="FF0000"/>
                </a:solidFill>
              </a:rPr>
              <a:t>Cross Elasticity of Demand </a:t>
            </a:r>
          </a:p>
          <a:p>
            <a:r>
              <a:rPr lang="en-US" sz="2400" b="1" dirty="0" smtClean="0">
                <a:solidFill>
                  <a:srgbClr val="FF0000"/>
                </a:solidFill>
              </a:rPr>
              <a:t>Price of Related Goods and Demand</a:t>
            </a:r>
            <a:r>
              <a:rPr lang="en-US" sz="2400" b="1" dirty="0" smtClean="0"/>
              <a:t>: The demand for a particular commodity may change due to changes in the prices of related goods. These related goods may be either </a:t>
            </a:r>
            <a:r>
              <a:rPr lang="en-US" sz="2400" b="1" dirty="0" smtClean="0">
                <a:solidFill>
                  <a:srgbClr val="FF0000"/>
                </a:solidFill>
              </a:rPr>
              <a:t>complementary goods or substitute goods.</a:t>
            </a:r>
            <a:r>
              <a:rPr lang="en-US" sz="2400" b="1" dirty="0" smtClean="0"/>
              <a:t> This type of relationship is studied under ‘Cross Demand’. </a:t>
            </a:r>
            <a:r>
              <a:rPr lang="en-US" sz="2400" b="1" dirty="0" smtClean="0">
                <a:solidFill>
                  <a:srgbClr val="FF0000"/>
                </a:solidFill>
              </a:rPr>
              <a:t>Cross demand </a:t>
            </a:r>
            <a:r>
              <a:rPr lang="en-US" sz="2400" b="1" dirty="0" smtClean="0"/>
              <a:t>refers to the quantities of a commodity or service which will be purchased with reference to changes in price, not of that particular commodity, but of </a:t>
            </a:r>
            <a:r>
              <a:rPr lang="en-US" sz="2400" b="1" dirty="0" smtClean="0">
                <a:solidFill>
                  <a:srgbClr val="FF0000"/>
                </a:solidFill>
              </a:rPr>
              <a:t>other inter-related commodities,</a:t>
            </a:r>
            <a:r>
              <a:rPr lang="en-US" sz="2400" b="1" dirty="0" smtClean="0"/>
              <a:t> other things remaining the same. It may be </a:t>
            </a:r>
            <a:r>
              <a:rPr lang="en-US" sz="2400" b="1" dirty="0" smtClean="0"/>
              <a:t>defined </a:t>
            </a:r>
            <a:r>
              <a:rPr lang="en-US" sz="2400" b="1" dirty="0" smtClean="0"/>
              <a:t>as the quantities of a commodity that consumers buy per unit of time, at </a:t>
            </a:r>
            <a:r>
              <a:rPr lang="en-US" sz="2400" b="1" dirty="0" smtClean="0"/>
              <a:t>different </a:t>
            </a:r>
            <a:r>
              <a:rPr lang="en-US" sz="2400" b="1" dirty="0" smtClean="0"/>
              <a:t>prices of a ‘related article’, ‘other things remaining the same’. The assumption ‘</a:t>
            </a:r>
            <a:r>
              <a:rPr lang="en-US" sz="2400" b="1" dirty="0" smtClean="0">
                <a:solidFill>
                  <a:srgbClr val="FF0000"/>
                </a:solidFill>
              </a:rPr>
              <a:t>other things remaining the same’ means that the income of the consumer and also the price of the commodity in question will remain constant. </a:t>
            </a:r>
            <a:r>
              <a:rPr lang="en-US" sz="2400" b="1" dirty="0" smtClean="0">
                <a:solidFill>
                  <a:srgbClr val="FF0000"/>
                </a:solidFill>
              </a:rPr>
              <a:t> </a:t>
            </a:r>
            <a:endParaRPr lang="en-US" sz="2400" dirty="0">
              <a:solidFill>
                <a:srgbClr val="FF0000"/>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152401"/>
            <a:ext cx="8534400" cy="6555641"/>
          </a:xfrm>
          <a:prstGeom prst="rect">
            <a:avLst/>
          </a:prstGeom>
        </p:spPr>
        <p:txBody>
          <a:bodyPr wrap="square">
            <a:spAutoFit/>
          </a:bodyPr>
          <a:lstStyle/>
          <a:p>
            <a:pPr>
              <a:lnSpc>
                <a:spcPct val="150000"/>
              </a:lnSpc>
            </a:pPr>
            <a:r>
              <a:rPr lang="en-US" sz="2400" b="1" dirty="0" smtClean="0">
                <a:solidFill>
                  <a:srgbClr val="FF0000"/>
                </a:solidFill>
              </a:rPr>
              <a:t>Substitute Products </a:t>
            </a:r>
          </a:p>
          <a:p>
            <a:pPr>
              <a:lnSpc>
                <a:spcPct val="150000"/>
              </a:lnSpc>
            </a:pPr>
            <a:r>
              <a:rPr lang="en-US" sz="2400" b="1" dirty="0" smtClean="0">
                <a:solidFill>
                  <a:srgbClr val="FF0000"/>
                </a:solidFill>
              </a:rPr>
              <a:t>	</a:t>
            </a:r>
            <a:r>
              <a:rPr lang="en-US" sz="2400" b="1" dirty="0" smtClean="0"/>
              <a:t>In the case of substitute commodities, </a:t>
            </a:r>
            <a:r>
              <a:rPr lang="en-US" sz="2400" b="1" dirty="0" smtClean="0">
                <a:solidFill>
                  <a:srgbClr val="FF0000"/>
                </a:solidFill>
              </a:rPr>
              <a:t>the cross demand curve slopes upwards </a:t>
            </a:r>
            <a:r>
              <a:rPr lang="en-US" sz="2400" b="1" dirty="0" smtClean="0"/>
              <a:t>(i.e. positively) showing that more quantities of a commodity, will be demanded </a:t>
            </a:r>
            <a:r>
              <a:rPr lang="en-US" sz="2400" b="1" dirty="0" smtClean="0">
                <a:solidFill>
                  <a:srgbClr val="FF0000"/>
                </a:solidFill>
              </a:rPr>
              <a:t>whenever there is a rise in the price of a substitute commodity</a:t>
            </a:r>
            <a:r>
              <a:rPr lang="en-US" sz="2400" b="1" dirty="0" smtClean="0"/>
              <a:t>. </a:t>
            </a:r>
          </a:p>
          <a:p>
            <a:pPr>
              <a:lnSpc>
                <a:spcPct val="150000"/>
              </a:lnSpc>
            </a:pPr>
            <a:r>
              <a:rPr lang="en-US" sz="2400" b="1" dirty="0" smtClean="0"/>
              <a:t>	In figure 9, the quantity demanded of tea is given on the X axis. Y axis represents the price of coffee which is a substitute for tea. When the price of coffee increases, due to the operation of the law of demand, the demand for coffee falls. The consumers will substitute tea in the place of coffee. The price of tea is assumed to be constant.</a:t>
            </a:r>
          </a:p>
          <a:p>
            <a:r>
              <a:rPr lang="en-US" sz="2400" b="1" dirty="0" smtClean="0"/>
              <a:t> </a:t>
            </a:r>
            <a:endParaRPr lang="en-US" sz="2400" dirty="0">
              <a:solidFill>
                <a:srgbClr val="FF0000"/>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lum bright="-59000" contrast="53000"/>
          </a:blip>
          <a:srcRect/>
          <a:stretch>
            <a:fillRect/>
          </a:stretch>
        </p:blipFill>
        <p:spPr bwMode="auto">
          <a:xfrm>
            <a:off x="914400" y="2057400"/>
            <a:ext cx="7696200" cy="4648200"/>
          </a:xfrm>
          <a:prstGeom prst="rect">
            <a:avLst/>
          </a:prstGeom>
          <a:noFill/>
          <a:ln w="9525">
            <a:noFill/>
            <a:miter lim="800000"/>
            <a:headEnd/>
            <a:tailEnd/>
          </a:ln>
          <a:effectLst/>
        </p:spPr>
      </p:pic>
      <p:sp>
        <p:nvSpPr>
          <p:cNvPr id="3" name="Rectangle 2"/>
          <p:cNvSpPr/>
          <p:nvPr/>
        </p:nvSpPr>
        <p:spPr>
          <a:xfrm>
            <a:off x="228600" y="304800"/>
            <a:ext cx="8686800" cy="1200329"/>
          </a:xfrm>
          <a:prstGeom prst="rect">
            <a:avLst/>
          </a:prstGeom>
        </p:spPr>
        <p:txBody>
          <a:bodyPr wrap="square">
            <a:spAutoFit/>
          </a:bodyPr>
          <a:lstStyle/>
          <a:p>
            <a:r>
              <a:rPr lang="en-US" sz="2400" b="1" dirty="0" smtClean="0"/>
              <a:t>	Therefore, </a:t>
            </a:r>
            <a:r>
              <a:rPr lang="en-US" sz="2400" b="1" dirty="0" smtClean="0">
                <a:solidFill>
                  <a:srgbClr val="FF0000"/>
                </a:solidFill>
              </a:rPr>
              <a:t>whenever there is an increase in the price of one commodity, </a:t>
            </a:r>
            <a:r>
              <a:rPr lang="en-US" sz="2400" b="1" dirty="0" smtClean="0"/>
              <a:t>the </a:t>
            </a:r>
            <a:r>
              <a:rPr lang="en-US" sz="2400" b="1" dirty="0" smtClean="0">
                <a:solidFill>
                  <a:srgbClr val="FF0000"/>
                </a:solidFill>
              </a:rPr>
              <a:t>demand for the substitute commodity will increase. </a:t>
            </a:r>
            <a:endParaRPr lang="en-US" sz="2400" dirty="0">
              <a:solidFill>
                <a:srgbClr val="FF0000"/>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228600"/>
            <a:ext cx="8458200" cy="6001643"/>
          </a:xfrm>
          <a:prstGeom prst="rect">
            <a:avLst/>
          </a:prstGeom>
        </p:spPr>
        <p:txBody>
          <a:bodyPr wrap="square">
            <a:spAutoFit/>
          </a:bodyPr>
          <a:lstStyle/>
          <a:p>
            <a:r>
              <a:rPr lang="en-US" sz="2400" b="1" dirty="0" smtClean="0">
                <a:solidFill>
                  <a:srgbClr val="FF0000"/>
                </a:solidFill>
              </a:rPr>
              <a:t>Complementary Goods </a:t>
            </a:r>
          </a:p>
          <a:p>
            <a:r>
              <a:rPr lang="en-US" sz="2400" b="1" dirty="0" smtClean="0">
                <a:solidFill>
                  <a:srgbClr val="FF0000"/>
                </a:solidFill>
              </a:rPr>
              <a:t>	</a:t>
            </a:r>
            <a:r>
              <a:rPr lang="en-US" sz="2400" b="1" dirty="0" smtClean="0"/>
              <a:t>In the case of complementary goods, as shown in the figure below, a </a:t>
            </a:r>
            <a:r>
              <a:rPr lang="en-US" sz="2400" b="1" dirty="0" smtClean="0">
                <a:solidFill>
                  <a:srgbClr val="FF0000"/>
                </a:solidFill>
              </a:rPr>
              <a:t>change in the price of a good </a:t>
            </a:r>
            <a:r>
              <a:rPr lang="en-US" sz="2400" b="1" dirty="0" smtClean="0"/>
              <a:t>will have an </a:t>
            </a:r>
            <a:r>
              <a:rPr lang="en-US" sz="2400" b="1" dirty="0" smtClean="0">
                <a:solidFill>
                  <a:srgbClr val="FF0000"/>
                </a:solidFill>
              </a:rPr>
              <a:t>opposite reaction on the demand for the other commodity </a:t>
            </a:r>
            <a:r>
              <a:rPr lang="en-US" sz="2400" b="1" dirty="0" smtClean="0"/>
              <a:t>which is closely related or complementary. </a:t>
            </a:r>
          </a:p>
          <a:p>
            <a:r>
              <a:rPr lang="en-US" sz="2400" b="1" dirty="0" smtClean="0"/>
              <a:t>	For instance, an </a:t>
            </a:r>
            <a:r>
              <a:rPr lang="en-US" sz="2400" b="1" dirty="0" smtClean="0">
                <a:solidFill>
                  <a:srgbClr val="FF0000"/>
                </a:solidFill>
              </a:rPr>
              <a:t>increase in demand for pen</a:t>
            </a:r>
            <a:r>
              <a:rPr lang="en-US" sz="2400" b="1" dirty="0" smtClean="0"/>
              <a:t> will necessarily </a:t>
            </a:r>
            <a:r>
              <a:rPr lang="en-US" sz="2400" b="1" dirty="0" smtClean="0">
                <a:solidFill>
                  <a:srgbClr val="FF0000"/>
                </a:solidFill>
              </a:rPr>
              <a:t>increase the demand for ink</a:t>
            </a:r>
            <a:r>
              <a:rPr lang="en-US" sz="2400" b="1" dirty="0" smtClean="0"/>
              <a:t>. </a:t>
            </a:r>
          </a:p>
          <a:p>
            <a:r>
              <a:rPr lang="en-US" sz="2400" b="1" dirty="0" smtClean="0"/>
              <a:t>	The same is the case with complementary goods such as </a:t>
            </a:r>
            <a:r>
              <a:rPr lang="en-US" sz="2400" b="1" dirty="0" smtClean="0">
                <a:solidFill>
                  <a:srgbClr val="FF0000"/>
                </a:solidFill>
              </a:rPr>
              <a:t>bread and butter</a:t>
            </a:r>
            <a:r>
              <a:rPr lang="en-US" sz="2400" b="1" dirty="0" smtClean="0"/>
              <a:t>; </a:t>
            </a:r>
            <a:r>
              <a:rPr lang="en-US" sz="2400" b="1" dirty="0" smtClean="0">
                <a:solidFill>
                  <a:srgbClr val="FF0000"/>
                </a:solidFill>
              </a:rPr>
              <a:t>car and petrol</a:t>
            </a:r>
            <a:r>
              <a:rPr lang="en-US" sz="2400" b="1" dirty="0" smtClean="0"/>
              <a:t> </a:t>
            </a:r>
            <a:r>
              <a:rPr lang="en-US" sz="2400" b="1" dirty="0" smtClean="0">
                <a:solidFill>
                  <a:srgbClr val="FF0000"/>
                </a:solidFill>
              </a:rPr>
              <a:t>electricity and electrical gadgets </a:t>
            </a:r>
            <a:r>
              <a:rPr lang="en-US" sz="2400" b="1" dirty="0" smtClean="0"/>
              <a:t>etc. Whenever there is a fall in the </a:t>
            </a:r>
            <a:r>
              <a:rPr lang="en-US" sz="2400" b="1" dirty="0" smtClean="0">
                <a:solidFill>
                  <a:srgbClr val="FF0000"/>
                </a:solidFill>
              </a:rPr>
              <a:t>demand for fountain pens due to a rise in price</a:t>
            </a:r>
            <a:r>
              <a:rPr lang="en-US" sz="2400" b="1" dirty="0" smtClean="0"/>
              <a:t>s of fountain pens, the </a:t>
            </a:r>
            <a:r>
              <a:rPr lang="en-US" sz="2400" b="1" dirty="0" smtClean="0">
                <a:solidFill>
                  <a:srgbClr val="FF0000"/>
                </a:solidFill>
              </a:rPr>
              <a:t>demand for ink will fall</a:t>
            </a:r>
            <a:r>
              <a:rPr lang="en-US" sz="2400" b="1" dirty="0" smtClean="0"/>
              <a:t>, </a:t>
            </a:r>
            <a:r>
              <a:rPr lang="en-US" sz="2400" b="1" dirty="0" smtClean="0">
                <a:solidFill>
                  <a:srgbClr val="FF0000"/>
                </a:solidFill>
              </a:rPr>
              <a:t>not because </a:t>
            </a:r>
            <a:r>
              <a:rPr lang="en-US" sz="2400" b="1" dirty="0" smtClean="0"/>
              <a:t>the </a:t>
            </a:r>
            <a:r>
              <a:rPr lang="en-US" sz="2400" b="1" dirty="0" smtClean="0">
                <a:solidFill>
                  <a:srgbClr val="FF0000"/>
                </a:solidFill>
              </a:rPr>
              <a:t>price of ink has gone up</a:t>
            </a:r>
            <a:r>
              <a:rPr lang="en-US" sz="2400" b="1" dirty="0" smtClean="0"/>
              <a:t>, </a:t>
            </a:r>
            <a:r>
              <a:rPr lang="en-US" sz="2400" b="1" dirty="0" smtClean="0">
                <a:solidFill>
                  <a:srgbClr val="FF0000"/>
                </a:solidFill>
              </a:rPr>
              <a:t>but because the price of fountain pen has gone up.</a:t>
            </a:r>
            <a:r>
              <a:rPr lang="en-US" sz="2400" b="1" dirty="0" smtClean="0"/>
              <a:t> </a:t>
            </a:r>
          </a:p>
          <a:p>
            <a:r>
              <a:rPr lang="en-US" sz="2400" b="1" dirty="0" smtClean="0"/>
              <a:t>	So, we find that there is an </a:t>
            </a:r>
            <a:r>
              <a:rPr lang="en-US" sz="2400" b="1" dirty="0" smtClean="0">
                <a:solidFill>
                  <a:srgbClr val="FF0000"/>
                </a:solidFill>
              </a:rPr>
              <a:t>inverse relationship </a:t>
            </a:r>
            <a:r>
              <a:rPr lang="en-US" sz="2400" b="1" dirty="0" smtClean="0"/>
              <a:t>between price of a commodity and the demand for its complementary good (other things remaining the same). </a:t>
            </a: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lum bright="-60000" contrast="100000"/>
          </a:blip>
          <a:srcRect/>
          <a:stretch>
            <a:fillRect/>
          </a:stretch>
        </p:blipFill>
        <p:spPr bwMode="auto">
          <a:xfrm>
            <a:off x="1752600" y="381000"/>
            <a:ext cx="6019800" cy="3976689"/>
          </a:xfrm>
          <a:prstGeom prst="rect">
            <a:avLst/>
          </a:prstGeom>
          <a:noFill/>
          <a:ln w="9525">
            <a:noFill/>
            <a:miter lim="800000"/>
            <a:headEnd/>
            <a:tailEnd/>
          </a:ln>
          <a:effectLst/>
        </p:spPr>
      </p:pic>
      <p:sp>
        <p:nvSpPr>
          <p:cNvPr id="3" name="Rectangle 2"/>
          <p:cNvSpPr/>
          <p:nvPr/>
        </p:nvSpPr>
        <p:spPr>
          <a:xfrm>
            <a:off x="2819400" y="4648200"/>
            <a:ext cx="4419600" cy="461665"/>
          </a:xfrm>
          <a:prstGeom prst="rect">
            <a:avLst/>
          </a:prstGeom>
        </p:spPr>
        <p:txBody>
          <a:bodyPr wrap="square">
            <a:spAutoFit/>
          </a:bodyPr>
          <a:lstStyle/>
          <a:p>
            <a:r>
              <a:rPr lang="en-US" sz="2400" b="1" dirty="0" smtClean="0"/>
              <a:t>Complementary Goods </a:t>
            </a:r>
            <a:endParaRPr lang="en-US"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458200" cy="5078313"/>
          </a:xfrm>
          <a:prstGeom prst="rect">
            <a:avLst/>
          </a:prstGeom>
        </p:spPr>
        <p:txBody>
          <a:bodyPr wrap="square">
            <a:spAutoFit/>
          </a:bodyPr>
          <a:lstStyle/>
          <a:p>
            <a:pPr>
              <a:lnSpc>
                <a:spcPct val="150000"/>
              </a:lnSpc>
            </a:pPr>
            <a:r>
              <a:rPr lang="en-US" sz="2400" b="1" dirty="0" smtClean="0"/>
              <a:t>	The concept of cross elasticity of demand is useful for a manager while making decisions regarding </a:t>
            </a:r>
            <a:r>
              <a:rPr lang="en-US" sz="2400" b="1" dirty="0" smtClean="0">
                <a:solidFill>
                  <a:srgbClr val="FF0000"/>
                </a:solidFill>
              </a:rPr>
              <a:t>changing the prices </a:t>
            </a:r>
            <a:r>
              <a:rPr lang="en-US" sz="2400" b="1" dirty="0" smtClean="0"/>
              <a:t>of </a:t>
            </a:r>
            <a:r>
              <a:rPr lang="en-US" sz="2400" b="1" dirty="0" smtClean="0">
                <a:solidFill>
                  <a:srgbClr val="FF0000"/>
                </a:solidFill>
              </a:rPr>
              <a:t>his products </a:t>
            </a:r>
            <a:r>
              <a:rPr lang="en-US" sz="2400" b="1" dirty="0" smtClean="0"/>
              <a:t>which </a:t>
            </a:r>
            <a:r>
              <a:rPr lang="en-US" sz="2400" b="1" dirty="0" smtClean="0">
                <a:solidFill>
                  <a:srgbClr val="FF0000"/>
                </a:solidFill>
              </a:rPr>
              <a:t>have substitutes and complements</a:t>
            </a:r>
            <a:r>
              <a:rPr lang="en-US" sz="2400" b="1" dirty="0" smtClean="0"/>
              <a:t>. </a:t>
            </a:r>
          </a:p>
          <a:p>
            <a:pPr>
              <a:lnSpc>
                <a:spcPct val="150000"/>
              </a:lnSpc>
            </a:pPr>
            <a:r>
              <a:rPr lang="en-US" sz="2400" b="1" dirty="0" smtClean="0"/>
              <a:t>	If cross elasticity to change in the price of substitutes is </a:t>
            </a:r>
            <a:r>
              <a:rPr lang="en-US" sz="2400" b="1" dirty="0" smtClean="0">
                <a:solidFill>
                  <a:srgbClr val="FF0000"/>
                </a:solidFill>
              </a:rPr>
              <a:t>greater than one</a:t>
            </a:r>
            <a:r>
              <a:rPr lang="en-US" sz="2400" b="1" dirty="0" smtClean="0"/>
              <a:t>, the firm may lose by increasing the prices and gain by reducing the prices of his products. </a:t>
            </a:r>
          </a:p>
          <a:p>
            <a:pPr>
              <a:lnSpc>
                <a:spcPct val="150000"/>
              </a:lnSpc>
            </a:pPr>
            <a:r>
              <a:rPr lang="en-US" sz="2400" b="1" dirty="0" smtClean="0"/>
              <a:t>	With proper knowledge of cross elasticity, the firm can plan policies to </a:t>
            </a:r>
            <a:r>
              <a:rPr lang="en-US" sz="2400" b="1" dirty="0" smtClean="0">
                <a:solidFill>
                  <a:srgbClr val="FF0000"/>
                </a:solidFill>
              </a:rPr>
              <a:t>safeguard against fluctuating prices of substitutes and complements. </a:t>
            </a:r>
            <a:endParaRPr lang="en-US" sz="2400" b="1" dirty="0">
              <a:solidFill>
                <a:srgbClr val="FF0000"/>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304801"/>
            <a:ext cx="8534400" cy="6740307"/>
          </a:xfrm>
          <a:prstGeom prst="rect">
            <a:avLst/>
          </a:prstGeom>
        </p:spPr>
        <p:txBody>
          <a:bodyPr wrap="square">
            <a:spAutoFit/>
          </a:bodyPr>
          <a:lstStyle/>
          <a:p>
            <a:pPr>
              <a:lnSpc>
                <a:spcPct val="150000"/>
              </a:lnSpc>
            </a:pPr>
            <a:r>
              <a:rPr lang="en-US" sz="2400" b="1" dirty="0" smtClean="0">
                <a:solidFill>
                  <a:srgbClr val="FF0000"/>
                </a:solidFill>
              </a:rPr>
              <a:t>Advertisement Elasticity </a:t>
            </a:r>
          </a:p>
          <a:p>
            <a:pPr>
              <a:lnSpc>
                <a:spcPct val="150000"/>
              </a:lnSpc>
            </a:pPr>
            <a:r>
              <a:rPr lang="en-US" sz="2400" b="1" dirty="0" smtClean="0">
                <a:solidFill>
                  <a:srgbClr val="FF0000"/>
                </a:solidFill>
              </a:rPr>
              <a:t>	</a:t>
            </a:r>
            <a:r>
              <a:rPr lang="en-US" sz="2400" b="1" dirty="0" smtClean="0"/>
              <a:t>Advertisement elasticity of sales or promotional elasticity of demand is the </a:t>
            </a:r>
            <a:r>
              <a:rPr lang="en-US" sz="2400" b="1" dirty="0" smtClean="0">
                <a:solidFill>
                  <a:srgbClr val="FF0000"/>
                </a:solidFill>
              </a:rPr>
              <a:t>responsiveness of a good’s demand </a:t>
            </a:r>
            <a:r>
              <a:rPr lang="en-US" sz="2400" b="1" dirty="0" smtClean="0"/>
              <a:t>to </a:t>
            </a:r>
            <a:r>
              <a:rPr lang="en-US" sz="2400" b="1" dirty="0" smtClean="0">
                <a:solidFill>
                  <a:srgbClr val="FF0000"/>
                </a:solidFill>
              </a:rPr>
              <a:t>changes </a:t>
            </a:r>
            <a:r>
              <a:rPr lang="en-US" sz="2400" b="1" dirty="0" smtClean="0"/>
              <a:t>in firm’s </a:t>
            </a:r>
            <a:r>
              <a:rPr lang="en-US" sz="2400" b="1" dirty="0" smtClean="0">
                <a:solidFill>
                  <a:srgbClr val="FF0000"/>
                </a:solidFill>
              </a:rPr>
              <a:t>spending on advertising</a:t>
            </a:r>
            <a:r>
              <a:rPr lang="en-US" sz="2400" b="1" dirty="0" smtClean="0"/>
              <a:t>. </a:t>
            </a:r>
          </a:p>
          <a:p>
            <a:pPr>
              <a:lnSpc>
                <a:spcPct val="150000"/>
              </a:lnSpc>
            </a:pPr>
            <a:r>
              <a:rPr lang="en-US" sz="2400" b="1" dirty="0" smtClean="0"/>
              <a:t>	The advertising elasticity of demand </a:t>
            </a:r>
            <a:r>
              <a:rPr lang="en-US" sz="2400" b="1" dirty="0" smtClean="0">
                <a:solidFill>
                  <a:srgbClr val="FF0000"/>
                </a:solidFill>
              </a:rPr>
              <a:t>measures</a:t>
            </a:r>
            <a:r>
              <a:rPr lang="en-US" sz="2400" b="1" dirty="0" smtClean="0"/>
              <a:t> the </a:t>
            </a:r>
            <a:r>
              <a:rPr lang="en-US" sz="2400" b="1" dirty="0" smtClean="0">
                <a:solidFill>
                  <a:srgbClr val="FF0000"/>
                </a:solidFill>
              </a:rPr>
              <a:t>percentage change in demand </a:t>
            </a:r>
            <a:r>
              <a:rPr lang="en-US" sz="2400" b="1" dirty="0" smtClean="0"/>
              <a:t>that occurs given a </a:t>
            </a:r>
            <a:r>
              <a:rPr lang="en-US" sz="2400" b="1" dirty="0" smtClean="0">
                <a:solidFill>
                  <a:srgbClr val="FF0000"/>
                </a:solidFill>
              </a:rPr>
              <a:t>one percent change in advertising expenditure. </a:t>
            </a:r>
          </a:p>
          <a:p>
            <a:pPr>
              <a:lnSpc>
                <a:spcPct val="150000"/>
              </a:lnSpc>
            </a:pPr>
            <a:r>
              <a:rPr lang="en-US" sz="2400" b="1" dirty="0" smtClean="0"/>
              <a:t>	Advertising elasticity measures the effectiveness of an advertisement campaign in bringing about new sales. </a:t>
            </a:r>
          </a:p>
          <a:p>
            <a:pPr>
              <a:lnSpc>
                <a:spcPct val="150000"/>
              </a:lnSpc>
            </a:pPr>
            <a:r>
              <a:rPr lang="en-US" sz="2400" b="1" dirty="0" smtClean="0"/>
              <a:t>	Advertising elasticity of demand is typically positive. </a:t>
            </a:r>
            <a:r>
              <a:rPr lang="en-US" sz="2400" b="1" dirty="0" smtClean="0">
                <a:solidFill>
                  <a:srgbClr val="FF0000"/>
                </a:solidFill>
              </a:rPr>
              <a:t>Higher the value of advertising elasticity greater will be the responsiveness of demand to change in advertisement. </a:t>
            </a:r>
            <a:r>
              <a:rPr lang="en-US" sz="2400" b="1" dirty="0" smtClean="0"/>
              <a:t>	</a:t>
            </a:r>
            <a:endParaRPr lang="en-US"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457200"/>
            <a:ext cx="8305800" cy="6370975"/>
          </a:xfrm>
          <a:prstGeom prst="rect">
            <a:avLst/>
          </a:prstGeom>
        </p:spPr>
        <p:txBody>
          <a:bodyPr wrap="square">
            <a:spAutoFit/>
          </a:bodyPr>
          <a:lstStyle/>
          <a:p>
            <a:r>
              <a:rPr lang="en-US" sz="2400" b="1" dirty="0" smtClean="0"/>
              <a:t>   	Advertisement elasticity varies between zero and infinity. It is measured by using the formula;</a:t>
            </a:r>
          </a:p>
          <a:p>
            <a:r>
              <a:rPr lang="en-US" sz="2400" b="1" dirty="0" smtClean="0"/>
              <a:t>       % Change in demand </a:t>
            </a:r>
          </a:p>
          <a:p>
            <a:r>
              <a:rPr lang="en-US" sz="2400" b="1" dirty="0" smtClean="0"/>
              <a:t>Ea =-------------------------------------------------</a:t>
            </a:r>
          </a:p>
          <a:p>
            <a:r>
              <a:rPr lang="en-US" sz="2400" b="1" dirty="0" smtClean="0"/>
              <a:t>         % change in spending on advertising</a:t>
            </a:r>
          </a:p>
          <a:p>
            <a:r>
              <a:rPr lang="en-US" sz="2400" b="1" dirty="0" smtClean="0"/>
              <a:t>          </a:t>
            </a:r>
            <a:r>
              <a:rPr lang="el-GR" sz="2400" b="1" dirty="0" smtClean="0"/>
              <a:t>Δ</a:t>
            </a:r>
            <a:r>
              <a:rPr lang="en-US" sz="2400" b="1" dirty="0" err="1" smtClean="0"/>
              <a:t>Qd</a:t>
            </a:r>
            <a:r>
              <a:rPr lang="en-US" sz="2400" b="1" dirty="0" smtClean="0"/>
              <a:t> /</a:t>
            </a:r>
            <a:r>
              <a:rPr lang="en-US" sz="2400" b="1" dirty="0" err="1" smtClean="0"/>
              <a:t>Qd</a:t>
            </a:r>
            <a:endParaRPr lang="en-US" sz="2400" b="1" dirty="0" smtClean="0"/>
          </a:p>
          <a:p>
            <a:r>
              <a:rPr lang="en-US" sz="2400" b="1" dirty="0" smtClean="0"/>
              <a:t>Ea = -------------</a:t>
            </a:r>
          </a:p>
          <a:p>
            <a:r>
              <a:rPr lang="en-US" sz="2400" b="1" dirty="0" smtClean="0"/>
              <a:t>            </a:t>
            </a:r>
            <a:r>
              <a:rPr lang="el-GR" sz="2400" b="1" dirty="0" smtClean="0"/>
              <a:t>Δ</a:t>
            </a:r>
            <a:r>
              <a:rPr lang="en-US" sz="2400" b="1" dirty="0" smtClean="0"/>
              <a:t> A/ A</a:t>
            </a:r>
          </a:p>
          <a:p>
            <a:r>
              <a:rPr lang="en-US" sz="2400" b="1" dirty="0" smtClean="0"/>
              <a:t> Where :  </a:t>
            </a:r>
            <a:r>
              <a:rPr lang="el-GR" sz="2400" b="1" dirty="0" smtClean="0"/>
              <a:t>Δ </a:t>
            </a:r>
            <a:r>
              <a:rPr lang="en-US" sz="2400" b="1" dirty="0" err="1" smtClean="0"/>
              <a:t>Qd</a:t>
            </a:r>
            <a:r>
              <a:rPr lang="en-US" sz="2400" b="1" dirty="0" smtClean="0"/>
              <a:t> denotes change in demand. </a:t>
            </a:r>
          </a:p>
          <a:p>
            <a:r>
              <a:rPr lang="en-US" sz="2400" b="1" dirty="0" smtClean="0"/>
              <a:t>	    </a:t>
            </a:r>
            <a:r>
              <a:rPr lang="el-GR" sz="2400" b="1" dirty="0" smtClean="0"/>
              <a:t>Δ </a:t>
            </a:r>
            <a:r>
              <a:rPr lang="en-US" sz="2400" b="1" dirty="0" smtClean="0"/>
              <a:t>A denotes change in expenditure on advertisement. </a:t>
            </a:r>
          </a:p>
          <a:p>
            <a:r>
              <a:rPr lang="en-US" sz="2400" b="1" dirty="0" smtClean="0"/>
              <a:t>	    </a:t>
            </a:r>
            <a:r>
              <a:rPr lang="en-US" sz="2400" b="1" dirty="0" err="1" smtClean="0"/>
              <a:t>Qd</a:t>
            </a:r>
            <a:r>
              <a:rPr lang="en-US" sz="2400" b="1" dirty="0" smtClean="0"/>
              <a:t> denotes initial demand. </a:t>
            </a:r>
          </a:p>
          <a:p>
            <a:r>
              <a:rPr lang="en-US" sz="2400" b="1" dirty="0" smtClean="0"/>
              <a:t>	    A denotes initial expenditure on advertisement </a:t>
            </a:r>
          </a:p>
          <a:p>
            <a:r>
              <a:rPr lang="en-US" sz="2400" b="1" dirty="0" smtClean="0">
                <a:solidFill>
                  <a:srgbClr val="FF0000"/>
                </a:solidFill>
              </a:rPr>
              <a:t>Elasticity Interpretation :</a:t>
            </a:r>
          </a:p>
          <a:p>
            <a:r>
              <a:rPr lang="en-US" sz="2400" b="1" dirty="0" smtClean="0"/>
              <a:t> Ea = 0 Demand does not respond to increase in advertisement expenditure.</a:t>
            </a:r>
          </a:p>
          <a:p>
            <a:endParaRPr lang="en-US" sz="2400" b="1" dirty="0" smtClean="0"/>
          </a:p>
          <a:p>
            <a:endParaRPr lang="en-US" sz="2400" b="1"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381000"/>
            <a:ext cx="8382000" cy="5575052"/>
          </a:xfrm>
          <a:prstGeom prst="rect">
            <a:avLst/>
          </a:prstGeom>
        </p:spPr>
        <p:txBody>
          <a:bodyPr wrap="square">
            <a:spAutoFit/>
          </a:bodyPr>
          <a:lstStyle/>
          <a:p>
            <a:pPr>
              <a:lnSpc>
                <a:spcPct val="150000"/>
              </a:lnSpc>
            </a:pPr>
            <a:r>
              <a:rPr lang="en-US" sz="2400" b="1" dirty="0" smtClean="0"/>
              <a:t>Ea &gt;0 but &lt; 1 Change in demand is less than proportionate to the change in advertisement expenditure. </a:t>
            </a:r>
          </a:p>
          <a:p>
            <a:pPr>
              <a:lnSpc>
                <a:spcPct val="150000"/>
              </a:lnSpc>
            </a:pPr>
            <a:r>
              <a:rPr lang="en-US" sz="2400" b="1" dirty="0" smtClean="0"/>
              <a:t>Ea = 1 Demand changes in the same proportion in which advertisement expenditure changes. </a:t>
            </a:r>
          </a:p>
          <a:p>
            <a:pPr>
              <a:lnSpc>
                <a:spcPct val="150000"/>
              </a:lnSpc>
            </a:pPr>
            <a:r>
              <a:rPr lang="en-US" sz="2400" b="1" dirty="0" smtClean="0"/>
              <a:t>Ea &gt; 1 Demand changes at a higher rate than change in advertisement expenditure. </a:t>
            </a:r>
          </a:p>
          <a:p>
            <a:pPr>
              <a:lnSpc>
                <a:spcPct val="150000"/>
              </a:lnSpc>
            </a:pPr>
            <a:r>
              <a:rPr lang="en-US" sz="2400" b="1" dirty="0" smtClean="0"/>
              <a:t>	As far as a business firm is concerned, the measure of advertisement elasticity is useful in understanding the </a:t>
            </a:r>
            <a:r>
              <a:rPr lang="en-US" sz="2400" b="1" dirty="0" smtClean="0">
                <a:solidFill>
                  <a:srgbClr val="FF0000"/>
                </a:solidFill>
              </a:rPr>
              <a:t>effectiveness of advertising </a:t>
            </a:r>
            <a:r>
              <a:rPr lang="en-US" sz="2400" b="1" dirty="0" smtClean="0"/>
              <a:t>and </a:t>
            </a:r>
            <a:r>
              <a:rPr lang="en-US" sz="2400" b="1" dirty="0" smtClean="0">
                <a:solidFill>
                  <a:srgbClr val="FF0000"/>
                </a:solidFill>
              </a:rPr>
              <a:t>in determining the optimum level of advertisement expenditure.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253</TotalTime>
  <Words>511</Words>
  <Application>Microsoft Office PowerPoint</Application>
  <PresentationFormat>On-screen Show (4:3)</PresentationFormat>
  <Paragraphs>152</Paragraphs>
  <Slides>30</Slides>
  <Notes>0</Notes>
  <HiddenSlides>0</HiddenSlides>
  <MMClips>0</MMClip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sony</dc:creator>
  <cp:lastModifiedBy>sony</cp:lastModifiedBy>
  <cp:revision>28</cp:revision>
  <dcterms:created xsi:type="dcterms:W3CDTF">2006-08-16T00:00:00Z</dcterms:created>
  <dcterms:modified xsi:type="dcterms:W3CDTF">2024-02-11T14:50:33Z</dcterms:modified>
</cp:coreProperties>
</file>