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838200"/>
            <a:ext cx="8610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Standard </a:t>
            </a:r>
            <a:r>
              <a:rPr lang="en-US" sz="2400" b="1" dirty="0" smtClean="0">
                <a:solidFill>
                  <a:srgbClr val="FF0000"/>
                </a:solidFill>
              </a:rPr>
              <a:t>Cost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/>
              <a:t> The word "Standard" means a "</a:t>
            </a:r>
            <a:r>
              <a:rPr lang="en-US" sz="2400" b="1" dirty="0" smtClean="0">
                <a:solidFill>
                  <a:srgbClr val="FF0000"/>
                </a:solidFill>
              </a:rPr>
              <a:t>Yardstick</a:t>
            </a:r>
            <a:r>
              <a:rPr lang="en-US" sz="2400" b="1" dirty="0" smtClean="0"/>
              <a:t>" or "</a:t>
            </a:r>
            <a:r>
              <a:rPr lang="en-US" sz="2400" b="1" dirty="0" smtClean="0">
                <a:solidFill>
                  <a:srgbClr val="FF0000"/>
                </a:solidFill>
              </a:rPr>
              <a:t>Bench Mark</a:t>
            </a:r>
            <a:r>
              <a:rPr lang="en-US" sz="2400" b="1" dirty="0" smtClean="0"/>
              <a:t>.“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/>
              <a:t> Standard </a:t>
            </a:r>
            <a:r>
              <a:rPr lang="en-US" sz="2400" b="1" dirty="0" smtClean="0"/>
              <a:t>Cost as defined by the Institute of Cost and Management </a:t>
            </a:r>
            <a:r>
              <a:rPr lang="en-US" sz="2400" b="1" dirty="0" smtClean="0"/>
              <a:t>Accountant(</a:t>
            </a:r>
            <a:r>
              <a:rPr lang="en-US" sz="2400" b="1" dirty="0" smtClean="0">
                <a:solidFill>
                  <a:srgbClr val="FF0000"/>
                </a:solidFill>
              </a:rPr>
              <a:t>ICMA</a:t>
            </a:r>
            <a:r>
              <a:rPr lang="en-US" sz="2400" b="1" dirty="0" smtClean="0"/>
              <a:t>), </a:t>
            </a:r>
            <a:r>
              <a:rPr lang="en-US" sz="2400" b="1" dirty="0" smtClean="0"/>
              <a:t>London "is the </a:t>
            </a:r>
            <a:r>
              <a:rPr lang="en-US" sz="2400" b="1" dirty="0" smtClean="0">
                <a:solidFill>
                  <a:srgbClr val="FF0000"/>
                </a:solidFill>
              </a:rPr>
              <a:t>Predetermined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Cost </a:t>
            </a:r>
            <a:r>
              <a:rPr lang="en-US" sz="2400" b="1" dirty="0" smtClean="0"/>
              <a:t>based on </a:t>
            </a:r>
            <a:r>
              <a:rPr lang="en-US" sz="2400" b="1" dirty="0" smtClean="0">
                <a:solidFill>
                  <a:srgbClr val="FF0000"/>
                </a:solidFill>
              </a:rPr>
              <a:t>technical estimate </a:t>
            </a:r>
            <a:r>
              <a:rPr lang="en-US" sz="2400" b="1" dirty="0" smtClean="0"/>
              <a:t>for </a:t>
            </a:r>
            <a:r>
              <a:rPr lang="en-US" sz="2400" b="1" dirty="0" smtClean="0">
                <a:solidFill>
                  <a:srgbClr val="FF0000"/>
                </a:solidFill>
              </a:rPr>
              <a:t>materials, </a:t>
            </a:r>
            <a:r>
              <a:rPr lang="en-US" sz="2400" b="1" dirty="0" err="1" smtClean="0">
                <a:solidFill>
                  <a:srgbClr val="FF0000"/>
                </a:solidFill>
              </a:rPr>
              <a:t>labour</a:t>
            </a:r>
            <a:r>
              <a:rPr lang="en-US" sz="2400" b="1" dirty="0" smtClean="0">
                <a:solidFill>
                  <a:srgbClr val="FF0000"/>
                </a:solidFill>
              </a:rPr>
              <a:t> and overhead</a:t>
            </a:r>
            <a:r>
              <a:rPr lang="en-US" sz="2400" b="1" dirty="0" smtClean="0"/>
              <a:t> for a </a:t>
            </a:r>
            <a:r>
              <a:rPr lang="en-US" sz="2400" b="1" dirty="0" smtClean="0">
                <a:solidFill>
                  <a:srgbClr val="FF0000"/>
                </a:solidFill>
              </a:rPr>
              <a:t>selected period </a:t>
            </a:r>
            <a:r>
              <a:rPr lang="en-US" sz="2400" b="1" dirty="0" smtClean="0">
                <a:solidFill>
                  <a:srgbClr val="FF0000"/>
                </a:solidFill>
              </a:rPr>
              <a:t>of time</a:t>
            </a:r>
            <a:r>
              <a:rPr lang="en-US" sz="2400" b="1" dirty="0" smtClean="0"/>
              <a:t> </a:t>
            </a:r>
            <a:r>
              <a:rPr lang="en-US" sz="2400" b="1" dirty="0" smtClean="0"/>
              <a:t>and for , </a:t>
            </a:r>
            <a:r>
              <a:rPr lang="en-US" sz="2400" b="1" dirty="0" smtClean="0">
                <a:solidFill>
                  <a:srgbClr val="FF0000"/>
                </a:solidFill>
              </a:rPr>
              <a:t>a prescribed set of working conditions</a:t>
            </a:r>
            <a:r>
              <a:rPr lang="en-US" sz="2400" b="1" dirty="0" smtClean="0"/>
              <a:t>.“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914400"/>
            <a:ext cx="8534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Standard Costing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/>
              <a:t> Standard </a:t>
            </a:r>
            <a:r>
              <a:rPr lang="en-US" sz="2400" b="1" dirty="0" smtClean="0"/>
              <a:t>Costing is a </a:t>
            </a:r>
            <a:r>
              <a:rPr lang="en-US" sz="2400" b="1" dirty="0" smtClean="0">
                <a:solidFill>
                  <a:srgbClr val="FF0000"/>
                </a:solidFill>
              </a:rPr>
              <a:t>concept of accounting </a:t>
            </a:r>
            <a:r>
              <a:rPr lang="en-US" sz="2400" b="1" dirty="0" smtClean="0"/>
              <a:t>for </a:t>
            </a:r>
            <a:r>
              <a:rPr lang="en-US" sz="2400" b="1" dirty="0" smtClean="0">
                <a:solidFill>
                  <a:srgbClr val="FF0000"/>
                </a:solidFill>
              </a:rPr>
              <a:t>determination of standard</a:t>
            </a:r>
            <a:r>
              <a:rPr lang="en-US" sz="2400" b="1" dirty="0" smtClean="0"/>
              <a:t> for </a:t>
            </a:r>
            <a:r>
              <a:rPr lang="en-US" sz="2400" b="1" dirty="0" smtClean="0">
                <a:solidFill>
                  <a:srgbClr val="FF0000"/>
                </a:solidFill>
              </a:rPr>
              <a:t>each element of costs</a:t>
            </a:r>
            <a:r>
              <a:rPr lang="en-US" sz="2400" b="1" dirty="0" smtClean="0"/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/>
              <a:t> These </a:t>
            </a:r>
            <a:r>
              <a:rPr lang="en-US" sz="2400" b="1" dirty="0" smtClean="0"/>
              <a:t>predetermined costs are </a:t>
            </a:r>
            <a:r>
              <a:rPr lang="en-US" sz="2400" b="1" dirty="0" smtClean="0">
                <a:solidFill>
                  <a:srgbClr val="FF0000"/>
                </a:solidFill>
              </a:rPr>
              <a:t>compared </a:t>
            </a:r>
            <a:r>
              <a:rPr lang="en-US" sz="2400" b="1" dirty="0" smtClean="0"/>
              <a:t>with </a:t>
            </a:r>
            <a:r>
              <a:rPr lang="en-US" sz="2400" b="1" dirty="0" smtClean="0">
                <a:solidFill>
                  <a:srgbClr val="FF0000"/>
                </a:solidFill>
              </a:rPr>
              <a:t>actual costs </a:t>
            </a:r>
            <a:r>
              <a:rPr lang="en-US" sz="2400" b="1" dirty="0" smtClean="0"/>
              <a:t>to find out the </a:t>
            </a:r>
            <a:r>
              <a:rPr lang="en-US" sz="2400" b="1" dirty="0" smtClean="0">
                <a:solidFill>
                  <a:srgbClr val="FF0000"/>
                </a:solidFill>
              </a:rPr>
              <a:t>deviations</a:t>
            </a:r>
            <a:r>
              <a:rPr lang="en-US" sz="2400" b="1" dirty="0" smtClean="0"/>
              <a:t> known as "</a:t>
            </a:r>
            <a:r>
              <a:rPr lang="en-US" sz="2400" b="1" dirty="0" smtClean="0">
                <a:solidFill>
                  <a:srgbClr val="FF0000"/>
                </a:solidFill>
              </a:rPr>
              <a:t>Variances.</a:t>
            </a:r>
            <a:r>
              <a:rPr lang="en-US" sz="2400" b="1" dirty="0" smtClean="0"/>
              <a:t>"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FF0000"/>
                </a:solidFill>
              </a:rPr>
              <a:t> Identification </a:t>
            </a:r>
            <a:r>
              <a:rPr lang="en-US" sz="2400" b="1" dirty="0" smtClean="0">
                <a:solidFill>
                  <a:srgbClr val="FF0000"/>
                </a:solidFill>
              </a:rPr>
              <a:t>and analysis </a:t>
            </a:r>
            <a:r>
              <a:rPr lang="en-US" sz="2400" b="1" dirty="0" smtClean="0"/>
              <a:t>of causes for </a:t>
            </a:r>
            <a:r>
              <a:rPr lang="en-US" sz="2400" b="1" dirty="0" smtClean="0">
                <a:solidFill>
                  <a:srgbClr val="FF0000"/>
                </a:solidFill>
              </a:rPr>
              <a:t>such variances </a:t>
            </a:r>
            <a:r>
              <a:rPr lang="en-US" sz="2400" b="1" dirty="0" smtClean="0"/>
              <a:t>and </a:t>
            </a:r>
            <a:r>
              <a:rPr lang="en-US" sz="2400" b="1" dirty="0" smtClean="0">
                <a:solidFill>
                  <a:srgbClr val="FF0000"/>
                </a:solidFill>
              </a:rPr>
              <a:t>remedial measures </a:t>
            </a:r>
            <a:r>
              <a:rPr lang="en-US" sz="2400" b="1" dirty="0" smtClean="0"/>
              <a:t>should be taken in order </a:t>
            </a:r>
            <a:r>
              <a:rPr lang="en-US" sz="2400" b="1" dirty="0" smtClean="0">
                <a:solidFill>
                  <a:srgbClr val="FF0000"/>
                </a:solidFill>
              </a:rPr>
              <a:t>to overcome </a:t>
            </a:r>
            <a:r>
              <a:rPr lang="en-US" sz="2400" b="1" dirty="0" smtClean="0">
                <a:solidFill>
                  <a:srgbClr val="FF0000"/>
                </a:solidFill>
              </a:rPr>
              <a:t>the reasons </a:t>
            </a:r>
            <a:r>
              <a:rPr lang="en-US" sz="2400" b="1" dirty="0" smtClean="0"/>
              <a:t>for Variances</a:t>
            </a:r>
            <a:r>
              <a:rPr lang="en-US" sz="2400" b="1" dirty="0" smtClean="0"/>
              <a:t>.</a:t>
            </a:r>
            <a:endParaRPr lang="en-US"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800" y="335846"/>
            <a:ext cx="86106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Compare and Contrast between Standard Costing and Budgetary Control :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FF0000"/>
                </a:solidFill>
              </a:rPr>
              <a:t>Relationship: </a:t>
            </a:r>
            <a:r>
              <a:rPr lang="en-US" sz="2400" b="1" dirty="0" smtClean="0"/>
              <a:t>The following are certain basic principles </a:t>
            </a:r>
            <a:r>
              <a:rPr lang="en-US" sz="2400" b="1" dirty="0" smtClean="0">
                <a:solidFill>
                  <a:srgbClr val="FF0000"/>
                </a:solidFill>
              </a:rPr>
              <a:t>common </a:t>
            </a:r>
            <a:r>
              <a:rPr lang="en-US" sz="2400" b="1" dirty="0" smtClean="0"/>
              <a:t>to both Standard Costing </a:t>
            </a:r>
            <a:r>
              <a:rPr lang="en-US" sz="2400" b="1" dirty="0" smtClean="0"/>
              <a:t>and Budgetary </a:t>
            </a:r>
            <a:r>
              <a:rPr lang="en-US" sz="2400" b="1" dirty="0" smtClean="0"/>
              <a:t>Control: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(1) </a:t>
            </a:r>
            <a:r>
              <a:rPr lang="en-US" sz="2400" b="1" dirty="0" smtClean="0">
                <a:solidFill>
                  <a:srgbClr val="FF0000"/>
                </a:solidFill>
              </a:rPr>
              <a:t>Determination of standards for each element </a:t>
            </a:r>
            <a:r>
              <a:rPr lang="en-US" sz="2400" b="1" dirty="0" smtClean="0"/>
              <a:t>of costs </a:t>
            </a:r>
            <a:r>
              <a:rPr lang="en-US" sz="2400" b="1" dirty="0" smtClean="0">
                <a:solidFill>
                  <a:srgbClr val="FF0000"/>
                </a:solidFill>
              </a:rPr>
              <a:t>in advance.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(2) For both of them measurement of </a:t>
            </a:r>
            <a:r>
              <a:rPr lang="en-US" sz="2400" b="1" dirty="0" smtClean="0">
                <a:solidFill>
                  <a:srgbClr val="FF0000"/>
                </a:solidFill>
              </a:rPr>
              <a:t>actual performance </a:t>
            </a:r>
            <a:r>
              <a:rPr lang="en-US" sz="2400" b="1" dirty="0" smtClean="0"/>
              <a:t>is targeted.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(3) </a:t>
            </a:r>
            <a:r>
              <a:rPr lang="en-US" sz="2400" b="1" dirty="0" smtClean="0">
                <a:solidFill>
                  <a:srgbClr val="FF0000"/>
                </a:solidFill>
              </a:rPr>
              <a:t>Comparison</a:t>
            </a:r>
            <a:r>
              <a:rPr lang="en-US" sz="2400" b="1" dirty="0" smtClean="0"/>
              <a:t> of actual costs with standard cost to .find out </a:t>
            </a:r>
            <a:r>
              <a:rPr lang="en-US" sz="2400" b="1" dirty="0" smtClean="0">
                <a:solidFill>
                  <a:srgbClr val="FF0000"/>
                </a:solidFill>
              </a:rPr>
              <a:t>deviations</a:t>
            </a:r>
            <a:r>
              <a:rPr lang="en-US" sz="2400" b="1" dirty="0" smtClean="0"/>
              <a:t>.</a:t>
            </a:r>
            <a:endParaRPr lang="en-US" sz="2400" b="1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1"/>
            <a:ext cx="8458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/>
              <a:t>(4) </a:t>
            </a:r>
            <a:r>
              <a:rPr lang="en-US" sz="2400" b="1" dirty="0" smtClean="0">
                <a:solidFill>
                  <a:srgbClr val="FF0000"/>
                </a:solidFill>
              </a:rPr>
              <a:t>Analysis of variances </a:t>
            </a:r>
            <a:r>
              <a:rPr lang="en-US" sz="2400" b="1" dirty="0" smtClean="0"/>
              <a:t>to find out the </a:t>
            </a:r>
            <a:r>
              <a:rPr lang="en-US" sz="2400" b="1" dirty="0" smtClean="0">
                <a:solidFill>
                  <a:srgbClr val="FF0000"/>
                </a:solidFill>
              </a:rPr>
              <a:t>causes.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(5) Give the </a:t>
            </a:r>
            <a:r>
              <a:rPr lang="en-US" sz="2400" b="1" dirty="0" smtClean="0">
                <a:solidFill>
                  <a:srgbClr val="FF0000"/>
                </a:solidFill>
              </a:rPr>
              <a:t>periodic report </a:t>
            </a:r>
            <a:r>
              <a:rPr lang="en-US" sz="2400" b="1" dirty="0" smtClean="0"/>
              <a:t>to take </a:t>
            </a:r>
            <a:r>
              <a:rPr lang="en-US" sz="2400" b="1" dirty="0" smtClean="0">
                <a:solidFill>
                  <a:srgbClr val="FF0000"/>
                </a:solidFill>
              </a:rPr>
              <a:t>corrective measures</a:t>
            </a:r>
            <a:r>
              <a:rPr lang="en-US" sz="2400" b="1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Differences :</a:t>
            </a:r>
            <a:r>
              <a:rPr lang="en-US" sz="2400" b="1" dirty="0" smtClean="0"/>
              <a:t> Though Standard Costing and Budgetary Controls are </a:t>
            </a:r>
            <a:r>
              <a:rPr lang="en-US" sz="2400" b="1" dirty="0" smtClean="0">
                <a:solidFill>
                  <a:srgbClr val="FF0000"/>
                </a:solidFill>
              </a:rPr>
              <a:t>aims at the maximum </a:t>
            </a:r>
            <a:r>
              <a:rPr lang="en-US" sz="2400" b="1" dirty="0" smtClean="0">
                <a:solidFill>
                  <a:srgbClr val="FF0000"/>
                </a:solidFill>
              </a:rPr>
              <a:t>efficiencies </a:t>
            </a:r>
            <a:r>
              <a:rPr lang="en-US" sz="2400" b="1" dirty="0" smtClean="0"/>
              <a:t>and </a:t>
            </a:r>
            <a:r>
              <a:rPr lang="en-US" sz="2400" b="1" dirty="0" smtClean="0">
                <a:solidFill>
                  <a:srgbClr val="FF0000"/>
                </a:solidFill>
              </a:rPr>
              <a:t>Marginal Cost</a:t>
            </a:r>
            <a:r>
              <a:rPr lang="en-US" sz="2400" b="1" dirty="0" smtClean="0"/>
              <a:t>, yet there are some basic differences between the two from the objectives of using the </a:t>
            </a:r>
            <a:r>
              <a:rPr lang="en-US" sz="2400" b="1" dirty="0" smtClean="0"/>
              <a:t>two costs</a:t>
            </a:r>
            <a:r>
              <a:rPr lang="en-US" sz="2400" b="1" dirty="0" smtClean="0"/>
              <a:t>.</a:t>
            </a:r>
            <a:endParaRPr lang="en-US" sz="2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lum bright="-40000" contrast="77000"/>
          </a:blip>
          <a:srcRect/>
          <a:stretch>
            <a:fillRect/>
          </a:stretch>
        </p:blipFill>
        <p:spPr bwMode="auto">
          <a:xfrm>
            <a:off x="381000" y="1371600"/>
            <a:ext cx="85344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86106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Determination of Standard Costs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The </a:t>
            </a:r>
            <a:r>
              <a:rPr lang="en-US" sz="2400" b="1" dirty="0" smtClean="0"/>
              <a:t>following </a:t>
            </a:r>
            <a:r>
              <a:rPr lang="en-US" sz="2400" b="1" dirty="0" smtClean="0">
                <a:solidFill>
                  <a:srgbClr val="FF0000"/>
                </a:solidFill>
              </a:rPr>
              <a:t>preliminary steps </a:t>
            </a:r>
            <a:r>
              <a:rPr lang="en-US" sz="2400" b="1" dirty="0" smtClean="0"/>
              <a:t>must be taken </a:t>
            </a:r>
            <a:r>
              <a:rPr lang="en-US" sz="2400" b="1" dirty="0" smtClean="0">
                <a:solidFill>
                  <a:srgbClr val="FF0000"/>
                </a:solidFill>
              </a:rPr>
              <a:t>before </a:t>
            </a:r>
            <a:r>
              <a:rPr lang="en-US" sz="2400" b="1" dirty="0" smtClean="0"/>
              <a:t>determination of </a:t>
            </a:r>
            <a:r>
              <a:rPr lang="en-US" sz="2400" b="1" dirty="0" smtClean="0"/>
              <a:t>standard cost :</a:t>
            </a:r>
          </a:p>
          <a:p>
            <a:pPr marL="342900" indent="-342900">
              <a:lnSpc>
                <a:spcPct val="150000"/>
              </a:lnSpc>
              <a:buAutoNum type="arabicParenBoth"/>
            </a:pPr>
            <a:r>
              <a:rPr lang="en-US" sz="2400" b="1" dirty="0" smtClean="0"/>
              <a:t>Establishment of </a:t>
            </a:r>
            <a:r>
              <a:rPr lang="en-US" sz="2400" b="1" dirty="0" smtClean="0">
                <a:solidFill>
                  <a:srgbClr val="FF0000"/>
                </a:solidFill>
              </a:rPr>
              <a:t>Cost </a:t>
            </a:r>
            <a:r>
              <a:rPr lang="en-US" sz="2400" b="1" dirty="0" err="1" smtClean="0">
                <a:solidFill>
                  <a:srgbClr val="FF0000"/>
                </a:solidFill>
              </a:rPr>
              <a:t>Centres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(2) </a:t>
            </a:r>
            <a:r>
              <a:rPr lang="en-US" sz="2400" b="1" dirty="0" smtClean="0">
                <a:solidFill>
                  <a:srgbClr val="FF0000"/>
                </a:solidFill>
              </a:rPr>
              <a:t>Classification and Codification of Accounts</a:t>
            </a:r>
            <a:r>
              <a:rPr lang="en-US" sz="2400" b="1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(3) </a:t>
            </a:r>
            <a:r>
              <a:rPr lang="en-US" sz="2400" b="1" dirty="0" smtClean="0">
                <a:solidFill>
                  <a:srgbClr val="FF0000"/>
                </a:solidFill>
              </a:rPr>
              <a:t>Types of Standards to be applied.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(a) Ideal Standard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(b) Basic Standard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(c) Current Standard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(d) Expected Standard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(e) Normal </a:t>
            </a:r>
            <a:r>
              <a:rPr lang="en-US" sz="2400" b="1" dirty="0" smtClean="0"/>
              <a:t>Standard</a:t>
            </a:r>
            <a:endParaRPr lang="en-US" sz="2400" b="1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28600"/>
            <a:ext cx="86106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/>
              <a:t>(4) </a:t>
            </a:r>
            <a:r>
              <a:rPr lang="en-US" sz="2400" b="1" dirty="0" smtClean="0">
                <a:solidFill>
                  <a:srgbClr val="FF0000"/>
                </a:solidFill>
              </a:rPr>
              <a:t>Organization </a:t>
            </a:r>
            <a:r>
              <a:rPr lang="en-US" sz="2400" b="1" dirty="0" smtClean="0"/>
              <a:t>for Standard Costing.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(5) </a:t>
            </a:r>
            <a:r>
              <a:rPr lang="en-US" sz="2400" b="1" dirty="0" smtClean="0">
                <a:solidFill>
                  <a:srgbClr val="FF0000"/>
                </a:solidFill>
              </a:rPr>
              <a:t>Setting of Standards</a:t>
            </a:r>
            <a:r>
              <a:rPr lang="en-US" sz="2400" b="1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(1) </a:t>
            </a:r>
            <a:r>
              <a:rPr lang="en-US" sz="2400" b="1" dirty="0" smtClean="0">
                <a:solidFill>
                  <a:srgbClr val="FF0000"/>
                </a:solidFill>
              </a:rPr>
              <a:t>Establishment of Cost </a:t>
            </a:r>
            <a:r>
              <a:rPr lang="en-US" sz="2400" b="1" dirty="0" err="1" smtClean="0">
                <a:solidFill>
                  <a:srgbClr val="FF0000"/>
                </a:solidFill>
              </a:rPr>
              <a:t>Centres</a:t>
            </a:r>
            <a:r>
              <a:rPr lang="en-US" sz="2400" b="1" dirty="0" smtClean="0"/>
              <a:t>: It is the first step required before setting of </a:t>
            </a:r>
            <a:r>
              <a:rPr lang="en-US" sz="2400" b="1" dirty="0" smtClean="0"/>
              <a:t>Standards</a:t>
            </a:r>
            <a:r>
              <a:rPr lang="en-US" sz="2400" b="1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According </a:t>
            </a:r>
            <a:r>
              <a:rPr lang="en-US" sz="2400" b="1" dirty="0" smtClean="0"/>
              <a:t>to </a:t>
            </a:r>
            <a:r>
              <a:rPr lang="en-US" sz="2400" b="1" dirty="0" smtClean="0"/>
              <a:t>ICMA </a:t>
            </a:r>
            <a:r>
              <a:rPr lang="en-US" sz="2400" b="1" dirty="0" smtClean="0"/>
              <a:t>London Cost Centre is "</a:t>
            </a:r>
            <a:r>
              <a:rPr lang="en-US" sz="2400" b="1" dirty="0" smtClean="0">
                <a:solidFill>
                  <a:srgbClr val="FF0000"/>
                </a:solidFill>
              </a:rPr>
              <a:t>a </a:t>
            </a:r>
            <a:r>
              <a:rPr lang="en-US" sz="2400" b="1" dirty="0" smtClean="0">
                <a:solidFill>
                  <a:srgbClr val="FF0000"/>
                </a:solidFill>
              </a:rPr>
              <a:t>location, person </a:t>
            </a:r>
            <a:r>
              <a:rPr lang="en-US" sz="2400" b="1" dirty="0" smtClean="0">
                <a:solidFill>
                  <a:srgbClr val="FF0000"/>
                </a:solidFill>
              </a:rPr>
              <a:t>or item of equipment</a:t>
            </a:r>
            <a:r>
              <a:rPr lang="en-US" sz="2400" b="1" dirty="0" smtClean="0"/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for which costs </a:t>
            </a:r>
            <a:r>
              <a:rPr lang="en-US" sz="2400" b="1" dirty="0" smtClean="0">
                <a:solidFill>
                  <a:srgbClr val="FF0000"/>
                </a:solidFill>
              </a:rPr>
              <a:t>may be </a:t>
            </a:r>
            <a:r>
              <a:rPr lang="en-US" sz="2400" b="1" dirty="0" smtClean="0">
                <a:solidFill>
                  <a:srgbClr val="FF0000"/>
                </a:solidFill>
              </a:rPr>
              <a:t>ascertained </a:t>
            </a:r>
            <a:r>
              <a:rPr lang="en-US" sz="2400" b="1" dirty="0" smtClean="0"/>
              <a:t>and </a:t>
            </a:r>
            <a:r>
              <a:rPr lang="en-US" sz="2400" b="1" dirty="0" smtClean="0">
                <a:solidFill>
                  <a:srgbClr val="FF0000"/>
                </a:solidFill>
              </a:rPr>
              <a:t>used for the purpose of cost control</a:t>
            </a:r>
            <a:r>
              <a:rPr lang="en-US" sz="2400" b="1" dirty="0" smtClean="0"/>
              <a:t>." Cost centre is necessary for the </a:t>
            </a:r>
            <a:r>
              <a:rPr lang="en-US" sz="2400" b="1" dirty="0" smtClean="0">
                <a:solidFill>
                  <a:srgbClr val="FF0000"/>
                </a:solidFill>
              </a:rPr>
              <a:t>determination </a:t>
            </a:r>
            <a:r>
              <a:rPr lang="en-US" sz="2400" b="1" dirty="0" smtClean="0"/>
              <a:t>of standard </a:t>
            </a:r>
            <a:r>
              <a:rPr lang="en-US" sz="2400" b="1" dirty="0" smtClean="0"/>
              <a:t>costs for </a:t>
            </a:r>
            <a:r>
              <a:rPr lang="en-US" sz="2400" b="1" dirty="0" smtClean="0">
                <a:solidFill>
                  <a:srgbClr val="FF0000"/>
                </a:solidFill>
              </a:rPr>
              <a:t>each product </a:t>
            </a:r>
            <a:r>
              <a:rPr lang="en-US" sz="2400" b="1" dirty="0" smtClean="0"/>
              <a:t>and </a:t>
            </a:r>
            <a:r>
              <a:rPr lang="en-US" sz="2400" b="1" dirty="0" smtClean="0">
                <a:solidFill>
                  <a:srgbClr val="FF0000"/>
                </a:solidFill>
              </a:rPr>
              <a:t>comparison</a:t>
            </a:r>
            <a:r>
              <a:rPr lang="en-US" sz="2400" b="1" dirty="0" smtClean="0"/>
              <a:t> of actual cost with </a:t>
            </a:r>
            <a:r>
              <a:rPr lang="en-US" sz="2400" b="1" dirty="0" smtClean="0"/>
              <a:t>the predetermined </a:t>
            </a:r>
            <a:r>
              <a:rPr lang="en-US" sz="2400" b="1" dirty="0" smtClean="0"/>
              <a:t>standards </a:t>
            </a:r>
            <a:r>
              <a:rPr lang="en-US" sz="2400" b="1" dirty="0" smtClean="0"/>
              <a:t>to ascertain the </a:t>
            </a:r>
            <a:r>
              <a:rPr lang="en-US" sz="2400" b="1" dirty="0" smtClean="0">
                <a:solidFill>
                  <a:srgbClr val="FF0000"/>
                </a:solidFill>
              </a:rPr>
              <a:t>deviations</a:t>
            </a:r>
            <a:r>
              <a:rPr lang="en-US" sz="2400" b="1" dirty="0" smtClean="0"/>
              <a:t> to take </a:t>
            </a:r>
            <a:r>
              <a:rPr lang="en-US" sz="2400" b="1" dirty="0" smtClean="0">
                <a:solidFill>
                  <a:srgbClr val="FF0000"/>
                </a:solidFill>
              </a:rPr>
              <a:t>corrective measures</a:t>
            </a:r>
            <a:r>
              <a:rPr lang="en-US" sz="2400" b="1" dirty="0" smtClean="0"/>
              <a:t>.</a:t>
            </a:r>
            <a:endParaRPr lang="en-US" sz="24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04800"/>
            <a:ext cx="86868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/>
              <a:t>(2) </a:t>
            </a:r>
            <a:r>
              <a:rPr lang="en-US" sz="2400" b="1" dirty="0" smtClean="0">
                <a:solidFill>
                  <a:srgbClr val="FF0000"/>
                </a:solidFill>
              </a:rPr>
              <a:t>Classification and Codification of Accounts: </a:t>
            </a:r>
            <a:r>
              <a:rPr lang="en-US" sz="2400" b="1" dirty="0" smtClean="0"/>
              <a:t>Classification of Accounts and Codification </a:t>
            </a:r>
            <a:r>
              <a:rPr lang="en-US" sz="2400" b="1" dirty="0" smtClean="0"/>
              <a:t>of different </a:t>
            </a:r>
            <a:r>
              <a:rPr lang="en-US" sz="2400" b="1" dirty="0" smtClean="0"/>
              <a:t>items of expenses and incomes </a:t>
            </a:r>
            <a:r>
              <a:rPr lang="en-US" sz="2400" b="1" dirty="0" smtClean="0">
                <a:solidFill>
                  <a:srgbClr val="FF0000"/>
                </a:solidFill>
              </a:rPr>
              <a:t>help quick ascertainment and analysis </a:t>
            </a:r>
            <a:r>
              <a:rPr lang="en-US" sz="2400" b="1" dirty="0" smtClean="0"/>
              <a:t>of cost information.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(3) </a:t>
            </a:r>
            <a:r>
              <a:rPr lang="en-US" sz="2400" b="1" dirty="0" smtClean="0">
                <a:solidFill>
                  <a:srgbClr val="FF0000"/>
                </a:solidFill>
              </a:rPr>
              <a:t>Types of Standards to be Applied</a:t>
            </a:r>
            <a:r>
              <a:rPr lang="en-US" sz="2400" b="1" dirty="0" smtClean="0"/>
              <a:t>: Determination of the type of standard to be used is one </a:t>
            </a:r>
            <a:r>
              <a:rPr lang="en-US" sz="2400" b="1" dirty="0" smtClean="0"/>
              <a:t>of the </a:t>
            </a:r>
            <a:r>
              <a:rPr lang="en-US" sz="2400" b="1" dirty="0" smtClean="0"/>
              <a:t>important steps before setting up of standard cost. The different types of standards are given below :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(a) Ideal Standard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(b) Basic Standard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(c) Current Standard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(d) Expected Standard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(e) Normal Standard</a:t>
            </a:r>
            <a:endParaRPr lang="en-US" sz="24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0"/>
            <a:ext cx="8382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i="1" dirty="0" smtClean="0"/>
              <a:t>(a) </a:t>
            </a:r>
            <a:r>
              <a:rPr lang="en-US" sz="2400" b="1" dirty="0" smtClean="0">
                <a:solidFill>
                  <a:srgbClr val="FF0000"/>
                </a:solidFill>
              </a:rPr>
              <a:t>Ideal </a:t>
            </a:r>
            <a:r>
              <a:rPr lang="en-US" sz="2400" b="1" dirty="0" smtClean="0">
                <a:solidFill>
                  <a:srgbClr val="FF0000"/>
                </a:solidFill>
              </a:rPr>
              <a:t>Standard: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i="1" dirty="0" smtClean="0"/>
              <a:t> The </a:t>
            </a:r>
            <a:r>
              <a:rPr lang="en-US" sz="2400" b="1" i="1" dirty="0" smtClean="0"/>
              <a:t>term "Ideal Standard" refers to the standard which can b</a:t>
            </a:r>
            <a:r>
              <a:rPr lang="en-US" sz="2400" b="1" i="1" dirty="0" smtClean="0"/>
              <a:t>e attained </a:t>
            </a:r>
            <a:r>
              <a:rPr lang="en-US" sz="2400" b="1" dirty="0" smtClean="0"/>
              <a:t>under </a:t>
            </a:r>
            <a:r>
              <a:rPr lang="en-US" sz="2400" b="1" dirty="0" smtClean="0"/>
              <a:t>the </a:t>
            </a:r>
            <a:r>
              <a:rPr lang="en-US" sz="2400" b="1" dirty="0" smtClean="0">
                <a:solidFill>
                  <a:srgbClr val="FF0000"/>
                </a:solidFill>
              </a:rPr>
              <a:t>most </a:t>
            </a:r>
            <a:r>
              <a:rPr lang="en-US" sz="2400" b="1" dirty="0" err="1" smtClean="0">
                <a:solidFill>
                  <a:srgbClr val="FF0000"/>
                </a:solidFill>
              </a:rPr>
              <a:t>favourable</a:t>
            </a:r>
            <a:r>
              <a:rPr lang="en-US" sz="2400" b="1" dirty="0" smtClean="0">
                <a:solidFill>
                  <a:srgbClr val="FF0000"/>
                </a:solidFill>
              </a:rPr>
              <a:t> conditions </a:t>
            </a:r>
            <a:r>
              <a:rPr lang="en-US" sz="2400" b="1" dirty="0" smtClean="0"/>
              <a:t>possible. </a:t>
            </a:r>
            <a:endParaRPr lang="en-US" sz="2400" b="1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/>
              <a:t> In </a:t>
            </a:r>
            <a:r>
              <a:rPr lang="en-US" sz="2400" b="1" dirty="0" smtClean="0"/>
              <a:t>other words, ideal standard is </a:t>
            </a:r>
            <a:r>
              <a:rPr lang="en-US" sz="2400" b="1" dirty="0" smtClean="0">
                <a:solidFill>
                  <a:srgbClr val="FF0000"/>
                </a:solidFill>
              </a:rPr>
              <a:t>based </a:t>
            </a:r>
            <a:r>
              <a:rPr lang="en-US" sz="2400" b="1" dirty="0" smtClean="0">
                <a:solidFill>
                  <a:srgbClr val="FF0000"/>
                </a:solidFill>
              </a:rPr>
              <a:t>on high </a:t>
            </a:r>
            <a:r>
              <a:rPr lang="en-US" sz="2400" b="1" dirty="0" smtClean="0">
                <a:solidFill>
                  <a:srgbClr val="FF0000"/>
                </a:solidFill>
              </a:rPr>
              <a:t>degree of efficiency</a:t>
            </a:r>
            <a:r>
              <a:rPr lang="en-US" sz="2400" b="1" dirty="0" smtClean="0"/>
              <a:t>. </a:t>
            </a:r>
            <a:endParaRPr lang="en-US" sz="2400" b="1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/>
              <a:t> </a:t>
            </a:r>
            <a:r>
              <a:rPr lang="en-US" sz="2400" b="1" dirty="0" smtClean="0"/>
              <a:t>It </a:t>
            </a:r>
            <a:r>
              <a:rPr lang="en-US" sz="2400" b="1" dirty="0" smtClean="0">
                <a:solidFill>
                  <a:srgbClr val="FF0000"/>
                </a:solidFill>
              </a:rPr>
              <a:t>assumes</a:t>
            </a:r>
            <a:r>
              <a:rPr lang="en-US" sz="2400" b="1" dirty="0" smtClean="0"/>
              <a:t> that there is </a:t>
            </a:r>
            <a:r>
              <a:rPr lang="en-US" sz="2400" b="1" dirty="0" smtClean="0">
                <a:solidFill>
                  <a:srgbClr val="FF0000"/>
                </a:solidFill>
              </a:rPr>
              <a:t>no </a:t>
            </a:r>
            <a:r>
              <a:rPr lang="en-US" sz="2400" b="1" dirty="0" smtClean="0">
                <a:solidFill>
                  <a:srgbClr val="FF0000"/>
                </a:solidFill>
              </a:rPr>
              <a:t>wastage,</a:t>
            </a:r>
            <a:r>
              <a:rPr lang="en-US" sz="2400" b="1" dirty="0" smtClean="0"/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no machine </a:t>
            </a:r>
            <a:r>
              <a:rPr lang="en-US" sz="2400" b="1" dirty="0" smtClean="0">
                <a:solidFill>
                  <a:srgbClr val="FF0000"/>
                </a:solidFill>
              </a:rPr>
              <a:t>breakdown,</a:t>
            </a:r>
            <a:r>
              <a:rPr lang="en-US" sz="2400" b="1" dirty="0" smtClean="0"/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no power</a:t>
            </a:r>
            <a:r>
              <a:rPr lang="en-US" sz="2400" b="1" dirty="0" smtClean="0"/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failure, </a:t>
            </a:r>
            <a:r>
              <a:rPr lang="en-US" sz="2400" b="1" dirty="0" smtClean="0">
                <a:solidFill>
                  <a:srgbClr val="FF0000"/>
                </a:solidFill>
              </a:rPr>
              <a:t>no </a:t>
            </a:r>
            <a:r>
              <a:rPr lang="en-US" sz="2400" b="1" dirty="0" err="1" smtClean="0">
                <a:solidFill>
                  <a:srgbClr val="FF0000"/>
                </a:solidFill>
              </a:rPr>
              <a:t>labour</a:t>
            </a:r>
            <a:r>
              <a:rPr lang="en-US" sz="2400" b="1" dirty="0" smtClean="0">
                <a:solidFill>
                  <a:srgbClr val="FF0000"/>
                </a:solidFill>
              </a:rPr>
              <a:t> ideal time </a:t>
            </a:r>
            <a:r>
              <a:rPr lang="en-US" sz="2400" b="1" dirty="0" smtClean="0"/>
              <a:t>in the production process</a:t>
            </a:r>
            <a:r>
              <a:rPr lang="en-US" sz="2400" b="1" dirty="0" smtClean="0"/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/>
              <a:t> </a:t>
            </a:r>
            <a:r>
              <a:rPr lang="en-US" sz="2400" b="1" dirty="0" smtClean="0"/>
              <a:t> </a:t>
            </a:r>
            <a:r>
              <a:rPr lang="en-US" sz="2400" b="1" dirty="0" smtClean="0"/>
              <a:t>In practice it is difficult </a:t>
            </a:r>
            <a:r>
              <a:rPr lang="en-US" sz="2400" b="1" dirty="0" smtClean="0"/>
              <a:t>to attain </a:t>
            </a:r>
            <a:r>
              <a:rPr lang="en-US" sz="2400" b="1" dirty="0" smtClean="0"/>
              <a:t>this ideal standard.</a:t>
            </a:r>
            <a:endParaRPr lang="en-US" sz="24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04800"/>
            <a:ext cx="86868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i="1" dirty="0" smtClean="0"/>
              <a:t>(b) </a:t>
            </a:r>
            <a:r>
              <a:rPr lang="en-US" sz="2400" b="1" i="1" dirty="0" smtClean="0">
                <a:solidFill>
                  <a:srgbClr val="FF0000"/>
                </a:solidFill>
              </a:rPr>
              <a:t>Basic Standard: </a:t>
            </a:r>
            <a:endParaRPr lang="en-US" sz="2400" b="1" i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i="1" dirty="0" smtClean="0">
                <a:solidFill>
                  <a:srgbClr val="FF0000"/>
                </a:solidFill>
              </a:rPr>
              <a:t> </a:t>
            </a:r>
            <a:r>
              <a:rPr lang="en-US" sz="2400" b="1" i="1" dirty="0" smtClean="0"/>
              <a:t>This </a:t>
            </a:r>
            <a:r>
              <a:rPr lang="en-US" sz="2400" b="1" i="1" dirty="0" smtClean="0"/>
              <a:t>standard is otherwise known as </a:t>
            </a:r>
            <a:r>
              <a:rPr lang="en-US" sz="2400" b="1" i="1" dirty="0" smtClean="0">
                <a:solidFill>
                  <a:srgbClr val="FF0000"/>
                </a:solidFill>
              </a:rPr>
              <a:t>Bogey Standard</a:t>
            </a:r>
            <a:r>
              <a:rPr lang="en-US" sz="2400" b="1" i="1" dirty="0" smtClean="0"/>
              <a:t>. </a:t>
            </a:r>
            <a:endParaRPr lang="en-US" sz="2400" b="1" i="1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i="1" dirty="0" smtClean="0"/>
              <a:t>Basic Standard </a:t>
            </a:r>
            <a:r>
              <a:rPr lang="en-US" sz="2400" b="1" dirty="0" smtClean="0"/>
              <a:t>which </a:t>
            </a:r>
            <a:r>
              <a:rPr lang="en-US" sz="2400" b="1" dirty="0" smtClean="0"/>
              <a:t>is established for use is </a:t>
            </a:r>
            <a:r>
              <a:rPr lang="en-US" sz="2400" b="1" dirty="0" smtClean="0">
                <a:solidFill>
                  <a:srgbClr val="FF0000"/>
                </a:solidFill>
              </a:rPr>
              <a:t>unaltered over a long period of time.</a:t>
            </a:r>
            <a:r>
              <a:rPr lang="en-US" sz="2400" b="1" dirty="0" smtClean="0"/>
              <a:t> </a:t>
            </a:r>
            <a:endParaRPr lang="en-US" sz="2400" b="1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/>
              <a:t> In </a:t>
            </a:r>
            <a:r>
              <a:rPr lang="en-US" sz="2400" b="1" dirty="0" smtClean="0"/>
              <a:t>other words </a:t>
            </a:r>
            <a:r>
              <a:rPr lang="en-US" sz="2400" b="1" dirty="0" smtClean="0"/>
              <a:t>this standard </a:t>
            </a:r>
            <a:r>
              <a:rPr lang="en-US" sz="2400" b="1" dirty="0" smtClean="0"/>
              <a:t>is fixed in relation to a base year and is </a:t>
            </a:r>
            <a:r>
              <a:rPr lang="en-US" sz="2400" b="1" dirty="0" smtClean="0">
                <a:solidFill>
                  <a:srgbClr val="FF0000"/>
                </a:solidFill>
              </a:rPr>
              <a:t>not changed in response to changes </a:t>
            </a:r>
            <a:r>
              <a:rPr lang="en-US" sz="2400" b="1" dirty="0" smtClean="0">
                <a:solidFill>
                  <a:srgbClr val="FF0000"/>
                </a:solidFill>
              </a:rPr>
              <a:t>in material </a:t>
            </a:r>
            <a:r>
              <a:rPr lang="en-US" sz="2400" b="1" dirty="0" smtClean="0">
                <a:solidFill>
                  <a:srgbClr val="FF0000"/>
                </a:solidFill>
              </a:rPr>
              <a:t>costs. </a:t>
            </a:r>
            <a:r>
              <a:rPr lang="en-US" sz="2400" b="1" dirty="0" err="1" smtClean="0">
                <a:solidFill>
                  <a:srgbClr val="FF0000"/>
                </a:solidFill>
              </a:rPr>
              <a:t>labour</a:t>
            </a:r>
            <a:r>
              <a:rPr lang="en-US" sz="2400" b="1" dirty="0" smtClean="0">
                <a:solidFill>
                  <a:srgbClr val="FF0000"/>
                </a:solidFill>
              </a:rPr>
              <a:t> costs and other expenses </a:t>
            </a:r>
            <a:r>
              <a:rPr lang="en-US" sz="2400" b="1" dirty="0" smtClean="0"/>
              <a:t>as the case may be. </a:t>
            </a:r>
            <a:endParaRPr lang="en-US" sz="2400" b="1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/>
              <a:t> The </a:t>
            </a:r>
            <a:r>
              <a:rPr lang="en-US" sz="2400" b="1" dirty="0" smtClean="0"/>
              <a:t>application of </a:t>
            </a:r>
            <a:r>
              <a:rPr lang="en-US" sz="2400" b="1" dirty="0" smtClean="0"/>
              <a:t>this standard </a:t>
            </a:r>
            <a:r>
              <a:rPr lang="en-US" sz="2400" b="1" dirty="0" smtClean="0"/>
              <a:t>has </a:t>
            </a:r>
            <a:r>
              <a:rPr lang="en-US" sz="2400" b="1" dirty="0" smtClean="0">
                <a:solidFill>
                  <a:srgbClr val="FF0000"/>
                </a:solidFill>
              </a:rPr>
              <a:t>no </a:t>
            </a:r>
            <a:r>
              <a:rPr lang="en-US" sz="2400" b="1" dirty="0" smtClean="0">
                <a:solidFill>
                  <a:srgbClr val="FF0000"/>
                </a:solidFill>
              </a:rPr>
              <a:t>practical importance </a:t>
            </a:r>
            <a:r>
              <a:rPr lang="en-US" sz="2400" b="1" dirty="0" smtClean="0"/>
              <a:t>from cost control and cost ascertainment point </a:t>
            </a:r>
            <a:r>
              <a:rPr lang="en-US" sz="2400" b="1" dirty="0" smtClean="0"/>
              <a:t>of view</a:t>
            </a:r>
            <a:r>
              <a:rPr lang="en-US" sz="2400" b="1" dirty="0" smtClean="0"/>
              <a:t>.</a:t>
            </a:r>
            <a:endParaRPr lang="en-US" sz="24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28600"/>
            <a:ext cx="85344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i="1" dirty="0" smtClean="0"/>
              <a:t>(c) </a:t>
            </a:r>
            <a:r>
              <a:rPr lang="en-US" sz="2400" b="1" i="1" dirty="0" smtClean="0">
                <a:solidFill>
                  <a:srgbClr val="FF0000"/>
                </a:solidFill>
              </a:rPr>
              <a:t>Current Standard: </a:t>
            </a:r>
            <a:endParaRPr lang="en-US" sz="2400" b="1" i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i="1" dirty="0" smtClean="0">
                <a:solidFill>
                  <a:srgbClr val="FF0000"/>
                </a:solidFill>
              </a:rPr>
              <a:t> </a:t>
            </a:r>
            <a:r>
              <a:rPr lang="en-US" sz="2400" b="1" i="1" dirty="0" smtClean="0"/>
              <a:t>The </a:t>
            </a:r>
            <a:r>
              <a:rPr lang="en-US" sz="2400" b="1" i="1" dirty="0" smtClean="0"/>
              <a:t>term "Current Standard" refers to "a standard established for </a:t>
            </a:r>
            <a:r>
              <a:rPr lang="en-US" sz="2400" b="1" i="1" dirty="0" smtClean="0">
                <a:solidFill>
                  <a:srgbClr val="FF0000"/>
                </a:solidFill>
              </a:rPr>
              <a:t>use </a:t>
            </a:r>
            <a:r>
              <a:rPr lang="en-US" sz="2400" b="1" dirty="0" smtClean="0">
                <a:solidFill>
                  <a:srgbClr val="FF0000"/>
                </a:solidFill>
              </a:rPr>
              <a:t>over </a:t>
            </a:r>
            <a:r>
              <a:rPr lang="en-US" sz="2400" b="1" dirty="0" smtClean="0">
                <a:solidFill>
                  <a:srgbClr val="FF0000"/>
                </a:solidFill>
              </a:rPr>
              <a:t>a short period of time </a:t>
            </a:r>
            <a:r>
              <a:rPr lang="en-US" sz="2400" b="1" dirty="0" smtClean="0"/>
              <a:t>related to </a:t>
            </a:r>
            <a:r>
              <a:rPr lang="en-US" sz="2400" b="1" dirty="0" smtClean="0">
                <a:solidFill>
                  <a:srgbClr val="FF0000"/>
                </a:solidFill>
              </a:rPr>
              <a:t>current conditions </a:t>
            </a:r>
            <a:r>
              <a:rPr lang="en-US" sz="2400" b="1" dirty="0" smtClean="0"/>
              <a:t>which </a:t>
            </a:r>
            <a:r>
              <a:rPr lang="en-US" sz="2400" b="1" dirty="0" smtClean="0">
                <a:solidFill>
                  <a:srgbClr val="FF0000"/>
                </a:solidFill>
              </a:rPr>
              <a:t>reflects </a:t>
            </a:r>
            <a:r>
              <a:rPr lang="en-US" sz="2400" b="1" dirty="0" smtClean="0"/>
              <a:t>the </a:t>
            </a:r>
            <a:r>
              <a:rPr lang="en-US" sz="2400" b="1" dirty="0" smtClean="0">
                <a:solidFill>
                  <a:srgbClr val="FF0000"/>
                </a:solidFill>
              </a:rPr>
              <a:t>performance</a:t>
            </a:r>
            <a:r>
              <a:rPr lang="en-US" sz="2400" b="1" dirty="0" smtClean="0"/>
              <a:t> </a:t>
            </a:r>
            <a:r>
              <a:rPr lang="en-US" sz="2400" b="1" dirty="0" smtClean="0"/>
              <a:t>that should </a:t>
            </a:r>
            <a:r>
              <a:rPr lang="en-US" sz="2400" b="1" dirty="0" smtClean="0"/>
              <a:t>be attained during the period</a:t>
            </a:r>
            <a:r>
              <a:rPr lang="en-US" sz="2400" b="1" dirty="0" smtClean="0"/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/>
              <a:t>" </a:t>
            </a:r>
            <a:r>
              <a:rPr lang="en-US" sz="2400" b="1" dirty="0" smtClean="0"/>
              <a:t>These standards are </a:t>
            </a:r>
            <a:r>
              <a:rPr lang="en-US" sz="2400" b="1" dirty="0" smtClean="0">
                <a:solidFill>
                  <a:srgbClr val="FF0000"/>
                </a:solidFill>
              </a:rPr>
              <a:t>more suitable and realistic </a:t>
            </a:r>
            <a:r>
              <a:rPr lang="en-US" sz="2400" b="1" dirty="0" smtClean="0">
                <a:solidFill>
                  <a:srgbClr val="FF0000"/>
                </a:solidFill>
              </a:rPr>
              <a:t>for control </a:t>
            </a:r>
            <a:r>
              <a:rPr lang="en-US" sz="2400" b="1" dirty="0" smtClean="0">
                <a:solidFill>
                  <a:srgbClr val="FF0000"/>
                </a:solidFill>
              </a:rPr>
              <a:t>purposes.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04800"/>
            <a:ext cx="86106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i="1" dirty="0" smtClean="0"/>
              <a:t>(d) </a:t>
            </a:r>
            <a:r>
              <a:rPr lang="en-US" sz="2400" b="1" i="1" dirty="0" smtClean="0">
                <a:solidFill>
                  <a:srgbClr val="FF0000"/>
                </a:solidFill>
              </a:rPr>
              <a:t>Expected Standard: </a:t>
            </a:r>
            <a:endParaRPr lang="en-US" sz="2400" b="1" i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i="1" dirty="0" smtClean="0"/>
              <a:t> </a:t>
            </a:r>
            <a:r>
              <a:rPr lang="en-US" sz="2400" b="1" i="1" dirty="0" smtClean="0"/>
              <a:t>Expected </a:t>
            </a:r>
            <a:r>
              <a:rPr lang="en-US" sz="2400" b="1" i="1" dirty="0" smtClean="0"/>
              <a:t>Standard may be defined as "the standard which may </a:t>
            </a:r>
            <a:r>
              <a:rPr lang="en-US" sz="2400" b="1" i="1" dirty="0" smtClean="0"/>
              <a:t>be </a:t>
            </a:r>
            <a:r>
              <a:rPr lang="en-US" sz="2400" b="1" dirty="0" smtClean="0">
                <a:solidFill>
                  <a:srgbClr val="FF0000"/>
                </a:solidFill>
              </a:rPr>
              <a:t>anticipated </a:t>
            </a:r>
            <a:r>
              <a:rPr lang="en-US" sz="2400" b="1" dirty="0" smtClean="0">
                <a:solidFill>
                  <a:srgbClr val="FF0000"/>
                </a:solidFill>
              </a:rPr>
              <a:t>to be attained during a future specified budget period."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/>
              <a:t> </a:t>
            </a:r>
            <a:r>
              <a:rPr lang="en-US" sz="2400" b="1" dirty="0" smtClean="0"/>
              <a:t>These </a:t>
            </a:r>
            <a:r>
              <a:rPr lang="en-US" sz="2400" b="1" dirty="0" smtClean="0"/>
              <a:t>standards </a:t>
            </a:r>
            <a:r>
              <a:rPr lang="en-US" sz="2400" b="1" dirty="0" smtClean="0">
                <a:solidFill>
                  <a:srgbClr val="FF0000"/>
                </a:solidFill>
              </a:rPr>
              <a:t>set targets </a:t>
            </a:r>
            <a:r>
              <a:rPr lang="en-US" sz="2400" b="1" dirty="0" smtClean="0"/>
              <a:t>which can be achieved in a </a:t>
            </a:r>
            <a:r>
              <a:rPr lang="en-US" sz="2400" b="1" dirty="0" smtClean="0">
                <a:solidFill>
                  <a:srgbClr val="FF0000"/>
                </a:solidFill>
              </a:rPr>
              <a:t>normal situation. </a:t>
            </a:r>
            <a:r>
              <a:rPr lang="en-US" sz="2400" b="1" dirty="0" smtClean="0"/>
              <a:t>As such it is </a:t>
            </a:r>
            <a:r>
              <a:rPr lang="en-US" sz="2400" b="1" dirty="0" smtClean="0">
                <a:solidFill>
                  <a:srgbClr val="FF0000"/>
                </a:solidFill>
              </a:rPr>
              <a:t>more realistic </a:t>
            </a:r>
            <a:r>
              <a:rPr lang="en-US" sz="2400" b="1" dirty="0" smtClean="0"/>
              <a:t>than </a:t>
            </a:r>
            <a:r>
              <a:rPr lang="en-US" sz="2400" b="1" dirty="0" smtClean="0"/>
              <a:t>the Ideal </a:t>
            </a:r>
            <a:r>
              <a:rPr lang="en-US" sz="2400" b="1" dirty="0" smtClean="0"/>
              <a:t>Standard.</a:t>
            </a:r>
          </a:p>
          <a:p>
            <a:pPr>
              <a:lnSpc>
                <a:spcPct val="150000"/>
              </a:lnSpc>
            </a:pPr>
            <a:r>
              <a:rPr lang="en-US" sz="2400" b="1" i="1" dirty="0" smtClean="0"/>
              <a:t>(e) Normal Standard: </a:t>
            </a:r>
            <a:endParaRPr lang="en-US" sz="2400" b="1" i="1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i="1" dirty="0" smtClean="0"/>
              <a:t>This </a:t>
            </a:r>
            <a:r>
              <a:rPr lang="en-US" sz="2400" b="1" i="1" dirty="0" smtClean="0"/>
              <a:t>standard </a:t>
            </a:r>
            <a:r>
              <a:rPr lang="en-US" sz="2400" b="1" i="1" dirty="0" smtClean="0"/>
              <a:t>represents </a:t>
            </a:r>
            <a:r>
              <a:rPr lang="en-US" sz="2400" b="1" i="1" dirty="0" smtClean="0"/>
              <a:t>an </a:t>
            </a:r>
            <a:r>
              <a:rPr lang="en-US" sz="2400" b="1" i="1" dirty="0" smtClean="0">
                <a:solidFill>
                  <a:srgbClr val="FF0000"/>
                </a:solidFill>
              </a:rPr>
              <a:t>average standard in past </a:t>
            </a:r>
            <a:r>
              <a:rPr lang="en-US" sz="2400" b="1" i="1" dirty="0" smtClean="0"/>
              <a:t>which, it is </a:t>
            </a:r>
            <a:r>
              <a:rPr lang="en-US" sz="2400" b="1" i="1" dirty="0" smtClean="0">
                <a:solidFill>
                  <a:srgbClr val="FF0000"/>
                </a:solidFill>
              </a:rPr>
              <a:t>anticipated</a:t>
            </a:r>
            <a:r>
              <a:rPr lang="en-US" sz="2400" b="1" i="1" dirty="0" smtClean="0">
                <a:solidFill>
                  <a:srgbClr val="FF0000"/>
                </a:solidFill>
              </a:rPr>
              <a:t>,</a:t>
            </a:r>
            <a:r>
              <a:rPr lang="en-US" sz="2400" b="1" i="1" dirty="0" smtClean="0"/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can </a:t>
            </a:r>
            <a:r>
              <a:rPr lang="en-US" sz="2400" b="1" dirty="0" smtClean="0">
                <a:solidFill>
                  <a:srgbClr val="FF0000"/>
                </a:solidFill>
              </a:rPr>
              <a:t>be attained over a future period of time, </a:t>
            </a:r>
            <a:r>
              <a:rPr lang="en-US" sz="2400" b="1" dirty="0" smtClean="0"/>
              <a:t>preferably long enough to cover </a:t>
            </a:r>
            <a:r>
              <a:rPr lang="en-US" sz="2400" b="1" dirty="0" smtClean="0">
                <a:solidFill>
                  <a:srgbClr val="FF0000"/>
                </a:solidFill>
              </a:rPr>
              <a:t>one </a:t>
            </a:r>
            <a:r>
              <a:rPr lang="en-US" sz="2400" b="1" dirty="0" smtClean="0">
                <a:solidFill>
                  <a:srgbClr val="FF0000"/>
                </a:solidFill>
              </a:rPr>
              <a:t>trade cycle</a:t>
            </a:r>
            <a:r>
              <a:rPr lang="en-US" sz="2400" b="1" dirty="0" smtClean="0"/>
              <a:t>. </a:t>
            </a:r>
            <a:r>
              <a:rPr lang="en-US" sz="2400" b="1" dirty="0" smtClean="0">
                <a:solidFill>
                  <a:srgbClr val="FF0000"/>
                </a:solidFill>
              </a:rPr>
              <a:t>The usefulness </a:t>
            </a:r>
            <a:r>
              <a:rPr lang="en-US" sz="2400" b="1" dirty="0" smtClean="0"/>
              <a:t>of such standards is </a:t>
            </a:r>
            <a:r>
              <a:rPr lang="en-US" sz="2400" b="1" dirty="0" smtClean="0">
                <a:solidFill>
                  <a:srgbClr val="FF0000"/>
                </a:solidFill>
              </a:rPr>
              <a:t>very limited for the purpose of cost control</a:t>
            </a:r>
            <a:r>
              <a:rPr lang="en-US" sz="2400" b="1" dirty="0" smtClean="0"/>
              <a:t>.</a:t>
            </a:r>
            <a:endParaRPr lang="en-US" sz="24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228600"/>
            <a:ext cx="85344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/>
              <a:t>(4) </a:t>
            </a:r>
            <a:r>
              <a:rPr lang="en-US" sz="2400" b="1" dirty="0" smtClean="0">
                <a:solidFill>
                  <a:srgbClr val="FF0000"/>
                </a:solidFill>
              </a:rPr>
              <a:t>Organization for Standard Costing: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	</a:t>
            </a:r>
            <a:r>
              <a:rPr lang="en-US" sz="2400" b="1" dirty="0" smtClean="0"/>
              <a:t>The </a:t>
            </a:r>
            <a:r>
              <a:rPr lang="en-US" sz="2400" b="1" dirty="0" smtClean="0"/>
              <a:t>success of the standard costing system </a:t>
            </a:r>
            <a:r>
              <a:rPr lang="en-US" sz="2400" b="1" dirty="0" smtClean="0">
                <a:solidFill>
                  <a:srgbClr val="FF0000"/>
                </a:solidFill>
              </a:rPr>
              <a:t>depends </a:t>
            </a:r>
            <a:r>
              <a:rPr lang="en-US" sz="2400" b="1" dirty="0" smtClean="0">
                <a:solidFill>
                  <a:srgbClr val="FF0000"/>
                </a:solidFill>
              </a:rPr>
              <a:t>upon </a:t>
            </a:r>
            <a:r>
              <a:rPr lang="en-US" sz="2400" b="1" dirty="0" smtClean="0"/>
              <a:t>the </a:t>
            </a:r>
            <a:r>
              <a:rPr lang="en-US" sz="2400" b="1" dirty="0" smtClean="0">
                <a:solidFill>
                  <a:srgbClr val="FF0000"/>
                </a:solidFill>
              </a:rPr>
              <a:t>reliability of standards</a:t>
            </a:r>
            <a:r>
              <a:rPr lang="en-US" sz="2400" b="1" dirty="0" smtClean="0"/>
              <a:t>. </a:t>
            </a:r>
            <a:endParaRPr lang="en-US" sz="2400" b="1" dirty="0" smtClean="0"/>
          </a:p>
          <a:p>
            <a:pPr>
              <a:lnSpc>
                <a:spcPct val="150000"/>
              </a:lnSpc>
            </a:pPr>
            <a:r>
              <a:rPr lang="en-US" sz="2400" b="1" dirty="0" smtClean="0"/>
              <a:t>	</a:t>
            </a:r>
            <a:r>
              <a:rPr lang="en-US" sz="2400" b="1" dirty="0" smtClean="0"/>
              <a:t>Hence </a:t>
            </a:r>
            <a:r>
              <a:rPr lang="en-US" sz="2400" b="1" dirty="0" smtClean="0"/>
              <a:t>the responsibility for setting standard is vested with the </a:t>
            </a:r>
            <a:r>
              <a:rPr lang="en-US" sz="2400" b="1" dirty="0" smtClean="0">
                <a:solidFill>
                  <a:srgbClr val="FF0000"/>
                </a:solidFill>
              </a:rPr>
              <a:t>Standard Committee</a:t>
            </a:r>
            <a:r>
              <a:rPr lang="en-US" sz="2400" b="1" dirty="0" smtClean="0"/>
              <a:t>. It consists of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(a) Purchase Manager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(b) Production Manager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(c) Personnel Manager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(d) Time and Motion Study Engineers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(e) Marketing Manager and Cost Accountant</a:t>
            </a:r>
            <a:endParaRPr lang="en-US" sz="24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381000"/>
            <a:ext cx="7848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/>
              <a:t>(5) </a:t>
            </a:r>
            <a:r>
              <a:rPr lang="en-US" sz="2400" b="1" dirty="0" smtClean="0">
                <a:solidFill>
                  <a:srgbClr val="FF0000"/>
                </a:solidFill>
              </a:rPr>
              <a:t>Setting of Standard</a:t>
            </a:r>
            <a:r>
              <a:rPr lang="en-US" sz="2400" b="1" dirty="0" smtClean="0"/>
              <a:t>: </a:t>
            </a:r>
            <a:endParaRPr lang="en-US" sz="2400" b="1" dirty="0" smtClean="0"/>
          </a:p>
          <a:p>
            <a:pPr>
              <a:lnSpc>
                <a:spcPct val="150000"/>
              </a:lnSpc>
            </a:pPr>
            <a:r>
              <a:rPr lang="en-US" sz="2400" b="1" dirty="0" smtClean="0"/>
              <a:t>	</a:t>
            </a:r>
            <a:r>
              <a:rPr lang="en-US" sz="2400" b="1" dirty="0" smtClean="0"/>
              <a:t>The </a:t>
            </a:r>
            <a:r>
              <a:rPr lang="en-US" sz="2400" b="1" dirty="0" smtClean="0"/>
              <a:t>Standard Committee </a:t>
            </a:r>
            <a:r>
              <a:rPr lang="en-US" sz="2400" b="1" dirty="0" smtClean="0"/>
              <a:t>is responsible </a:t>
            </a:r>
            <a:r>
              <a:rPr lang="en-US" sz="2400" b="1" dirty="0" smtClean="0"/>
              <a:t>for setting standards for </a:t>
            </a:r>
            <a:r>
              <a:rPr lang="en-US" sz="2400" b="1" dirty="0" smtClean="0"/>
              <a:t>each element </a:t>
            </a:r>
            <a:r>
              <a:rPr lang="en-US" sz="2400" b="1" dirty="0" smtClean="0"/>
              <a:t>of costs as given below :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I. Direct Material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II. Direct </a:t>
            </a:r>
            <a:r>
              <a:rPr lang="en-US" sz="2400" b="1" dirty="0" err="1" smtClean="0"/>
              <a:t>Labour</a:t>
            </a:r>
            <a:endParaRPr lang="en-US" sz="2400" b="1" dirty="0" smtClean="0"/>
          </a:p>
          <a:p>
            <a:pPr>
              <a:lnSpc>
                <a:spcPct val="150000"/>
              </a:lnSpc>
            </a:pPr>
            <a:r>
              <a:rPr lang="en-US" sz="2400" b="1" dirty="0" smtClean="0"/>
              <a:t>III. Overheads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(a) Fixed Overheads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(b) Variable Overheads</a:t>
            </a:r>
            <a:endParaRPr lang="en-US" sz="24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35846"/>
            <a:ext cx="85344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/>
              <a:t>I. </a:t>
            </a:r>
            <a:r>
              <a:rPr lang="en-US" sz="2400" b="1" dirty="0" smtClean="0">
                <a:solidFill>
                  <a:srgbClr val="FF0000"/>
                </a:solidFill>
              </a:rPr>
              <a:t>Standard for Direct Material Cost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The following are the standard involved in direct materials cost: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</a:t>
            </a:r>
            <a:r>
              <a:rPr lang="en-US" sz="2400" b="1" dirty="0" err="1" smtClean="0"/>
              <a:t>i</a:t>
            </a:r>
            <a:r>
              <a:rPr lang="en-US" sz="2400" b="1" dirty="0" smtClean="0"/>
              <a:t>) </a:t>
            </a:r>
            <a:r>
              <a:rPr lang="en-US" sz="2400" b="1" dirty="0" smtClean="0"/>
              <a:t>Material Quantity or Usage Standard.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(ii) Material Price Standard.</a:t>
            </a:r>
          </a:p>
          <a:p>
            <a:pPr marL="514350" indent="-514350">
              <a:lnSpc>
                <a:spcPct val="150000"/>
              </a:lnSpc>
              <a:buAutoNum type="romanLcParenBoth"/>
            </a:pPr>
            <a:r>
              <a:rPr lang="en-US" sz="2400" b="1" dirty="0" smtClean="0">
                <a:solidFill>
                  <a:srgbClr val="FF0000"/>
                </a:solidFill>
              </a:rPr>
              <a:t>Material </a:t>
            </a:r>
            <a:r>
              <a:rPr lang="en-US" sz="2400" b="1" dirty="0" smtClean="0">
                <a:solidFill>
                  <a:srgbClr val="FF0000"/>
                </a:solidFill>
              </a:rPr>
              <a:t>Usage Standard</a:t>
            </a:r>
            <a:r>
              <a:rPr lang="en-US" sz="2400" b="1" dirty="0" smtClean="0"/>
              <a:t>: </a:t>
            </a:r>
            <a:r>
              <a:rPr lang="en-US" sz="2400" b="1" dirty="0" smtClean="0"/>
              <a:t>is </a:t>
            </a:r>
            <a:r>
              <a:rPr lang="en-US" sz="2400" b="1" dirty="0" smtClean="0">
                <a:solidFill>
                  <a:srgbClr val="FF0000"/>
                </a:solidFill>
              </a:rPr>
              <a:t>prepared</a:t>
            </a:r>
            <a:r>
              <a:rPr lang="en-US" sz="2400" b="1" dirty="0" smtClean="0"/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on the basis of </a:t>
            </a:r>
            <a:r>
              <a:rPr lang="en-US" sz="2400" b="1" dirty="0" smtClean="0">
                <a:solidFill>
                  <a:srgbClr val="FF0000"/>
                </a:solidFill>
              </a:rPr>
              <a:t>material specifications </a:t>
            </a:r>
            <a:r>
              <a:rPr lang="en-US" sz="2400" b="1" dirty="0" smtClean="0"/>
              <a:t>and </a:t>
            </a:r>
            <a:r>
              <a:rPr lang="en-US" sz="2400" b="1" dirty="0" smtClean="0">
                <a:solidFill>
                  <a:srgbClr val="FF0000"/>
                </a:solidFill>
              </a:rPr>
              <a:t>quality</a:t>
            </a:r>
            <a:r>
              <a:rPr lang="en-US" sz="2400" b="1" dirty="0" smtClean="0"/>
              <a:t> of materials required to manufacture a product. </a:t>
            </a:r>
            <a:endParaRPr lang="en-US" sz="2400" b="1" dirty="0" smtClean="0"/>
          </a:p>
          <a:p>
            <a:pPr marL="514350" indent="-514350">
              <a:lnSpc>
                <a:spcPct val="150000"/>
              </a:lnSpc>
            </a:pPr>
            <a:r>
              <a:rPr lang="en-US" sz="2400" b="1" dirty="0" smtClean="0"/>
              <a:t>	</a:t>
            </a:r>
            <a:r>
              <a:rPr lang="en-US" sz="2400" b="1" dirty="0" smtClean="0"/>
              <a:t>While </a:t>
            </a:r>
            <a:r>
              <a:rPr lang="en-US" sz="2400" b="1" dirty="0" smtClean="0"/>
              <a:t>setting of standards </a:t>
            </a:r>
            <a:r>
              <a:rPr lang="en-US" sz="2400" b="1" dirty="0" smtClean="0">
                <a:solidFill>
                  <a:srgbClr val="FF0000"/>
                </a:solidFill>
              </a:rPr>
              <a:t>proper allowance </a:t>
            </a:r>
            <a:r>
              <a:rPr lang="en-US" sz="2400" b="1" dirty="0" smtClean="0"/>
              <a:t>should be provided for </a:t>
            </a:r>
            <a:r>
              <a:rPr lang="en-US" sz="2400" b="1" dirty="0" smtClean="0">
                <a:solidFill>
                  <a:srgbClr val="FF0000"/>
                </a:solidFill>
              </a:rPr>
              <a:t>normal losses due to unavoidable occurrence of evaporation, breakage etc</a:t>
            </a:r>
            <a:r>
              <a:rPr lang="en-US" sz="2400" b="1" dirty="0" smtClean="0">
                <a:solidFill>
                  <a:srgbClr val="FF0000"/>
                </a:solidFill>
              </a:rPr>
              <a:t>.</a:t>
            </a:r>
            <a:endParaRPr lang="en-US" sz="2400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1513091"/>
            <a:ext cx="8534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/>
              <a:t>(ii) </a:t>
            </a:r>
            <a:r>
              <a:rPr lang="en-US" sz="2400" b="1" dirty="0" smtClean="0">
                <a:solidFill>
                  <a:srgbClr val="FF0000"/>
                </a:solidFill>
              </a:rPr>
              <a:t>Material Price Standard: </a:t>
            </a:r>
            <a:r>
              <a:rPr lang="en-US" sz="2400" b="1" dirty="0" smtClean="0"/>
              <a:t>is </a:t>
            </a:r>
            <a:r>
              <a:rPr lang="en-US" sz="2400" b="1" dirty="0" smtClean="0"/>
              <a:t>calculated by the </a:t>
            </a:r>
            <a:r>
              <a:rPr lang="en-US" sz="2400" b="1" dirty="0" smtClean="0">
                <a:solidFill>
                  <a:srgbClr val="FF0000"/>
                </a:solidFill>
              </a:rPr>
              <a:t>Cost Accountant </a:t>
            </a:r>
            <a:r>
              <a:rPr lang="en-US" sz="2400" b="1" dirty="0" smtClean="0"/>
              <a:t>and </a:t>
            </a:r>
            <a:r>
              <a:rPr lang="en-US" sz="2400" b="1" dirty="0" smtClean="0"/>
              <a:t>the Purchase </a:t>
            </a:r>
            <a:r>
              <a:rPr lang="en-US" sz="2400" b="1" dirty="0" smtClean="0"/>
              <a:t>Manager for </a:t>
            </a:r>
            <a:r>
              <a:rPr lang="en-US" sz="2400" b="1" dirty="0" smtClean="0">
                <a:solidFill>
                  <a:srgbClr val="FF0000"/>
                </a:solidFill>
              </a:rPr>
              <a:t>each type of materials</a:t>
            </a:r>
            <a:r>
              <a:rPr lang="en-US" sz="2400" b="1" dirty="0" smtClean="0"/>
              <a:t>. </a:t>
            </a:r>
            <a:endParaRPr lang="en-US" sz="2400" b="1" dirty="0" smtClean="0"/>
          </a:p>
          <a:p>
            <a:pPr>
              <a:lnSpc>
                <a:spcPct val="150000"/>
              </a:lnSpc>
            </a:pPr>
            <a:r>
              <a:rPr lang="en-US" sz="2400" b="1" dirty="0" smtClean="0"/>
              <a:t>	</a:t>
            </a:r>
            <a:r>
              <a:rPr lang="en-US" sz="2400" b="1" dirty="0" smtClean="0"/>
              <a:t>When </a:t>
            </a:r>
            <a:r>
              <a:rPr lang="en-US" sz="2400" b="1" dirty="0" smtClean="0"/>
              <a:t>this type of standard is used, it is essential to </a:t>
            </a:r>
            <a:r>
              <a:rPr lang="en-US" sz="2400" b="1" dirty="0" smtClean="0"/>
              <a:t>consider the </a:t>
            </a:r>
            <a:r>
              <a:rPr lang="en-US" sz="2400" b="1" dirty="0" smtClean="0">
                <a:solidFill>
                  <a:srgbClr val="FF0000"/>
                </a:solidFill>
              </a:rPr>
              <a:t>important factors </a:t>
            </a:r>
            <a:r>
              <a:rPr lang="en-US" sz="2400" b="1" dirty="0" smtClean="0"/>
              <a:t>such as </a:t>
            </a:r>
            <a:r>
              <a:rPr lang="en-US" sz="2400" b="1" dirty="0" smtClean="0">
                <a:solidFill>
                  <a:srgbClr val="FF0000"/>
                </a:solidFill>
              </a:rPr>
              <a:t>market conditions, forecasting relating to the trends of prices, </a:t>
            </a:r>
            <a:r>
              <a:rPr lang="en-US" sz="2400" b="1" dirty="0" smtClean="0">
                <a:solidFill>
                  <a:srgbClr val="FF0000"/>
                </a:solidFill>
              </a:rPr>
              <a:t>discounts </a:t>
            </a:r>
            <a:r>
              <a:rPr lang="en-US" sz="2400" b="1" dirty="0" smtClean="0">
                <a:solidFill>
                  <a:srgbClr val="FF0000"/>
                </a:solidFill>
              </a:rPr>
              <a:t>etc</a:t>
            </a:r>
            <a:r>
              <a:rPr lang="en-US" sz="2400" b="1" dirty="0" smtClean="0"/>
              <a:t>.</a:t>
            </a:r>
            <a:endParaRPr lang="en-US" sz="24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1"/>
            <a:ext cx="8610600" cy="685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/>
              <a:t>II. </a:t>
            </a:r>
            <a:r>
              <a:rPr lang="en-US" sz="2400" b="1" dirty="0" smtClean="0">
                <a:solidFill>
                  <a:srgbClr val="FF0000"/>
                </a:solidFill>
              </a:rPr>
              <a:t>Standard for Direct </a:t>
            </a:r>
            <a:r>
              <a:rPr lang="en-US" sz="2400" b="1" dirty="0" err="1" smtClean="0">
                <a:solidFill>
                  <a:srgbClr val="FF0000"/>
                </a:solidFill>
              </a:rPr>
              <a:t>Labour</a:t>
            </a:r>
            <a:r>
              <a:rPr lang="en-US" sz="2400" b="1" dirty="0" smtClean="0">
                <a:solidFill>
                  <a:srgbClr val="FF0000"/>
                </a:solidFill>
              </a:rPr>
              <a:t> Cost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</a:t>
            </a:r>
            <a:r>
              <a:rPr lang="en-US" sz="2400" b="1" dirty="0" err="1" smtClean="0"/>
              <a:t>i</a:t>
            </a:r>
            <a:r>
              <a:rPr lang="en-US" sz="2400" b="1" dirty="0" smtClean="0"/>
              <a:t>) Fixation of Standard </a:t>
            </a:r>
            <a:r>
              <a:rPr lang="en-US" sz="2400" b="1" dirty="0" err="1" smtClean="0"/>
              <a:t>Labour</a:t>
            </a:r>
            <a:r>
              <a:rPr lang="en-US" sz="2400" b="1" dirty="0" smtClean="0"/>
              <a:t> Time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(ii) Fixation of Standard </a:t>
            </a:r>
            <a:r>
              <a:rPr lang="en-US" sz="2400" b="1" dirty="0" smtClean="0"/>
              <a:t>Rate</a:t>
            </a:r>
          </a:p>
          <a:p>
            <a:pPr marL="514350" indent="-514350">
              <a:lnSpc>
                <a:spcPct val="150000"/>
              </a:lnSpc>
              <a:buAutoNum type="romanLcParenBoth"/>
            </a:pPr>
            <a:r>
              <a:rPr lang="en-US" sz="2400" b="1" dirty="0" smtClean="0">
                <a:solidFill>
                  <a:srgbClr val="FF0000"/>
                </a:solidFill>
              </a:rPr>
              <a:t>Fixation </a:t>
            </a:r>
            <a:r>
              <a:rPr lang="en-US" sz="2400" b="1" dirty="0" smtClean="0">
                <a:solidFill>
                  <a:srgbClr val="FF0000"/>
                </a:solidFill>
              </a:rPr>
              <a:t>of Standard </a:t>
            </a:r>
            <a:r>
              <a:rPr lang="en-US" sz="2400" b="1" dirty="0" err="1" smtClean="0">
                <a:solidFill>
                  <a:srgbClr val="FF0000"/>
                </a:solidFill>
              </a:rPr>
              <a:t>Labour</a:t>
            </a:r>
            <a:r>
              <a:rPr lang="en-US" sz="2400" b="1" dirty="0" smtClean="0">
                <a:solidFill>
                  <a:srgbClr val="FF0000"/>
                </a:solidFill>
              </a:rPr>
              <a:t> Time</a:t>
            </a:r>
            <a:r>
              <a:rPr lang="en-US" sz="2400" b="1" dirty="0" smtClean="0"/>
              <a:t>: </a:t>
            </a:r>
            <a:r>
              <a:rPr lang="en-US" sz="2400" b="1" dirty="0" err="1" smtClean="0"/>
              <a:t>Labour</a:t>
            </a:r>
            <a:r>
              <a:rPr lang="en-US" sz="2400" b="1" dirty="0" smtClean="0"/>
              <a:t> Standard time is </a:t>
            </a:r>
            <a:r>
              <a:rPr lang="en-US" sz="2400" b="1" dirty="0" smtClean="0">
                <a:solidFill>
                  <a:srgbClr val="FF0000"/>
                </a:solidFill>
              </a:rPr>
              <a:t>fixed</a:t>
            </a:r>
            <a:r>
              <a:rPr lang="en-US" sz="2400" b="1" dirty="0" smtClean="0"/>
              <a:t> and it </a:t>
            </a:r>
            <a:r>
              <a:rPr lang="en-US" sz="2400" b="1" dirty="0" smtClean="0">
                <a:solidFill>
                  <a:srgbClr val="FF0000"/>
                </a:solidFill>
              </a:rPr>
              <a:t>depends upon </a:t>
            </a:r>
            <a:r>
              <a:rPr lang="en-US" sz="2400" b="1" dirty="0" smtClean="0"/>
              <a:t>the </a:t>
            </a:r>
            <a:r>
              <a:rPr lang="en-US" sz="2400" b="1" dirty="0" smtClean="0">
                <a:solidFill>
                  <a:srgbClr val="FF0000"/>
                </a:solidFill>
              </a:rPr>
              <a:t>nature </a:t>
            </a:r>
            <a:r>
              <a:rPr lang="en-US" sz="2400" b="1" dirty="0" smtClean="0">
                <a:solidFill>
                  <a:srgbClr val="FF0000"/>
                </a:solidFill>
              </a:rPr>
              <a:t>of cost unit, nature of operations performed, Time and Motion Study etc</a:t>
            </a:r>
            <a:r>
              <a:rPr lang="en-US" sz="2400" b="1" dirty="0" smtClean="0"/>
              <a:t>.</a:t>
            </a:r>
          </a:p>
          <a:p>
            <a:pPr marL="971550" lvl="1" indent="-514350">
              <a:lnSpc>
                <a:spcPct val="150000"/>
              </a:lnSpc>
            </a:pPr>
            <a:r>
              <a:rPr lang="en-US" sz="2400" b="1" dirty="0" smtClean="0"/>
              <a:t> 	While </a:t>
            </a:r>
            <a:r>
              <a:rPr lang="en-US" sz="2400" b="1" dirty="0" smtClean="0"/>
              <a:t>determining </a:t>
            </a:r>
            <a:r>
              <a:rPr lang="en-US" sz="2400" b="1" dirty="0" smtClean="0"/>
              <a:t>the standard </a:t>
            </a:r>
            <a:r>
              <a:rPr lang="en-US" sz="2400" b="1" dirty="0" smtClean="0"/>
              <a:t>time </a:t>
            </a:r>
            <a:r>
              <a:rPr lang="en-US" sz="2400" b="1" dirty="0" smtClean="0">
                <a:solidFill>
                  <a:srgbClr val="FF0000"/>
                </a:solidFill>
              </a:rPr>
              <a:t>normal ideal time </a:t>
            </a:r>
            <a:r>
              <a:rPr lang="en-US" sz="2400" b="1" dirty="0" smtClean="0">
                <a:solidFill>
                  <a:srgbClr val="FF0000"/>
                </a:solidFill>
              </a:rPr>
              <a:t>is </a:t>
            </a:r>
          </a:p>
          <a:p>
            <a:pPr marL="971550" lvl="1" indent="-514350"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allowed </a:t>
            </a:r>
            <a:r>
              <a:rPr lang="en-US" sz="2400" b="1" dirty="0" smtClean="0">
                <a:solidFill>
                  <a:srgbClr val="FF0000"/>
                </a:solidFill>
              </a:rPr>
              <a:t>for fatigue and other contingencies.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(ii) Fixation of Standard Rates: </a:t>
            </a:r>
            <a:r>
              <a:rPr lang="en-US" sz="2400" b="1" dirty="0" smtClean="0"/>
              <a:t>The standard rate </a:t>
            </a:r>
            <a:r>
              <a:rPr lang="en-US" sz="2400" b="1" dirty="0" smtClean="0">
                <a:solidFill>
                  <a:srgbClr val="FF0000"/>
                </a:solidFill>
              </a:rPr>
              <a:t>fixed for each job </a:t>
            </a:r>
            <a:r>
              <a:rPr lang="en-US" sz="2400" b="1" dirty="0" smtClean="0"/>
              <a:t>will be determined on the </a:t>
            </a:r>
            <a:r>
              <a:rPr lang="en-US" sz="2400" b="1" dirty="0" smtClean="0">
                <a:solidFill>
                  <a:srgbClr val="FF0000"/>
                </a:solidFill>
              </a:rPr>
              <a:t>basis</a:t>
            </a:r>
            <a:r>
              <a:rPr lang="en-US" sz="2400" b="1" dirty="0" smtClean="0"/>
              <a:t> of </a:t>
            </a:r>
            <a:r>
              <a:rPr lang="en-US" sz="2400" b="1" dirty="0" smtClean="0">
                <a:solidFill>
                  <a:srgbClr val="FF0000"/>
                </a:solidFill>
              </a:rPr>
              <a:t>methods of wage payment such as Time Wage System, Piece Wage System, Differential Piece </a:t>
            </a:r>
            <a:r>
              <a:rPr lang="en-US" sz="2400" b="1" dirty="0" smtClean="0">
                <a:solidFill>
                  <a:srgbClr val="FF0000"/>
                </a:solidFill>
              </a:rPr>
              <a:t>Rate System </a:t>
            </a:r>
            <a:r>
              <a:rPr lang="en-US" sz="2400" b="1" dirty="0" smtClean="0">
                <a:solidFill>
                  <a:srgbClr val="FF0000"/>
                </a:solidFill>
              </a:rPr>
              <a:t>and Premium Plan etc.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04800"/>
            <a:ext cx="8458200" cy="64149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/>
              <a:t>III. </a:t>
            </a:r>
            <a:r>
              <a:rPr lang="en-US" sz="2400" b="1" dirty="0" smtClean="0">
                <a:solidFill>
                  <a:srgbClr val="FF0000"/>
                </a:solidFill>
              </a:rPr>
              <a:t>Setting Standards for Overheads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The following </a:t>
            </a:r>
            <a:r>
              <a:rPr lang="en-US" sz="2400" b="1" dirty="0" smtClean="0">
                <a:solidFill>
                  <a:srgbClr val="FF0000"/>
                </a:solidFill>
              </a:rPr>
              <a:t>problems are involved </a:t>
            </a:r>
            <a:r>
              <a:rPr lang="en-US" sz="2400" b="1" dirty="0" smtClean="0"/>
              <a:t>while setting standards for overheads: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(1) Determination of </a:t>
            </a:r>
            <a:r>
              <a:rPr lang="en-US" sz="2400" b="1" dirty="0" smtClean="0">
                <a:solidFill>
                  <a:srgbClr val="FF0000"/>
                </a:solidFill>
              </a:rPr>
              <a:t>standard overhead cost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(2) </a:t>
            </a:r>
            <a:r>
              <a:rPr lang="en-US" sz="2400" b="1" dirty="0" smtClean="0">
                <a:solidFill>
                  <a:srgbClr val="FF0000"/>
                </a:solidFill>
              </a:rPr>
              <a:t>Estimating the production level </a:t>
            </a:r>
            <a:r>
              <a:rPr lang="en-US" sz="2400" b="1" dirty="0" smtClean="0"/>
              <a:t>of </a:t>
            </a:r>
            <a:r>
              <a:rPr lang="en-US" sz="2400" b="1" dirty="0" smtClean="0">
                <a:solidFill>
                  <a:srgbClr val="FF0000"/>
                </a:solidFill>
              </a:rPr>
              <a:t>activity</a:t>
            </a:r>
            <a:r>
              <a:rPr lang="en-US" sz="2400" b="1" dirty="0" smtClean="0"/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to be measured </a:t>
            </a:r>
            <a:r>
              <a:rPr lang="en-US" sz="2400" b="1" dirty="0" smtClean="0"/>
              <a:t>in </a:t>
            </a:r>
            <a:r>
              <a:rPr lang="en-US" sz="2400" b="1" dirty="0" smtClean="0">
                <a:solidFill>
                  <a:srgbClr val="FF0000"/>
                </a:solidFill>
              </a:rPr>
              <a:t>terms of common base </a:t>
            </a:r>
            <a:r>
              <a:rPr lang="en-US" sz="2400" b="1" dirty="0" smtClean="0"/>
              <a:t>like </a:t>
            </a:r>
            <a:r>
              <a:rPr lang="en-US" sz="2400" b="1" dirty="0" smtClean="0">
                <a:solidFill>
                  <a:srgbClr val="FF0000"/>
                </a:solidFill>
              </a:rPr>
              <a:t>machine </a:t>
            </a:r>
            <a:r>
              <a:rPr lang="en-US" sz="2400" b="1" dirty="0" smtClean="0">
                <a:solidFill>
                  <a:srgbClr val="FF0000"/>
                </a:solidFill>
              </a:rPr>
              <a:t>hours, units of production and </a:t>
            </a:r>
            <a:r>
              <a:rPr lang="en-US" sz="2400" b="1" dirty="0" err="1" smtClean="0">
                <a:solidFill>
                  <a:srgbClr val="FF0000"/>
                </a:solidFill>
              </a:rPr>
              <a:t>labour</a:t>
            </a:r>
            <a:r>
              <a:rPr lang="en-US" sz="2400" b="1" dirty="0" smtClean="0">
                <a:solidFill>
                  <a:srgbClr val="FF0000"/>
                </a:solidFill>
              </a:rPr>
              <a:t> hours</a:t>
            </a:r>
            <a:r>
              <a:rPr lang="en-US" sz="2400" b="1" dirty="0" smtClean="0">
                <a:solidFill>
                  <a:srgbClr val="FF0000"/>
                </a:solidFill>
              </a:rPr>
              <a:t>.</a:t>
            </a:r>
            <a:r>
              <a:rPr lang="en-US" sz="2400" b="1" dirty="0" smtClean="0"/>
              <a:t> </a:t>
            </a:r>
            <a:endParaRPr lang="en-US" sz="2400" b="1" dirty="0" smtClean="0"/>
          </a:p>
          <a:p>
            <a:pPr>
              <a:lnSpc>
                <a:spcPct val="150000"/>
              </a:lnSpc>
            </a:pPr>
            <a:r>
              <a:rPr lang="en-US" sz="2400" b="1" dirty="0" smtClean="0"/>
              <a:t>	Setting </a:t>
            </a:r>
            <a:r>
              <a:rPr lang="en-US" sz="2400" b="1" dirty="0" smtClean="0"/>
              <a:t>of overhead standards is divided into fixed </a:t>
            </a:r>
            <a:r>
              <a:rPr lang="en-US" sz="2400" b="1" dirty="0" smtClean="0"/>
              <a:t>overhead, </a:t>
            </a:r>
            <a:r>
              <a:rPr lang="en-US" sz="2400" b="1" dirty="0" smtClean="0"/>
              <a:t>variable overhead and </a:t>
            </a:r>
            <a:r>
              <a:rPr lang="en-US" sz="2400" b="1" dirty="0" smtClean="0"/>
              <a:t>semi-variable overhead.</a:t>
            </a:r>
          </a:p>
          <a:p>
            <a:pPr>
              <a:lnSpc>
                <a:spcPct val="150000"/>
              </a:lnSpc>
            </a:pPr>
            <a:endParaRPr lang="en-US" sz="24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sz="2400" b="1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lum bright="-21000" contrast="16000"/>
          </a:blip>
          <a:srcRect/>
          <a:stretch>
            <a:fillRect/>
          </a:stretch>
        </p:blipFill>
        <p:spPr bwMode="auto">
          <a:xfrm>
            <a:off x="685800" y="5257800"/>
            <a:ext cx="7772400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0"/>
            <a:ext cx="86106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002060"/>
                </a:solidFill>
              </a:rPr>
              <a:t>Standard </a:t>
            </a:r>
            <a:r>
              <a:rPr lang="en-US" sz="2400" b="1" dirty="0" smtClean="0">
                <a:solidFill>
                  <a:srgbClr val="002060"/>
                </a:solidFill>
              </a:rPr>
              <a:t>Hour</a:t>
            </a:r>
            <a:r>
              <a:rPr lang="en-US" sz="2400" b="1" dirty="0" smtClean="0">
                <a:solidFill>
                  <a:srgbClr val="FF0000"/>
                </a:solidFill>
              </a:rPr>
              <a:t>: Time </a:t>
            </a:r>
            <a:r>
              <a:rPr lang="en-US" sz="2400" b="1" dirty="0" smtClean="0">
                <a:solidFill>
                  <a:srgbClr val="FF0000"/>
                </a:solidFill>
              </a:rPr>
              <a:t>factor </a:t>
            </a:r>
            <a:r>
              <a:rPr lang="en-US" sz="2400" b="1" dirty="0" smtClean="0"/>
              <a:t>is </a:t>
            </a:r>
            <a:r>
              <a:rPr lang="en-US" sz="2400" b="1" dirty="0" smtClean="0">
                <a:solidFill>
                  <a:srgbClr val="FF0000"/>
                </a:solidFill>
              </a:rPr>
              <a:t>common to all </a:t>
            </a:r>
            <a:r>
              <a:rPr lang="en-US" sz="2400" b="1" dirty="0" smtClean="0">
                <a:solidFill>
                  <a:srgbClr val="FF0000"/>
                </a:solidFill>
              </a:rPr>
              <a:t>the operation</a:t>
            </a:r>
            <a:r>
              <a:rPr lang="en-US" sz="2400" b="1" dirty="0" smtClean="0">
                <a:solidFill>
                  <a:srgbClr val="FF0000"/>
                </a:solidFill>
              </a:rPr>
              <a:t>.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	</a:t>
            </a:r>
            <a:r>
              <a:rPr lang="en-US" sz="2400" b="1" dirty="0" smtClean="0"/>
              <a:t>ICMA</a:t>
            </a:r>
            <a:r>
              <a:rPr lang="en-US" sz="2400" b="1" dirty="0" smtClean="0"/>
              <a:t>, London, defines a </a:t>
            </a:r>
            <a:r>
              <a:rPr lang="en-US" sz="2400" b="1" dirty="0" smtClean="0">
                <a:solidFill>
                  <a:srgbClr val="FF0000"/>
                </a:solidFill>
              </a:rPr>
              <a:t>Standard Time </a:t>
            </a:r>
            <a:r>
              <a:rPr lang="en-US" sz="2400" b="1" dirty="0" smtClean="0"/>
              <a:t>as a "</a:t>
            </a:r>
            <a:r>
              <a:rPr lang="en-US" sz="2400" b="1" dirty="0" smtClean="0">
                <a:solidFill>
                  <a:srgbClr val="FF0000"/>
                </a:solidFill>
              </a:rPr>
              <a:t>hypothetical unit</a:t>
            </a:r>
            <a:r>
              <a:rPr lang="en-US" sz="2400" b="1" dirty="0" smtClean="0"/>
              <a:t> pre-established to represent </a:t>
            </a:r>
            <a:r>
              <a:rPr lang="en-US" sz="2400" b="1" dirty="0" smtClean="0"/>
              <a:t>the </a:t>
            </a:r>
            <a:r>
              <a:rPr lang="en-US" sz="2400" b="1" dirty="0" smtClean="0">
                <a:solidFill>
                  <a:srgbClr val="FF0000"/>
                </a:solidFill>
              </a:rPr>
              <a:t>amount </a:t>
            </a:r>
            <a:r>
              <a:rPr lang="en-US" sz="2400" b="1" dirty="0" smtClean="0">
                <a:solidFill>
                  <a:srgbClr val="FF0000"/>
                </a:solidFill>
              </a:rPr>
              <a:t>of work </a:t>
            </a:r>
            <a:r>
              <a:rPr lang="en-US" sz="2400" b="1" dirty="0" smtClean="0"/>
              <a:t>which </a:t>
            </a:r>
            <a:r>
              <a:rPr lang="en-US" sz="2400" b="1" dirty="0" smtClean="0">
                <a:solidFill>
                  <a:srgbClr val="FF0000"/>
                </a:solidFill>
              </a:rPr>
              <a:t>should be performed in one hour at </a:t>
            </a:r>
            <a:r>
              <a:rPr lang="en-US" sz="2400" b="1" dirty="0" smtClean="0">
                <a:solidFill>
                  <a:srgbClr val="FF0000"/>
                </a:solidFill>
              </a:rPr>
              <a:t>standard performance</a:t>
            </a:r>
            <a:r>
              <a:rPr lang="en-US" sz="2400" b="1" dirty="0" smtClean="0"/>
              <a:t>. “ </a:t>
            </a:r>
            <a:r>
              <a:rPr lang="en-US" sz="2400" b="1" dirty="0" smtClean="0">
                <a:solidFill>
                  <a:srgbClr val="002060"/>
                </a:solidFill>
              </a:rPr>
              <a:t>Standard </a:t>
            </a:r>
            <a:r>
              <a:rPr lang="en-US" sz="2400" b="1" dirty="0" smtClean="0">
                <a:solidFill>
                  <a:srgbClr val="002060"/>
                </a:solidFill>
              </a:rPr>
              <a:t>Cost Card</a:t>
            </a:r>
            <a:r>
              <a:rPr lang="en-US" sz="2400" b="1" dirty="0" smtClean="0">
                <a:solidFill>
                  <a:srgbClr val="FF0000"/>
                </a:solidFill>
              </a:rPr>
              <a:t>: After fixing </a:t>
            </a:r>
            <a:r>
              <a:rPr lang="en-US" sz="2400" b="1" dirty="0" smtClean="0"/>
              <a:t>the Standards for direct material, direct </a:t>
            </a:r>
            <a:r>
              <a:rPr lang="en-US" sz="2400" b="1" dirty="0" err="1" smtClean="0"/>
              <a:t>labour</a:t>
            </a:r>
            <a:r>
              <a:rPr lang="en-US" sz="2400" b="1" dirty="0" smtClean="0"/>
              <a:t> and overhead cost</a:t>
            </a:r>
            <a:r>
              <a:rPr lang="en-US" sz="2400" b="1" dirty="0" smtClean="0"/>
              <a:t>, they </a:t>
            </a:r>
            <a:r>
              <a:rPr lang="en-US" sz="2400" b="1" dirty="0" smtClean="0"/>
              <a:t>are </a:t>
            </a:r>
            <a:r>
              <a:rPr lang="en-US" sz="2400" b="1" dirty="0" smtClean="0">
                <a:solidFill>
                  <a:srgbClr val="FF0000"/>
                </a:solidFill>
              </a:rPr>
              <a:t>recorded in a Standard Cost Card.</a:t>
            </a:r>
            <a:r>
              <a:rPr lang="en-US" sz="2400" b="1" dirty="0" smtClean="0"/>
              <a:t> This Standard cost is presented for </a:t>
            </a:r>
            <a:r>
              <a:rPr lang="en-US" sz="2400" b="1" dirty="0" smtClean="0">
                <a:solidFill>
                  <a:srgbClr val="FF0000"/>
                </a:solidFill>
              </a:rPr>
              <a:t>each unit cost of a product.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</a:t>
            </a:r>
            <a:r>
              <a:rPr lang="en-US" sz="2400" b="1" dirty="0" smtClean="0"/>
              <a:t>The </a:t>
            </a:r>
            <a:r>
              <a:rPr lang="en-US" sz="2400" b="1" dirty="0" smtClean="0">
                <a:solidFill>
                  <a:srgbClr val="FF0000"/>
                </a:solidFill>
              </a:rPr>
              <a:t>total </a:t>
            </a:r>
            <a:r>
              <a:rPr lang="en-US" sz="2400" b="1" dirty="0" smtClean="0">
                <a:solidFill>
                  <a:srgbClr val="FF0000"/>
                </a:solidFill>
              </a:rPr>
              <a:t>Standard Cost </a:t>
            </a:r>
            <a:r>
              <a:rPr lang="en-US" sz="2400" b="1" dirty="0" smtClean="0"/>
              <a:t>of manufacturing a product can be obtained by </a:t>
            </a:r>
            <a:r>
              <a:rPr lang="en-US" sz="2400" b="1" dirty="0" smtClean="0">
                <a:solidFill>
                  <a:srgbClr val="FF0000"/>
                </a:solidFill>
              </a:rPr>
              <a:t>aggregating the different Standard </a:t>
            </a:r>
            <a:r>
              <a:rPr lang="en-US" sz="2400" b="1" dirty="0" smtClean="0">
                <a:solidFill>
                  <a:srgbClr val="FF0000"/>
                </a:solidFill>
              </a:rPr>
              <a:t>Cost Cards </a:t>
            </a:r>
            <a:r>
              <a:rPr lang="en-US" sz="2400" b="1" dirty="0" smtClean="0"/>
              <a:t>of </a:t>
            </a:r>
            <a:r>
              <a:rPr lang="en-US" sz="2400" b="1" dirty="0" smtClean="0">
                <a:solidFill>
                  <a:srgbClr val="FF0000"/>
                </a:solidFill>
              </a:rPr>
              <a:t>different </a:t>
            </a:r>
            <a:r>
              <a:rPr lang="en-US" sz="2400" b="1" dirty="0" err="1" smtClean="0">
                <a:solidFill>
                  <a:srgbClr val="FF0000"/>
                </a:solidFill>
              </a:rPr>
              <a:t>proceses</a:t>
            </a:r>
            <a:r>
              <a:rPr lang="en-US" sz="2400" b="1" dirty="0" smtClean="0"/>
              <a:t>. These Cost Cards are useful to the firm in </a:t>
            </a:r>
            <a:r>
              <a:rPr lang="en-US" sz="2400" b="1" dirty="0" smtClean="0">
                <a:solidFill>
                  <a:srgbClr val="FF0000"/>
                </a:solidFill>
              </a:rPr>
              <a:t>production planning and pricing policies</a:t>
            </a:r>
            <a:r>
              <a:rPr lang="en-US" sz="2400" b="1" dirty="0" smtClean="0"/>
              <a:t>.</a:t>
            </a:r>
            <a:endParaRPr lang="en-US" sz="24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1"/>
            <a:ext cx="8686800" cy="6129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VARIANCE ANALYSIS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/>
              <a:t>Standard Costing guides as a measuring rod to the </a:t>
            </a:r>
            <a:r>
              <a:rPr lang="en-US" sz="2400" b="1" dirty="0" smtClean="0"/>
              <a:t>management </a:t>
            </a:r>
            <a:r>
              <a:rPr lang="en-US" sz="2400" b="1" dirty="0" smtClean="0"/>
              <a:t>for determination of "Variances" </a:t>
            </a:r>
            <a:r>
              <a:rPr lang="en-US" sz="2400" b="1" dirty="0" smtClean="0"/>
              <a:t>in order </a:t>
            </a:r>
            <a:r>
              <a:rPr lang="en-US" sz="2400" b="1" dirty="0" smtClean="0"/>
              <a:t>to evaluate the production performance. </a:t>
            </a:r>
            <a:endParaRPr lang="en-US" sz="2400" b="1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/>
              <a:t>The </a:t>
            </a:r>
            <a:r>
              <a:rPr lang="en-US" sz="2400" b="1" dirty="0" smtClean="0"/>
              <a:t>term "</a:t>
            </a:r>
            <a:r>
              <a:rPr lang="en-US" sz="2400" b="1" dirty="0" smtClean="0">
                <a:solidFill>
                  <a:srgbClr val="FF0000"/>
                </a:solidFill>
              </a:rPr>
              <a:t>Variances</a:t>
            </a:r>
            <a:r>
              <a:rPr lang="en-US" sz="2400" b="1" dirty="0" smtClean="0"/>
              <a:t>" may be defined as the difference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between Standard Cost and </a:t>
            </a:r>
            <a:r>
              <a:rPr lang="en-US" sz="2400" b="1" dirty="0" smtClean="0">
                <a:solidFill>
                  <a:srgbClr val="FF0000"/>
                </a:solidFill>
              </a:rPr>
              <a:t>actual cost </a:t>
            </a:r>
            <a:r>
              <a:rPr lang="en-US" sz="2400" b="1" dirty="0" smtClean="0"/>
              <a:t>for </a:t>
            </a:r>
            <a:r>
              <a:rPr lang="en-US" sz="2400" b="1" dirty="0" smtClean="0">
                <a:solidFill>
                  <a:srgbClr val="FF0000"/>
                </a:solidFill>
              </a:rPr>
              <a:t>each element of cost </a:t>
            </a:r>
            <a:r>
              <a:rPr lang="en-US" sz="2400" b="1" dirty="0" smtClean="0"/>
              <a:t>incurred during a </a:t>
            </a:r>
            <a:r>
              <a:rPr lang="en-US" sz="2400" b="1" dirty="0" smtClean="0">
                <a:solidFill>
                  <a:srgbClr val="FF0000"/>
                </a:solidFill>
              </a:rPr>
              <a:t>particular period</a:t>
            </a:r>
            <a:r>
              <a:rPr lang="en-US" sz="2400" b="1" dirty="0" smtClean="0"/>
              <a:t>. </a:t>
            </a:r>
            <a:endParaRPr lang="en-US" sz="2400" b="1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/>
              <a:t>The term </a:t>
            </a:r>
            <a:r>
              <a:rPr lang="en-US" sz="2400" b="1" dirty="0" smtClean="0"/>
              <a:t>"Variance Analysis" may be defined as the process of </a:t>
            </a:r>
            <a:r>
              <a:rPr lang="en-US" sz="2400" b="1" dirty="0" smtClean="0">
                <a:solidFill>
                  <a:srgbClr val="FF0000"/>
                </a:solidFill>
              </a:rPr>
              <a:t>analyzing variance </a:t>
            </a:r>
            <a:r>
              <a:rPr lang="en-US" sz="2400" b="1" dirty="0" smtClean="0"/>
              <a:t>by </a:t>
            </a:r>
            <a:r>
              <a:rPr lang="en-US" sz="2400" b="1" dirty="0" smtClean="0">
                <a:solidFill>
                  <a:srgbClr val="FF0000"/>
                </a:solidFill>
              </a:rPr>
              <a:t>subdividing the </a:t>
            </a:r>
            <a:r>
              <a:rPr lang="en-US" sz="2400" b="1" dirty="0" smtClean="0">
                <a:solidFill>
                  <a:srgbClr val="FF0000"/>
                </a:solidFill>
              </a:rPr>
              <a:t>total variance </a:t>
            </a:r>
            <a:r>
              <a:rPr lang="en-US" sz="2400" b="1" dirty="0" smtClean="0"/>
              <a:t>in such a way that management can </a:t>
            </a:r>
            <a:r>
              <a:rPr lang="en-US" sz="2400" b="1" dirty="0" smtClean="0">
                <a:solidFill>
                  <a:srgbClr val="FF0000"/>
                </a:solidFill>
              </a:rPr>
              <a:t>assign responsibility for off-Standard Performance.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1"/>
            <a:ext cx="8534400" cy="685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/>
              <a:t> The </a:t>
            </a:r>
            <a:r>
              <a:rPr lang="en-US" sz="2400" b="1" dirty="0" smtClean="0"/>
              <a:t>variance may be </a:t>
            </a:r>
            <a:r>
              <a:rPr lang="en-US" sz="2400" b="1" dirty="0" err="1" smtClean="0">
                <a:solidFill>
                  <a:srgbClr val="FF0000"/>
                </a:solidFill>
              </a:rPr>
              <a:t>favourable</a:t>
            </a:r>
            <a:r>
              <a:rPr lang="en-US" sz="2400" b="1" dirty="0" smtClean="0"/>
              <a:t> variance or </a:t>
            </a:r>
            <a:r>
              <a:rPr lang="en-US" sz="2400" b="1" dirty="0" err="1" smtClean="0">
                <a:solidFill>
                  <a:srgbClr val="FF0000"/>
                </a:solidFill>
              </a:rPr>
              <a:t>unfavourable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 smtClean="0"/>
              <a:t>variance. </a:t>
            </a:r>
            <a:endParaRPr lang="en-US" sz="2400" b="1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/>
              <a:t> </a:t>
            </a:r>
            <a:r>
              <a:rPr lang="en-US" sz="2400" b="1" dirty="0" smtClean="0"/>
              <a:t>When </a:t>
            </a:r>
            <a:r>
              <a:rPr lang="en-US" sz="2400" b="1" dirty="0" smtClean="0"/>
              <a:t>the </a:t>
            </a:r>
            <a:r>
              <a:rPr lang="en-US" sz="2400" b="1" dirty="0" smtClean="0">
                <a:solidFill>
                  <a:srgbClr val="FF0000"/>
                </a:solidFill>
              </a:rPr>
              <a:t>actual performance </a:t>
            </a:r>
            <a:r>
              <a:rPr lang="en-US" sz="2400" b="1" dirty="0" smtClean="0"/>
              <a:t>is </a:t>
            </a:r>
            <a:r>
              <a:rPr lang="en-US" sz="2400" b="1" dirty="0" smtClean="0">
                <a:solidFill>
                  <a:srgbClr val="FF0000"/>
                </a:solidFill>
              </a:rPr>
              <a:t>better </a:t>
            </a:r>
            <a:r>
              <a:rPr lang="en-US" sz="2400" b="1" dirty="0" smtClean="0">
                <a:solidFill>
                  <a:srgbClr val="FF0000"/>
                </a:solidFill>
              </a:rPr>
              <a:t>than the Standard</a:t>
            </a:r>
            <a:r>
              <a:rPr lang="en-US" sz="2400" b="1" dirty="0" smtClean="0"/>
              <a:t>, it resents "</a:t>
            </a:r>
            <a:r>
              <a:rPr lang="en-US" sz="2400" b="1" dirty="0" err="1" smtClean="0"/>
              <a:t>Favourable</a:t>
            </a:r>
            <a:r>
              <a:rPr lang="en-US" sz="2400" b="1" dirty="0" smtClean="0"/>
              <a:t> Variance." </a:t>
            </a:r>
            <a:endParaRPr lang="en-US" sz="2400" b="1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/>
              <a:t> </a:t>
            </a:r>
            <a:r>
              <a:rPr lang="en-US" sz="2400" b="1" dirty="0" smtClean="0"/>
              <a:t>Similarly</a:t>
            </a:r>
            <a:r>
              <a:rPr lang="en-US" sz="2400" b="1" dirty="0" smtClean="0"/>
              <a:t>, where actual performance is </a:t>
            </a:r>
            <a:r>
              <a:rPr lang="en-US" sz="2400" b="1" dirty="0" smtClean="0">
                <a:solidFill>
                  <a:srgbClr val="FF0000"/>
                </a:solidFill>
              </a:rPr>
              <a:t>below </a:t>
            </a:r>
            <a:r>
              <a:rPr lang="en-US" sz="2400" b="1" dirty="0" smtClean="0"/>
              <a:t>the </a:t>
            </a:r>
            <a:r>
              <a:rPr lang="en-US" sz="2400" b="1" dirty="0" smtClean="0"/>
              <a:t>standard it is called as "</a:t>
            </a:r>
            <a:r>
              <a:rPr lang="en-US" sz="2400" b="1" dirty="0" err="1" smtClean="0">
                <a:solidFill>
                  <a:srgbClr val="FF0000"/>
                </a:solidFill>
              </a:rPr>
              <a:t>Unfavourable</a:t>
            </a:r>
            <a:r>
              <a:rPr lang="en-US" sz="2400" b="1" dirty="0" smtClean="0">
                <a:solidFill>
                  <a:srgbClr val="FF0000"/>
                </a:solidFill>
              </a:rPr>
              <a:t> Variance</a:t>
            </a:r>
            <a:r>
              <a:rPr lang="en-US" sz="2400" b="1" dirty="0" smtClean="0"/>
              <a:t>."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Variance analysis </a:t>
            </a:r>
            <a:r>
              <a:rPr lang="en-US" sz="2400" b="1" dirty="0" smtClean="0">
                <a:solidFill>
                  <a:srgbClr val="FF0000"/>
                </a:solidFill>
              </a:rPr>
              <a:t>helps to fix </a:t>
            </a:r>
            <a:r>
              <a:rPr lang="en-US" sz="2400" b="1" dirty="0" smtClean="0"/>
              <a:t>the </a:t>
            </a:r>
            <a:r>
              <a:rPr lang="en-US" sz="2400" b="1" dirty="0" smtClean="0">
                <a:solidFill>
                  <a:srgbClr val="FF0000"/>
                </a:solidFill>
              </a:rPr>
              <a:t>responsibility</a:t>
            </a:r>
            <a:r>
              <a:rPr lang="en-US" sz="2400" b="1" dirty="0" smtClean="0"/>
              <a:t> so that management can ascertain -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(a) The </a:t>
            </a:r>
            <a:r>
              <a:rPr lang="en-US" sz="2400" b="1" dirty="0" smtClean="0">
                <a:solidFill>
                  <a:srgbClr val="FF0000"/>
                </a:solidFill>
              </a:rPr>
              <a:t>amount </a:t>
            </a:r>
            <a:r>
              <a:rPr lang="en-US" sz="2400" b="1" dirty="0" smtClean="0"/>
              <a:t>of the variance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(b) The </a:t>
            </a:r>
            <a:r>
              <a:rPr lang="en-US" sz="2400" b="1" dirty="0" smtClean="0">
                <a:solidFill>
                  <a:srgbClr val="FF0000"/>
                </a:solidFill>
              </a:rPr>
              <a:t>reasons </a:t>
            </a:r>
            <a:r>
              <a:rPr lang="en-US" sz="2400" b="1" dirty="0" smtClean="0"/>
              <a:t>for the difference between the actual performance and budgeted </a:t>
            </a:r>
            <a:r>
              <a:rPr lang="en-US" sz="2400" b="1" dirty="0" smtClean="0"/>
              <a:t>performance</a:t>
            </a:r>
          </a:p>
          <a:p>
            <a:r>
              <a:rPr lang="en-US" sz="2400" b="1" dirty="0" smtClean="0"/>
              <a:t>(</a:t>
            </a:r>
            <a:r>
              <a:rPr lang="en-US" sz="2400" b="1" dirty="0" smtClean="0"/>
              <a:t>c) The </a:t>
            </a:r>
            <a:r>
              <a:rPr lang="en-US" sz="2400" b="1" dirty="0" smtClean="0">
                <a:solidFill>
                  <a:srgbClr val="FF0000"/>
                </a:solidFill>
              </a:rPr>
              <a:t>person responsible </a:t>
            </a:r>
            <a:r>
              <a:rPr lang="en-US" sz="2400" b="1" dirty="0" smtClean="0"/>
              <a:t>for poor performance</a:t>
            </a:r>
          </a:p>
          <a:p>
            <a:r>
              <a:rPr lang="en-US" sz="2400" b="1" dirty="0" smtClean="0"/>
              <a:t>(d) </a:t>
            </a:r>
            <a:r>
              <a:rPr lang="en-US" sz="2400" b="1" dirty="0" smtClean="0">
                <a:solidFill>
                  <a:srgbClr val="FF0000"/>
                </a:solidFill>
              </a:rPr>
              <a:t>Remedial actions </a:t>
            </a:r>
            <a:r>
              <a:rPr lang="en-US" sz="2400" b="1" dirty="0" smtClean="0"/>
              <a:t>to be taken</a:t>
            </a:r>
            <a:endParaRPr lang="en-US" sz="24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1126</Words>
  <Application>Microsoft Office PowerPoint</Application>
  <PresentationFormat>On-screen Show (4:3)</PresentationFormat>
  <Paragraphs>106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sony</dc:creator>
  <cp:lastModifiedBy>sony</cp:lastModifiedBy>
  <cp:revision>12</cp:revision>
  <dcterms:created xsi:type="dcterms:W3CDTF">2006-08-16T00:00:00Z</dcterms:created>
  <dcterms:modified xsi:type="dcterms:W3CDTF">2024-02-23T19:25:46Z</dcterms:modified>
</cp:coreProperties>
</file>