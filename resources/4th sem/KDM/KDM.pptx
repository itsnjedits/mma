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6" roundtripDataSignature="AMtx7mge3BVBwFCwpEBJQDUSiD+fZ/rj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24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30" name="Google Shape;30;p24"/>
            <p:cNvSpPr/>
            <p:nvPr/>
          </p:nvSpPr>
          <p:spPr>
            <a:xfrm>
              <a:off x="0" y="-7862"/>
              <a:ext cx="863600" cy="5698067"/>
            </a:xfrm>
            <a:custGeom>
              <a:rect b="b" l="l" r="r" t="t"/>
              <a:pathLst>
                <a:path extrusionOk="0" h="5698067" w="86360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</p:sp>
        <p:cxnSp>
          <p:nvCxnSpPr>
            <p:cNvPr id="31" name="Google Shape;31;p2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" name="Google Shape;32;p2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" name="Google Shape;33;p24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34" name="Google Shape;34;p24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35" name="Google Shape;35;p2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4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37" name="Google Shape;37;p24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38" name="Google Shape;38;p24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39" name="Google Shape;39;p2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p24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2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1" name="Google Shape;61;p27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63" name="Google Shape;63;p27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0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0" name="Google Shape;80;p3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1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6" name="Google Shape;86;p31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7" name="Google Shape;87;p3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9" name="Google Shape;89;p3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2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3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3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3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33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3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3" name="Google Shape;103;p3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33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4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4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3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5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5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35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3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8" name="Google Shape;118;p35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35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6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6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36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3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7"/>
          <p:cNvSpPr txBox="1"/>
          <p:nvPr>
            <p:ph idx="1" type="body"/>
          </p:nvPr>
        </p:nvSpPr>
        <p:spPr>
          <a:xfrm rot="5400000">
            <a:off x="3035282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8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3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22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2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2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chemeClr val="accent1">
                  <a:alpha val="69803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" name="Google Shape;9;p22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10" name="Google Shape;10;p22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2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13" name="Google Shape;13;p22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14" name="Google Shape;14;p22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5" name="Google Shape;15;p2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2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" name="Google Shape;17;p2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2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" name="Google Shape;20;p2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" name="Google Shape;21;p2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Relationship Id="rId5" Type="http://schemas.openxmlformats.org/officeDocument/2006/relationships/image" Target="../media/image38.png"/><Relationship Id="rId6" Type="http://schemas.openxmlformats.org/officeDocument/2006/relationships/image" Target="../media/image13.png"/><Relationship Id="rId7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29.png"/><Relationship Id="rId5" Type="http://schemas.openxmlformats.org/officeDocument/2006/relationships/image" Target="../media/image21.png"/><Relationship Id="rId6" Type="http://schemas.openxmlformats.org/officeDocument/2006/relationships/image" Target="../media/image41.png"/><Relationship Id="rId7" Type="http://schemas.openxmlformats.org/officeDocument/2006/relationships/image" Target="../media/image14.png"/><Relationship Id="rId8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31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gif"/><Relationship Id="rId4" Type="http://schemas.openxmlformats.org/officeDocument/2006/relationships/image" Target="../media/image35.png"/><Relationship Id="rId9" Type="http://schemas.openxmlformats.org/officeDocument/2006/relationships/image" Target="../media/image42.png"/><Relationship Id="rId5" Type="http://schemas.openxmlformats.org/officeDocument/2006/relationships/image" Target="../media/image28.png"/><Relationship Id="rId6" Type="http://schemas.openxmlformats.org/officeDocument/2006/relationships/image" Target="../media/image33.png"/><Relationship Id="rId7" Type="http://schemas.openxmlformats.org/officeDocument/2006/relationships/image" Target="../media/image32.png"/><Relationship Id="rId8" Type="http://schemas.openxmlformats.org/officeDocument/2006/relationships/image" Target="../media/image34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Relationship Id="rId4" Type="http://schemas.openxmlformats.org/officeDocument/2006/relationships/image" Target="../media/image44.png"/><Relationship Id="rId9" Type="http://schemas.openxmlformats.org/officeDocument/2006/relationships/image" Target="../media/image43.png"/><Relationship Id="rId5" Type="http://schemas.openxmlformats.org/officeDocument/2006/relationships/image" Target="../media/image40.png"/><Relationship Id="rId6" Type="http://schemas.openxmlformats.org/officeDocument/2006/relationships/image" Target="../media/image45.png"/><Relationship Id="rId7" Type="http://schemas.openxmlformats.org/officeDocument/2006/relationships/image" Target="../media/image37.png"/><Relationship Id="rId8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/>
          <p:nvPr/>
        </p:nvSpPr>
        <p:spPr>
          <a:xfrm>
            <a:off x="2665070" y="736234"/>
            <a:ext cx="6130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0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 and Block Brake</a:t>
            </a:r>
            <a:endParaRPr b="1" i="0" sz="4000" u="none" cap="none" strike="noStrik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2702580" y="1715896"/>
            <a:ext cx="6130344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Emarti Kumari</a:t>
            </a:r>
            <a:endParaRPr/>
          </a:p>
        </p:txBody>
      </p:sp>
      <p:sp>
        <p:nvSpPr>
          <p:cNvPr id="145" name="Google Shape;145;p1"/>
          <p:cNvSpPr txBox="1"/>
          <p:nvPr/>
        </p:nvSpPr>
        <p:spPr>
          <a:xfrm>
            <a:off x="1241937" y="5504767"/>
            <a:ext cx="927278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Mechanical Engineering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M.B.M. Engineering College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Jai Narain Vyas University, Jodhpur </a:t>
            </a:r>
            <a:endParaRPr/>
          </a:p>
        </p:txBody>
      </p:sp>
      <p:pic>
        <p:nvPicPr>
          <p:cNvPr id="146" name="Google Shape;14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3014" y="3429000"/>
            <a:ext cx="1969477" cy="1837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66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/>
        </p:nvSpPr>
        <p:spPr>
          <a:xfrm>
            <a:off x="393895" y="462664"/>
            <a:ext cx="10803987" cy="6194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SYLLABUS: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Brake: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Band brakes, Block brake, Braking action: Effect of braking on vehicle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Dynamometers:</a:t>
            </a: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Types and their suitability for power measurement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3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Cams: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Types of cams and followers, drawing of cam profile for given type of motion and to draw displacement, velocity and acceleration diagrams for a given cam profile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Governor: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Types of governor: Watt, Porters, Proell and spring types, Effect of friction, Controlling force curves, Sensitiveness, Stability, Hunting, Isochronism, Effort of a governor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Force Analysis of Machines: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Force body diagram, Static equilibrium, Principle of virtual work, Static forces analysis in a machines; Slides Crank mechanism, Four bar linkage, Shaper Mechanism, Gyroscopic motion and elementary concepts of ship stabilization , Stability of automotive vehicle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 txBox="1"/>
          <p:nvPr/>
        </p:nvSpPr>
        <p:spPr>
          <a:xfrm>
            <a:off x="652001" y="479117"/>
            <a:ext cx="101990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Function of Brakes and Dynamometers: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469121" y="1246116"/>
            <a:ext cx="7802682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⮚"/>
            </a:pPr>
            <a:r>
              <a:rPr b="1" i="0" lang="en-IN" sz="18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primary function of a Brake </a:t>
            </a:r>
            <a:r>
              <a:rPr b="1" i="0" lang="en-IN" sz="18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is either to bring to rest a body which is in motion </a:t>
            </a:r>
            <a:r>
              <a:rPr b="0" i="0" lang="en-IN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or</a:t>
            </a:r>
            <a:r>
              <a:rPr b="0" i="0" lang="en-IN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0" lang="en-IN" sz="18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to hold a body in a state of rest  </a:t>
            </a:r>
            <a:r>
              <a:rPr b="0" i="0" lang="en-IN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or</a:t>
            </a:r>
            <a:r>
              <a:rPr b="0" i="0" lang="en-IN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0" lang="en-IN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of uniform motion against the action of external forces or couples.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⮚"/>
            </a:pPr>
            <a:r>
              <a:rPr b="1" i="0" lang="en-IN" sz="18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primary function of a dynamometer </a:t>
            </a:r>
            <a:r>
              <a:rPr b="1" i="0" lang="en-IN" sz="18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is to measure the forces or couples which tend to change the state of rest  </a:t>
            </a:r>
            <a:r>
              <a:rPr b="1" i="0" lang="en-IN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or </a:t>
            </a:r>
            <a:r>
              <a:rPr b="1" i="0" lang="en-IN" sz="18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of uniform motion of a body. 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⮚"/>
            </a:pPr>
            <a:r>
              <a:rPr b="1" i="0" lang="en-IN" sz="18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Difference between a brake and a dynamometer </a:t>
            </a:r>
            <a:r>
              <a:rPr b="0" i="0" lang="en-IN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is often </a:t>
            </a:r>
            <a:r>
              <a:rPr b="1" i="0" lang="en-IN" sz="20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one of purpose rather than of principle; </a:t>
            </a:r>
            <a:r>
              <a:rPr b="1" i="0" lang="en-IN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 arrangement which is used as a brake</a:t>
            </a:r>
            <a:r>
              <a:rPr b="0" i="0" lang="en-IN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0" lang="en-IN" sz="18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may frequently be made to serve as a dynamometer</a:t>
            </a:r>
            <a:r>
              <a:rPr b="0" i="0" lang="en-IN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i="0" lang="en-IN" sz="24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with the addition of a force measuring device</a:t>
            </a:r>
            <a:r>
              <a:rPr b="0" i="0" lang="en-IN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i="0" lang="en-IN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such as a deadweight or spring balance.</a:t>
            </a:r>
            <a:endParaRPr/>
          </a:p>
        </p:txBody>
      </p:sp>
      <p:pic>
        <p:nvPicPr>
          <p:cNvPr id="159" name="Google Shape;15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6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/>
        </p:nvSpPr>
        <p:spPr>
          <a:xfrm>
            <a:off x="844062" y="422031"/>
            <a:ext cx="8454683" cy="5293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Classification of Brakes: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⮚"/>
            </a:pPr>
            <a:r>
              <a:rPr b="1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Air brakes: 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Air brakes are used </a:t>
            </a:r>
            <a:r>
              <a:rPr b="1"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in trucks, buses, trailers, and semi-trailers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George Westinghouse first developed air brakes for use in railway service. </a:t>
            </a:r>
            <a:r>
              <a:rPr b="1" lang="en-I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He patented a safer air brake on March 5, 1872.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⮚"/>
            </a:pPr>
            <a:r>
              <a:rPr b="1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Hydraulic brakes: 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hydraulic brake is an arrangement of braking mechanism which </a:t>
            </a: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uses brake fluid, typically containing ethylene glycol, to transfer pressure from the controlling unit. </a:t>
            </a:r>
            <a:r>
              <a:rPr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In 1918 Malcolm Lougheed developed a hydraulic brake system.</a:t>
            </a:r>
            <a:endParaRPr/>
          </a:p>
          <a:p>
            <a:pPr indent="-1714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⮚"/>
            </a:pPr>
            <a:r>
              <a:rPr b="1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Electrical brake: </a:t>
            </a: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Electric brakes are used in electrically driven utilities and machines in industries and mainly in electric automotive such as electric locos. 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This was designed as an alternative to the conventional braking system of applying friction over the wheels to slow them.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/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⮚"/>
            </a:pPr>
            <a:r>
              <a:rPr b="1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Electromagnetic brakes: 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operate electrically, but unlike eddy current brakes, transmit torque mechanically. </a:t>
            </a:r>
            <a:endParaRPr/>
          </a:p>
        </p:txBody>
      </p:sp>
      <p:pic>
        <p:nvPicPr>
          <p:cNvPr id="165" name="Google Shape;1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6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/>
          <p:nvPr/>
        </p:nvSpPr>
        <p:spPr>
          <a:xfrm>
            <a:off x="844062" y="1209822"/>
            <a:ext cx="9045526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⮚"/>
            </a:pPr>
            <a:r>
              <a:rPr b="1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Mechanical brake: </a:t>
            </a: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 mechanical brake friction force is applied by giving pressure on the surface of drum or disk.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It may further divided axial brake and radial brake as per the direction of force acting on drum. </a:t>
            </a:r>
            <a:r>
              <a:rPr b="1" lang="en-I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Radial break may internal or external.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⮚"/>
            </a:pPr>
            <a:r>
              <a:rPr b="1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According to shape of friction element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it may further divided in </a:t>
            </a:r>
            <a:r>
              <a:rPr b="1" lang="en-I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to block / shoe break, band break, disk break. </a:t>
            </a:r>
            <a:endParaRPr/>
          </a:p>
          <a:p>
            <a:pPr indent="-2286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⮚"/>
            </a:pPr>
            <a:r>
              <a:rPr b="1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Disc brakes: </a:t>
            </a:r>
            <a:r>
              <a:rPr lang="en-I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 brake disc is usually made of cast iron, reinforced carbon-carbon or ceramic matrix composites. </a:t>
            </a: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This is connected to the wheel and/or the axle. 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 stop the wheel, friction material in the form of brake pads (mounted on a device called a brake caliper) </a:t>
            </a:r>
            <a:r>
              <a:rPr b="1"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is forced Mechanically, hydraulically, pneumatically or electromagnetically against both sides of the disc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844062" y="520505"/>
            <a:ext cx="55286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Classification of Brakes Contd…:</a:t>
            </a:r>
            <a:endParaRPr/>
          </a:p>
        </p:txBody>
      </p:sp>
      <p:pic>
        <p:nvPicPr>
          <p:cNvPr id="172" name="Google Shape;1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6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/>
        </p:nvSpPr>
        <p:spPr>
          <a:xfrm>
            <a:off x="900331" y="675249"/>
            <a:ext cx="8515517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Brake Material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lang="en-I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coefficient of friction should remain constant with change in temperature.</a:t>
            </a:r>
            <a:br>
              <a:rPr b="1" lang="en-I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b="1"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lang="en-I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It should have low wear rate. 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lang="en-I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It should have high heat resistance. 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lang="en-I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It should have high heat dissipation capacity.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lang="en-I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It should have adequate mechanical strength.  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lang="en-IN" sz="2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It should not be affected by moisture and oil.</a:t>
            </a:r>
            <a:endParaRPr/>
          </a:p>
        </p:txBody>
      </p:sp>
      <p:pic>
        <p:nvPicPr>
          <p:cNvPr id="178" name="Google Shape;1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6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/>
        </p:nvSpPr>
        <p:spPr>
          <a:xfrm>
            <a:off x="422030" y="343301"/>
            <a:ext cx="86797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Simple Block or Shoe Brake</a:t>
            </a:r>
            <a:endParaRPr/>
          </a:p>
        </p:txBody>
      </p:sp>
      <p:pic>
        <p:nvPicPr>
          <p:cNvPr id="184" name="Google Shape;1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109" y="3444528"/>
            <a:ext cx="3667125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7777" y="3346052"/>
            <a:ext cx="3467100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 txBox="1"/>
          <p:nvPr/>
        </p:nvSpPr>
        <p:spPr>
          <a:xfrm>
            <a:off x="661109" y="5922493"/>
            <a:ext cx="450166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(a) Clockwise rotation of brake wheel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5765336" y="5908427"/>
            <a:ext cx="492611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(b) Anticlockwise rotation of brake wheel</a:t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351619" y="971188"/>
            <a:ext cx="1033982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single block or shoe brake is shown in </a:t>
            </a:r>
            <a:r>
              <a:rPr b="1"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Fig. 1. 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It consists of a block or shoe which is pressed against the rim of a revolving brake wheel drum. </a:t>
            </a:r>
            <a:r>
              <a:rPr b="1"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The block is made of a softer material than</a:t>
            </a:r>
            <a:br>
              <a:rPr b="1"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the rim of the wheel.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I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This type of a brake is commonly used on railway trains and tram cars. </a:t>
            </a: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</a:t>
            </a:r>
            <a:b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friction between the block and the wheel causes a tangential braking force to act on the wheel, which retard the rotation of the wheel.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The block is pressed against the wheel by a force applied to one end of a lever to which the block is rigidly </a:t>
            </a: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fixed as shown in Fig. 1. 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other end of the lever is pivoted on a fixed fulcrum </a:t>
            </a:r>
            <a:r>
              <a:rPr i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3770142" y="6383623"/>
            <a:ext cx="289794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Fig. 1 single shoe brake</a:t>
            </a:r>
            <a:endParaRPr/>
          </a:p>
        </p:txBody>
      </p:sp>
      <p:pic>
        <p:nvPicPr>
          <p:cNvPr id="190" name="Google Shape;19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66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/>
        </p:nvSpPr>
        <p:spPr>
          <a:xfrm>
            <a:off x="309490" y="1364566"/>
            <a:ext cx="7413528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P </a:t>
            </a:r>
            <a:r>
              <a:rPr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= Force applied at the end of the lever</a:t>
            </a:r>
            <a:b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i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</a:t>
            </a:r>
            <a:r>
              <a:rPr b="1" baseline="-25000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</a:t>
            </a: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= Normal force pressing the brake block on the wheel</a:t>
            </a:r>
            <a:b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i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 </a:t>
            </a: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= Radius of the wheel</a:t>
            </a:r>
            <a:b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2θ = Angle of contact surface of the block</a:t>
            </a:r>
            <a:b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µ = Coefficient of friction</a:t>
            </a:r>
            <a:b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i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</a:t>
            </a:r>
            <a:r>
              <a:rPr b="1" baseline="-25000" i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</a:t>
            </a:r>
            <a:r>
              <a:rPr b="1" i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= Tangential braking force or the frictional force acting at the contact surface of the block and the wheel.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Braking Torque on the drum = Frictional Force x radius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422030" y="343301"/>
            <a:ext cx="86797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Simple Block or Shoe Brake contd…</a:t>
            </a:r>
            <a:endParaRPr/>
          </a:p>
        </p:txBody>
      </p:sp>
      <p:pic>
        <p:nvPicPr>
          <p:cNvPr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3017" y="1147991"/>
            <a:ext cx="3667125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230" y="3395891"/>
            <a:ext cx="1132244" cy="4117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pic>
        <p:nvPicPr>
          <p:cNvPr id="199" name="Google Shape;19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848" y="4233863"/>
            <a:ext cx="1546225" cy="412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sp>
        <p:nvSpPr>
          <p:cNvPr id="200" name="Google Shape;200;p8"/>
          <p:cNvSpPr txBox="1"/>
          <p:nvPr/>
        </p:nvSpPr>
        <p:spPr>
          <a:xfrm>
            <a:off x="464230" y="4965895"/>
            <a:ext cx="69635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If the pivot lies on the line of action of Ft at O, a = 0 and </a:t>
            </a:r>
            <a:endParaRPr/>
          </a:p>
        </p:txBody>
      </p:sp>
      <p:pic>
        <p:nvPicPr>
          <p:cNvPr id="201" name="Google Shape;20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0091" y="4965895"/>
            <a:ext cx="1626628" cy="419775"/>
          </a:xfrm>
          <a:prstGeom prst="rect">
            <a:avLst/>
          </a:prstGeom>
          <a:solidFill>
            <a:srgbClr val="D4ECB2"/>
          </a:solidFill>
          <a:ln>
            <a:noFill/>
          </a:ln>
        </p:spPr>
      </p:pic>
      <p:pic>
        <p:nvPicPr>
          <p:cNvPr id="202" name="Google Shape;20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8129" y="5458735"/>
            <a:ext cx="1363662" cy="760412"/>
          </a:xfrm>
          <a:prstGeom prst="rect">
            <a:avLst/>
          </a:prstGeom>
          <a:solidFill>
            <a:srgbClr val="D4ECB2"/>
          </a:solidFill>
          <a:ln>
            <a:noFill/>
          </a:ln>
        </p:spPr>
      </p:pic>
      <p:sp>
        <p:nvSpPr>
          <p:cNvPr id="203" name="Google Shape;203;p8"/>
          <p:cNvSpPr txBox="1"/>
          <p:nvPr/>
        </p:nvSpPr>
        <p:spPr>
          <a:xfrm>
            <a:off x="1993073" y="5663012"/>
            <a:ext cx="81497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Which is valid for clockwise as well as anticlockwise rotation of drum.</a:t>
            </a:r>
            <a:endParaRPr/>
          </a:p>
        </p:txBody>
      </p:sp>
      <p:sp>
        <p:nvSpPr>
          <p:cNvPr id="204" name="Google Shape;204;p8"/>
          <p:cNvSpPr txBox="1"/>
          <p:nvPr/>
        </p:nvSpPr>
        <p:spPr>
          <a:xfrm>
            <a:off x="7329269" y="3580728"/>
            <a:ext cx="483791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Fig. 2 clockwise rotation of shoe brake</a:t>
            </a:r>
            <a:endParaRPr/>
          </a:p>
        </p:txBody>
      </p:sp>
      <p:pic>
        <p:nvPicPr>
          <p:cNvPr id="205" name="Google Shape;20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66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1864" y="1350499"/>
            <a:ext cx="5156579" cy="232329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9"/>
          <p:cNvSpPr txBox="1"/>
          <p:nvPr/>
        </p:nvSpPr>
        <p:spPr>
          <a:xfrm>
            <a:off x="323557" y="1041010"/>
            <a:ext cx="866569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</a:t>
            </a: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direction of the frictional force on the drum is to be opposite to that of its rotation while on the block it is in the same direction.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Taking moments about the pivot 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2" name="Google Shape;21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90" y="2655346"/>
            <a:ext cx="2974862" cy="440720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pic>
        <p:nvPicPr>
          <p:cNvPr id="213" name="Google Shape;21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90" y="3263335"/>
            <a:ext cx="1873250" cy="855663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pic>
        <p:nvPicPr>
          <p:cNvPr id="214" name="Google Shape;21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90" y="4286267"/>
            <a:ext cx="2533650" cy="855663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sp>
        <p:nvSpPr>
          <p:cNvPr id="215" name="Google Shape;215;p9"/>
          <p:cNvSpPr txBox="1"/>
          <p:nvPr/>
        </p:nvSpPr>
        <p:spPr>
          <a:xfrm>
            <a:off x="422030" y="343301"/>
            <a:ext cx="86797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Simple Block or Shoe Brake contd…</a:t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422030" y="5339936"/>
            <a:ext cx="10346333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When </a:t>
            </a:r>
            <a:r>
              <a:rPr i="1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x</a:t>
            </a: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= </a:t>
            </a:r>
            <a:r>
              <a:rPr i="1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μa</a:t>
            </a: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i="1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P </a:t>
            </a: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= 0, </a:t>
            </a: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which implies that the force needed to apply the brake is virtually zero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or </a:t>
            </a:r>
            <a:r>
              <a:rPr b="1"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that once contact is made between the block and the drum, the break is applied itself. </a:t>
            </a:r>
            <a:r>
              <a:rPr b="1" lang="en-I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Such a brake is known as self-locking brake. </a:t>
            </a:r>
            <a:r>
              <a:rPr b="1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This is the condition for self-locking.</a:t>
            </a:r>
            <a:endParaRPr b="1" sz="20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7" name="Google Shape;217;p9"/>
          <p:cNvSpPr txBox="1"/>
          <p:nvPr/>
        </p:nvSpPr>
        <p:spPr>
          <a:xfrm>
            <a:off x="6711864" y="3801546"/>
            <a:ext cx="483791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Fig. 3 anticlockwise rotation of shoe brake with friction force</a:t>
            </a:r>
            <a:endParaRPr/>
          </a:p>
        </p:txBody>
      </p:sp>
      <p:pic>
        <p:nvPicPr>
          <p:cNvPr id="218" name="Google Shape;21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66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 txBox="1"/>
          <p:nvPr/>
        </p:nvSpPr>
        <p:spPr>
          <a:xfrm>
            <a:off x="182879" y="322908"/>
            <a:ext cx="86797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Simple Block or Shoe Brake contd…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182880" y="1246238"/>
            <a:ext cx="10585484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The frictional force F</a:t>
            </a:r>
            <a:r>
              <a:rPr baseline="-25000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</a:t>
            </a: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adds to a moment of force (P x l) about O is in the same direction as that of the applied force P than frictional force F</a:t>
            </a:r>
            <a:r>
              <a:rPr baseline="-25000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t</a:t>
            </a: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aids in applying the brake</a:t>
            </a:r>
            <a:r>
              <a:rPr lang="en-IN" sz="20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. Such </a:t>
            </a:r>
            <a:r>
              <a:rPr b="1" lang="en-I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 brake is known as self-energised brake. </a:t>
            </a:r>
            <a:endParaRPr b="1" sz="20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5" name="Google Shape;2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482" y="2390971"/>
            <a:ext cx="4297363" cy="439738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sp>
        <p:nvSpPr>
          <p:cNvPr id="226" name="Google Shape;226;p10"/>
          <p:cNvSpPr txBox="1"/>
          <p:nvPr/>
        </p:nvSpPr>
        <p:spPr>
          <a:xfrm>
            <a:off x="182879" y="3028890"/>
            <a:ext cx="1034633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It the rotation of drum is reversed, it is made anticlockwise:</a:t>
            </a:r>
            <a:endParaRPr/>
          </a:p>
        </p:txBody>
      </p:sp>
      <p:pic>
        <p:nvPicPr>
          <p:cNvPr id="227" name="Google Shape;22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3823" y="2610841"/>
            <a:ext cx="4848177" cy="2222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482" y="3691478"/>
            <a:ext cx="2974975" cy="439738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pic>
        <p:nvPicPr>
          <p:cNvPr id="229" name="Google Shape;22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482" y="4226767"/>
            <a:ext cx="2562225" cy="852488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sp>
        <p:nvSpPr>
          <p:cNvPr id="230" name="Google Shape;230;p10"/>
          <p:cNvSpPr txBox="1"/>
          <p:nvPr/>
        </p:nvSpPr>
        <p:spPr>
          <a:xfrm>
            <a:off x="182879" y="5611762"/>
            <a:ext cx="1112754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When the direction of rotation is changed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moment of frictional force now will be opposing the actuation force 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and </a:t>
            </a:r>
            <a:r>
              <a:rPr b="1" lang="en-IN" sz="1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hence greater magnitude of force is needed to create the same contact pressure P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shoe on which this is prevailing is known as a trailing shoe.</a:t>
            </a:r>
            <a:endParaRPr b="1"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7343823" y="4884767"/>
            <a:ext cx="483791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Fig. 4 clockwise rotation of shoe brake with friction force</a:t>
            </a:r>
            <a:endParaRPr/>
          </a:p>
        </p:txBody>
      </p:sp>
      <p:pic>
        <p:nvPicPr>
          <p:cNvPr id="232" name="Google Shape;23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66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/>
          <p:nvPr/>
        </p:nvSpPr>
        <p:spPr>
          <a:xfrm>
            <a:off x="470784" y="1097665"/>
            <a:ext cx="8679767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In the above calculations, it is assumed that the normal reaction force and frictional force act at the mis-point of the block. However, this is true only for small angles of contact. When the angle of contact is more than 40° the normal pressure is less at the ends than at the centre. In that case, μ has to be replaced by an equivalent coefficient of friction μ’ written by: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8" name="Google Shape;2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7455" y="3267496"/>
            <a:ext cx="1913213" cy="1418029"/>
          </a:xfrm>
          <a:prstGeom prst="rect">
            <a:avLst/>
          </a:prstGeom>
          <a:solidFill>
            <a:srgbClr val="A7CDEA"/>
          </a:solidFill>
          <a:ln>
            <a:noFill/>
          </a:ln>
        </p:spPr>
      </p:pic>
      <p:sp>
        <p:nvSpPr>
          <p:cNvPr id="239" name="Google Shape;239;p11"/>
          <p:cNvSpPr txBox="1"/>
          <p:nvPr/>
        </p:nvSpPr>
        <p:spPr>
          <a:xfrm>
            <a:off x="470783" y="449517"/>
            <a:ext cx="86797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Simple Block or Shoe Brake contd…</a:t>
            </a:r>
            <a:endParaRPr/>
          </a:p>
        </p:txBody>
      </p:sp>
      <p:pic>
        <p:nvPicPr>
          <p:cNvPr id="240" name="Google Shape;24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66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"/>
          <p:cNvSpPr txBox="1"/>
          <p:nvPr/>
        </p:nvSpPr>
        <p:spPr>
          <a:xfrm>
            <a:off x="253218" y="759655"/>
            <a:ext cx="6565975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1. 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spring-operated pivoted shoe brake is shown in Fig. is used for a wheel diameter of 500 mm. The angle of contact is 90° and the coefficient of friction is 0.3. The force applied by the spring on each arm is 5 kN. Determine the brake torque on the wheel.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Solution: P = 5000 N, d = 500 mm, r = 250 mm, μ = 0.3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Assuming rotation is clockwise, the various forces acting on the two blocks is shown in Fig.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Angle of contact is more than 40°, thus 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46" name="Google Shape;2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4323" y="3845472"/>
            <a:ext cx="4703763" cy="1417638"/>
          </a:xfrm>
          <a:prstGeom prst="rect">
            <a:avLst/>
          </a:prstGeom>
          <a:solidFill>
            <a:srgbClr val="A7CDEA"/>
          </a:solidFill>
          <a:ln>
            <a:noFill/>
          </a:ln>
        </p:spPr>
      </p:pic>
      <p:sp>
        <p:nvSpPr>
          <p:cNvPr id="247" name="Google Shape;247;p12"/>
          <p:cNvSpPr txBox="1"/>
          <p:nvPr/>
        </p:nvSpPr>
        <p:spPr>
          <a:xfrm>
            <a:off x="757164" y="5247249"/>
            <a:ext cx="62907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For the left-hand side block, taking moment about O</a:t>
            </a:r>
            <a:r>
              <a:rPr baseline="-25000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48" name="Google Shape;24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500" y="5630863"/>
            <a:ext cx="4159250" cy="493712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pic>
        <p:nvPicPr>
          <p:cNvPr id="249" name="Google Shape;24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500" y="6261333"/>
            <a:ext cx="5564188" cy="493712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pic>
        <p:nvPicPr>
          <p:cNvPr id="250" name="Google Shape;25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29384" y="997757"/>
            <a:ext cx="2520606" cy="323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70187" y="991879"/>
            <a:ext cx="2550507" cy="322160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2"/>
          <p:cNvSpPr txBox="1"/>
          <p:nvPr/>
        </p:nvSpPr>
        <p:spPr>
          <a:xfrm>
            <a:off x="6929384" y="4435629"/>
            <a:ext cx="483791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Fig. 5 double shoe brake</a:t>
            </a:r>
            <a:endParaRPr/>
          </a:p>
        </p:txBody>
      </p:sp>
      <p:pic>
        <p:nvPicPr>
          <p:cNvPr id="253" name="Google Shape;253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66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4163" y="815975"/>
            <a:ext cx="1763712" cy="438150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sp>
        <p:nvSpPr>
          <p:cNvPr id="259" name="Google Shape;259;p13"/>
          <p:cNvSpPr txBox="1"/>
          <p:nvPr/>
        </p:nvSpPr>
        <p:spPr>
          <a:xfrm>
            <a:off x="925976" y="1921204"/>
            <a:ext cx="62907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For the right-hand side block, taking moment about O</a:t>
            </a:r>
            <a:r>
              <a:rPr baseline="-25000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60" name="Google Shape;26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6788" y="2305050"/>
            <a:ext cx="4214812" cy="493713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pic>
        <p:nvPicPr>
          <p:cNvPr id="261" name="Google Shape;26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2951163"/>
            <a:ext cx="5646738" cy="493712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pic>
        <p:nvPicPr>
          <p:cNvPr id="262" name="Google Shape;26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1075" y="3609975"/>
            <a:ext cx="1790700" cy="438150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pic>
        <p:nvPicPr>
          <p:cNvPr id="263" name="Google Shape;26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76846" y="4269961"/>
            <a:ext cx="2865438" cy="493712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pic>
        <p:nvPicPr>
          <p:cNvPr id="264" name="Google Shape;264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76406" y="4900432"/>
            <a:ext cx="4187825" cy="493712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pic>
        <p:nvPicPr>
          <p:cNvPr id="265" name="Google Shape;265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76406" y="5500303"/>
            <a:ext cx="1817687" cy="438150"/>
          </a:xfrm>
          <a:prstGeom prst="rect">
            <a:avLst/>
          </a:prstGeom>
          <a:solidFill>
            <a:srgbClr val="9EDFF5"/>
          </a:solidFill>
          <a:ln>
            <a:noFill/>
          </a:ln>
        </p:spPr>
      </p:pic>
      <p:pic>
        <p:nvPicPr>
          <p:cNvPr id="266" name="Google Shape;26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66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 txBox="1"/>
          <p:nvPr/>
        </p:nvSpPr>
        <p:spPr>
          <a:xfrm>
            <a:off x="337626" y="450166"/>
            <a:ext cx="983331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2. Band Brake: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band brake may be classified as: (a) simple band brake (b) differential band brake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(a) simple band brake: </a:t>
            </a:r>
            <a:endParaRPr/>
          </a:p>
        </p:txBody>
      </p:sp>
      <p:pic>
        <p:nvPicPr>
          <p:cNvPr descr="SIMPLE BAND BRAKE - Sounak Bhattacharjee" id="272" name="Google Shape;2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1725835"/>
            <a:ext cx="6522719" cy="457986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4"/>
          <p:cNvSpPr txBox="1"/>
          <p:nvPr/>
        </p:nvSpPr>
        <p:spPr>
          <a:xfrm>
            <a:off x="7643446" y="4927972"/>
            <a:ext cx="25743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Fig. 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Band Brake</a:t>
            </a:r>
            <a:endParaRPr/>
          </a:p>
        </p:txBody>
      </p:sp>
      <p:sp>
        <p:nvSpPr>
          <p:cNvPr id="274" name="Google Shape;274;p14"/>
          <p:cNvSpPr txBox="1"/>
          <p:nvPr/>
        </p:nvSpPr>
        <p:spPr>
          <a:xfrm>
            <a:off x="337626" y="2264898"/>
            <a:ext cx="550046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Let T</a:t>
            </a:r>
            <a:r>
              <a:rPr baseline="-25000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and T</a:t>
            </a:r>
            <a:r>
              <a:rPr baseline="-25000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be the tension on the tight and slack sides, respectively. Taking the moment about the fulcrum, we have: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Pl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= T</a:t>
            </a:r>
            <a:r>
              <a:rPr baseline="-25000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i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for the clockwise rotation of the drum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Pl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= T</a:t>
            </a:r>
            <a:r>
              <a:rPr baseline="-25000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i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for the anti-clockwise rotation of the drum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Braking torque on the drum: </a:t>
            </a:r>
            <a:endParaRPr/>
          </a:p>
        </p:txBody>
      </p:sp>
      <p:pic>
        <p:nvPicPr>
          <p:cNvPr id="275" name="Google Shape;27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89983" y="4296223"/>
            <a:ext cx="1026941" cy="855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  <p:pic>
        <p:nvPicPr>
          <p:cNvPr id="276" name="Google Shape;27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5915" y="5835104"/>
            <a:ext cx="1688612" cy="470597"/>
          </a:xfrm>
          <a:prstGeom prst="rect">
            <a:avLst/>
          </a:prstGeom>
          <a:solidFill>
            <a:srgbClr val="D4ECB2"/>
          </a:solidFill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/>
          <p:nvPr/>
        </p:nvSpPr>
        <p:spPr>
          <a:xfrm>
            <a:off x="98468" y="351690"/>
            <a:ext cx="10888400" cy="5755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Band Brake contd…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(b) differential band brake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Taking the moment about the fulcrum, we have: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      , for the clockwise rotation of the drum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       , for the counter-clockwise rotation of the drum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For the self-locking brake, </a:t>
            </a:r>
            <a:r>
              <a:rPr b="1" lang="en-I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Applied Effort F</a:t>
            </a:r>
            <a:r>
              <a:rPr b="1" baseline="-25000" lang="en-I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r>
              <a:rPr b="1" lang="en-I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≤ 0, therefore, for the counter-clockwise rotation: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And for the clockwise rotation: </a:t>
            </a:r>
            <a:endParaRPr b="1" sz="18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How to tell the direction of the tension in a differential band brake and a band  brake - Quora" id="282" name="Google Shape;2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6129" y="351690"/>
            <a:ext cx="5645872" cy="3744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663" y="1985652"/>
            <a:ext cx="2125265" cy="498109"/>
          </a:xfrm>
          <a:prstGeom prst="rect">
            <a:avLst/>
          </a:prstGeom>
          <a:solidFill>
            <a:srgbClr val="CCDCE0"/>
          </a:solidFill>
          <a:ln>
            <a:noFill/>
          </a:ln>
        </p:spPr>
      </p:pic>
      <p:pic>
        <p:nvPicPr>
          <p:cNvPr id="284" name="Google Shape;28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663" y="2576015"/>
            <a:ext cx="2125265" cy="498109"/>
          </a:xfrm>
          <a:prstGeom prst="rect">
            <a:avLst/>
          </a:prstGeom>
          <a:solidFill>
            <a:srgbClr val="CCDCE0"/>
          </a:solidFill>
          <a:ln>
            <a:noFill/>
          </a:ln>
        </p:spPr>
      </p:pic>
      <p:pic>
        <p:nvPicPr>
          <p:cNvPr id="285" name="Google Shape;28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4663" y="3378021"/>
            <a:ext cx="2125265" cy="498109"/>
          </a:xfrm>
          <a:prstGeom prst="rect">
            <a:avLst/>
          </a:prstGeom>
          <a:solidFill>
            <a:srgbClr val="B1ECD9"/>
          </a:solidFill>
          <a:ln>
            <a:noFill/>
          </a:ln>
        </p:spPr>
      </p:pic>
      <p:pic>
        <p:nvPicPr>
          <p:cNvPr id="286" name="Google Shape;28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4663" y="4035669"/>
            <a:ext cx="2125265" cy="498109"/>
          </a:xfrm>
          <a:prstGeom prst="rect">
            <a:avLst/>
          </a:prstGeom>
          <a:solidFill>
            <a:srgbClr val="B1ECD9"/>
          </a:solidFill>
          <a:ln>
            <a:noFill/>
          </a:ln>
        </p:spPr>
      </p:pic>
      <p:pic>
        <p:nvPicPr>
          <p:cNvPr id="287" name="Google Shape;28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45390" y="4983645"/>
            <a:ext cx="1002910" cy="881680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pic>
      <p:pic>
        <p:nvPicPr>
          <p:cNvPr id="288" name="Google Shape;28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89987" y="5917346"/>
            <a:ext cx="847884" cy="745392"/>
          </a:xfrm>
          <a:prstGeom prst="rect">
            <a:avLst/>
          </a:prstGeom>
          <a:solidFill>
            <a:srgbClr val="FFFF00"/>
          </a:solidFill>
          <a:ln>
            <a:noFill/>
          </a:ln>
        </p:spPr>
      </p:pic>
      <p:pic>
        <p:nvPicPr>
          <p:cNvPr id="289" name="Google Shape;28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06859" y="5947215"/>
            <a:ext cx="894471" cy="7453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/>
        </p:nvSpPr>
        <p:spPr>
          <a:xfrm>
            <a:off x="239151" y="182880"/>
            <a:ext cx="9523828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3. Band and Block Brake: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BLOCK AND BAND BRAKE - Sounak Bhattacharjee" id="295" name="Google Shape;2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0844" y="753663"/>
            <a:ext cx="7845082" cy="318529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6"/>
          <p:cNvSpPr txBox="1"/>
          <p:nvPr/>
        </p:nvSpPr>
        <p:spPr>
          <a:xfrm>
            <a:off x="239151" y="983099"/>
            <a:ext cx="4642338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forces acting on the first block are Shown in Fig. (b). Resolving the forces horizontally and vertically, we get: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or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Similarly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Hence,                                                </a:t>
            </a:r>
            <a:endParaRPr/>
          </a:p>
        </p:txBody>
      </p:sp>
      <p:sp>
        <p:nvSpPr>
          <p:cNvPr id="297" name="Google Shape;297;p16"/>
          <p:cNvSpPr txBox="1"/>
          <p:nvPr/>
        </p:nvSpPr>
        <p:spPr>
          <a:xfrm>
            <a:off x="6991643" y="3938955"/>
            <a:ext cx="29542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Fig. </a:t>
            </a: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Band and Block Brake</a:t>
            </a:r>
            <a:endParaRPr/>
          </a:p>
        </p:txBody>
      </p:sp>
      <p:pic>
        <p:nvPicPr>
          <p:cNvPr id="298" name="Google Shape;29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4725" y="2025650"/>
            <a:ext cx="1970088" cy="434975"/>
          </a:xfrm>
          <a:prstGeom prst="rect">
            <a:avLst/>
          </a:prstGeom>
          <a:solidFill>
            <a:srgbClr val="D4ECB2"/>
          </a:solidFill>
          <a:ln>
            <a:noFill/>
          </a:ln>
        </p:spPr>
      </p:pic>
      <p:pic>
        <p:nvPicPr>
          <p:cNvPr id="299" name="Google Shape;29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4725" y="2579688"/>
            <a:ext cx="1878013" cy="458662"/>
          </a:xfrm>
          <a:prstGeom prst="rect">
            <a:avLst/>
          </a:prstGeom>
          <a:solidFill>
            <a:srgbClr val="66CCFF"/>
          </a:solidFill>
          <a:ln>
            <a:noFill/>
          </a:ln>
        </p:spPr>
      </p:pic>
      <p:pic>
        <p:nvPicPr>
          <p:cNvPr id="300" name="Google Shape;30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3188" y="3260625"/>
            <a:ext cx="1830387" cy="893762"/>
          </a:xfrm>
          <a:prstGeom prst="rect">
            <a:avLst/>
          </a:prstGeom>
          <a:solidFill>
            <a:srgbClr val="66CCFF"/>
          </a:solidFill>
          <a:ln>
            <a:noFill/>
          </a:ln>
        </p:spPr>
      </p:pic>
      <p:pic>
        <p:nvPicPr>
          <p:cNvPr id="301" name="Google Shape;30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08765" y="3367318"/>
            <a:ext cx="1590675" cy="749300"/>
          </a:xfrm>
          <a:prstGeom prst="rect">
            <a:avLst/>
          </a:prstGeom>
          <a:solidFill>
            <a:srgbClr val="B1ECD9"/>
          </a:solidFill>
          <a:ln>
            <a:noFill/>
          </a:ln>
        </p:spPr>
      </p:pic>
      <p:pic>
        <p:nvPicPr>
          <p:cNvPr id="302" name="Google Shape;30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90154" y="4319693"/>
            <a:ext cx="1590675" cy="723900"/>
          </a:xfrm>
          <a:prstGeom prst="rect">
            <a:avLst/>
          </a:prstGeom>
          <a:solidFill>
            <a:srgbClr val="D4ECB2"/>
          </a:solidFill>
          <a:ln>
            <a:noFill/>
          </a:ln>
        </p:spPr>
      </p:pic>
      <p:pic>
        <p:nvPicPr>
          <p:cNvPr id="303" name="Google Shape;30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44067" y="5226050"/>
            <a:ext cx="1735137" cy="723900"/>
          </a:xfrm>
          <a:prstGeom prst="rect">
            <a:avLst/>
          </a:prstGeom>
          <a:solidFill>
            <a:srgbClr val="FFFF00"/>
          </a:solidFill>
          <a:ln>
            <a:noFill/>
          </a:ln>
        </p:spPr>
      </p:pic>
      <p:pic>
        <p:nvPicPr>
          <p:cNvPr id="304" name="Google Shape;30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73288" y="6048376"/>
            <a:ext cx="1707541" cy="723974"/>
          </a:xfrm>
          <a:prstGeom prst="rect">
            <a:avLst/>
          </a:prstGeom>
          <a:solidFill>
            <a:srgbClr val="BFE38C"/>
          </a:solidFill>
          <a:ln>
            <a:noFill/>
          </a:ln>
        </p:spPr>
      </p:pic>
      <p:sp>
        <p:nvSpPr>
          <p:cNvPr id="305" name="Google Shape;305;p16"/>
          <p:cNvSpPr txBox="1"/>
          <p:nvPr/>
        </p:nvSpPr>
        <p:spPr>
          <a:xfrm>
            <a:off x="4093696" y="6231987"/>
            <a:ext cx="20679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Braking torque, </a:t>
            </a:r>
            <a:endParaRPr/>
          </a:p>
        </p:txBody>
      </p:sp>
      <p:pic>
        <p:nvPicPr>
          <p:cNvPr id="306" name="Google Shape;30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49891" y="6217896"/>
            <a:ext cx="1688612" cy="470597"/>
          </a:xfrm>
          <a:prstGeom prst="rect">
            <a:avLst/>
          </a:prstGeom>
          <a:solidFill>
            <a:srgbClr val="D4ECB2"/>
          </a:solidFill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41337"/>
            <a:ext cx="7972425" cy="505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4756" y="319088"/>
            <a:ext cx="7030069" cy="3109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5400" y="3568283"/>
            <a:ext cx="6267141" cy="3184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901" y="1027350"/>
            <a:ext cx="7996796" cy="419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370" y="1047750"/>
            <a:ext cx="8626780" cy="4741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5280"/>
              <a:buNone/>
            </a:pPr>
            <a:r>
              <a:rPr lang="en-IN" sz="6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pic>
        <p:nvPicPr>
          <p:cNvPr id="333" name="Google Shape;3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66500" y="603250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2020-04-09T13:24:34Z</dcterms:created>
  <dc:creator>sandeep khichar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0x01010055FB64A14C710A41A75ABF0270B7EE14</vt:lpwstr>
  </property>
</Properties>
</file>